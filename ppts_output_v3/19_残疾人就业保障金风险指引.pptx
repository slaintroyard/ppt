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残疾人就业保障金风险指引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2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残疾人就业保障金风险指引  |  风险点 1</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600"/>
              </a:spcAft>
            </a:pPr>
            <a:r>
              <a:rPr sz="1600" b="1">
                <a:solidFill>
                  <a:srgbClr val="1B3A5C"/>
                </a:solidFill>
                <a:latin typeface="Microsoft YaHei"/>
              </a:rPr>
              <a:t>应缴纳残疾人就业保障金而未缴纳</a:t>
            </a:r>
          </a:p>
          <a:p>
            <a:pPr algn="l">
              <a:lnSpc>
                <a:spcPct val="125000"/>
              </a:lnSpc>
              <a:spcBef>
                <a:spcPts val="800"/>
              </a:spcBef>
              <a:spcAft>
                <a:spcPts val="300"/>
              </a:spcAft>
            </a:pPr>
            <a:r>
              <a:rPr sz="1600" b="1">
                <a:solidFill>
                  <a:srgbClr val="333333"/>
                </a:solidFill>
                <a:latin typeface="Microsoft YaHei"/>
              </a:rPr>
              <a:t>【风险描述】</a:t>
            </a:r>
          </a:p>
          <a:p>
            <a:pPr algn="l">
              <a:lnSpc>
                <a:spcPct val="125000"/>
              </a:lnSpc>
              <a:spcBef>
                <a:spcPts val="200"/>
              </a:spcBef>
              <a:spcAft>
                <a:spcPts val="200"/>
              </a:spcAft>
            </a:pPr>
            <a:r>
              <a:rPr sz="1400" b="0">
                <a:solidFill>
                  <a:srgbClr val="000000"/>
                </a:solidFill>
                <a:latin typeface="Microsoft YaHei"/>
              </a:rPr>
              <a:t>属于残疾人就业保障金缴纳义务人的用人单位在规定申报期内未申报缴纳残疾人就业保障金。</a:t>
            </a:r>
          </a:p>
          <a:p>
            <a:pPr algn="l">
              <a:lnSpc>
                <a:spcPct val="125000"/>
              </a:lnSpc>
              <a:spcBef>
                <a:spcPts val="800"/>
              </a:spcBef>
              <a:spcAft>
                <a:spcPts val="300"/>
              </a:spcAft>
            </a:pPr>
            <a:r>
              <a:rPr sz="1600" b="1">
                <a:solidFill>
                  <a:srgbClr val="1B5C9E"/>
                </a:solidFill>
                <a:latin typeface="Microsoft YaHei"/>
              </a:rPr>
              <a:t>【政策依据】</a:t>
            </a:r>
          </a:p>
          <a:p>
            <a:pPr algn="l">
              <a:lnSpc>
                <a:spcPct val="125000"/>
              </a:lnSpc>
              <a:spcBef>
                <a:spcPts val="200"/>
              </a:spcBef>
              <a:spcAft>
                <a:spcPts val="200"/>
              </a:spcAft>
            </a:pPr>
            <a:r>
              <a:rPr sz="1400" b="0">
                <a:solidFill>
                  <a:srgbClr val="000000"/>
                </a:solidFill>
                <a:latin typeface="Microsoft YaHei"/>
              </a:rPr>
              <a:t>根据《黑龙江省财政厅 黑龙江省地方税务局黑龙江省残疾人联合会 中国人民银行哈尔滨中心支行关于印发&lt;黑龙江省残疾人就业保障金征收使用管理实施办法&gt;的通知》（黑财综〔2016〕48号）的规定：</a:t>
            </a:r>
          </a:p>
          <a:p>
            <a:pPr algn="l">
              <a:lnSpc>
                <a:spcPct val="125000"/>
              </a:lnSpc>
              <a:spcBef>
                <a:spcPts val="200"/>
              </a:spcBef>
              <a:spcAft>
                <a:spcPts val="200"/>
              </a:spcAft>
            </a:pPr>
            <a:r>
              <a:rPr sz="1400" b="0">
                <a:solidFill>
                  <a:srgbClr val="000000"/>
                </a:solidFill>
                <a:latin typeface="Microsoft YaHei"/>
              </a:rPr>
              <a:t>保障金是为保障残疾人权益，由未按规定安排残疾人就业的机关、团体、企业、事业单位和民办非企业单位缴纳的资金。用人单位安排残疾人就业未达到本单位在职职工总数1.5%比例的，应当缴纳保障金。</a:t>
            </a:r>
          </a:p>
          <a:p>
            <a:pPr algn="l">
              <a:lnSpc>
                <a:spcPct val="125000"/>
              </a:lnSpc>
              <a:spcBef>
                <a:spcPts val="800"/>
              </a:spcBef>
              <a:spcAft>
                <a:spcPts val="300"/>
              </a:spcAft>
            </a:pPr>
            <a:r>
              <a:rPr sz="1600" b="1">
                <a:solidFill>
                  <a:srgbClr val="CC3333"/>
                </a:solidFill>
                <a:latin typeface="Microsoft YaHei"/>
              </a:rPr>
              <a:t>【预计风险】</a:t>
            </a:r>
          </a:p>
          <a:p>
            <a:pPr algn="l">
              <a:lnSpc>
                <a:spcPct val="125000"/>
              </a:lnSpc>
              <a:spcBef>
                <a:spcPts val="200"/>
              </a:spcBef>
              <a:spcAft>
                <a:spcPts val="200"/>
              </a:spcAft>
            </a:pPr>
            <a:r>
              <a:rPr sz="1400" b="0">
                <a:solidFill>
                  <a:srgbClr val="000000"/>
                </a:solidFill>
                <a:latin typeface="Microsoft YaHei"/>
              </a:rPr>
              <a:t>用人单位应缴未缴残疾人就业保障金的风险。</a:t>
            </a:r>
          </a:p>
          <a:p>
            <a:pPr algn="l">
              <a:lnSpc>
                <a:spcPct val="125000"/>
              </a:lnSpc>
              <a:spcBef>
                <a:spcPts val="800"/>
              </a:spcBef>
              <a:spcAft>
                <a:spcPts val="300"/>
              </a:spcAft>
            </a:pPr>
            <a:r>
              <a:rPr sz="1600" b="1">
                <a:solidFill>
                  <a:srgbClr val="008040"/>
                </a:solidFill>
                <a:latin typeface="Microsoft YaHei"/>
              </a:rPr>
              <a:t>【解决方法】</a:t>
            </a:r>
          </a:p>
          <a:p>
            <a:pPr algn="l">
              <a:lnSpc>
                <a:spcPct val="125000"/>
              </a:lnSpc>
              <a:spcBef>
                <a:spcPts val="200"/>
              </a:spcBef>
              <a:spcAft>
                <a:spcPts val="200"/>
              </a:spcAft>
            </a:pPr>
            <a:r>
              <a:rPr sz="1400" b="0">
                <a:solidFill>
                  <a:srgbClr val="000000"/>
                </a:solidFill>
                <a:latin typeface="Microsoft YaHei"/>
              </a:rPr>
              <a:t>用人单位核查是否在申报期内申报缴纳了残疾人就业保障金。</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残疾人就业保障金风险指引  |  风险点 2</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600"/>
              </a:spcAft>
            </a:pPr>
            <a:r>
              <a:rPr sz="1600" b="1">
                <a:solidFill>
                  <a:srgbClr val="1B3A5C"/>
                </a:solidFill>
                <a:latin typeface="Microsoft YaHei"/>
              </a:rPr>
              <a:t>残疾人就业保障金应缴费额计算错误</a:t>
            </a:r>
          </a:p>
          <a:p>
            <a:pPr algn="l">
              <a:lnSpc>
                <a:spcPct val="125000"/>
              </a:lnSpc>
              <a:spcBef>
                <a:spcPts val="800"/>
              </a:spcBef>
              <a:spcAft>
                <a:spcPts val="300"/>
              </a:spcAft>
            </a:pPr>
            <a:r>
              <a:rPr sz="1600" b="1">
                <a:solidFill>
                  <a:srgbClr val="333333"/>
                </a:solidFill>
                <a:latin typeface="Microsoft YaHei"/>
              </a:rPr>
              <a:t>【风险描述】</a:t>
            </a:r>
          </a:p>
          <a:p>
            <a:pPr algn="l">
              <a:lnSpc>
                <a:spcPct val="125000"/>
              </a:lnSpc>
              <a:spcBef>
                <a:spcPts val="200"/>
              </a:spcBef>
              <a:spcAft>
                <a:spcPts val="200"/>
              </a:spcAft>
            </a:pPr>
            <a:r>
              <a:rPr sz="1400" b="0">
                <a:solidFill>
                  <a:srgbClr val="000000"/>
                </a:solidFill>
                <a:latin typeface="Microsoft YaHei"/>
              </a:rPr>
              <a:t>用人单位错误填写职工人数或工资总额，残疾人就业保障金计算依据错误。</a:t>
            </a:r>
          </a:p>
          <a:p>
            <a:pPr algn="l">
              <a:lnSpc>
                <a:spcPct val="125000"/>
              </a:lnSpc>
              <a:spcBef>
                <a:spcPts val="800"/>
              </a:spcBef>
              <a:spcAft>
                <a:spcPts val="300"/>
              </a:spcAft>
            </a:pPr>
            <a:r>
              <a:rPr sz="1600" b="1">
                <a:solidFill>
                  <a:srgbClr val="1B5C9E"/>
                </a:solidFill>
                <a:latin typeface="Microsoft YaHei"/>
              </a:rPr>
              <a:t>【政策依据】</a:t>
            </a:r>
          </a:p>
          <a:p>
            <a:pPr algn="l">
              <a:lnSpc>
                <a:spcPct val="125000"/>
              </a:lnSpc>
              <a:spcBef>
                <a:spcPts val="200"/>
              </a:spcBef>
              <a:spcAft>
                <a:spcPts val="200"/>
              </a:spcAft>
            </a:pPr>
            <a:r>
              <a:rPr sz="1400" b="0">
                <a:solidFill>
                  <a:srgbClr val="000000"/>
                </a:solidFill>
                <a:latin typeface="Microsoft YaHei"/>
              </a:rPr>
              <a:t>根据《黑龙江省财政厅 黑龙江省地方税务局黑龙江省残疾人联合会 中国人民银行哈尔滨中心支行关于印发&lt;黑龙江省残疾人就业保障金征收使用管理实施办法&gt;的通知》（黑财综〔2016〕48号）的规定：</a:t>
            </a:r>
          </a:p>
          <a:p>
            <a:pPr algn="l">
              <a:lnSpc>
                <a:spcPct val="125000"/>
              </a:lnSpc>
              <a:spcBef>
                <a:spcPts val="200"/>
              </a:spcBef>
              <a:spcAft>
                <a:spcPts val="200"/>
              </a:spcAft>
            </a:pPr>
            <a:r>
              <a:rPr sz="1400" b="0">
                <a:solidFill>
                  <a:srgbClr val="000000"/>
                </a:solidFill>
                <a:latin typeface="Microsoft YaHei"/>
              </a:rPr>
              <a:t>保障金按上年用人单位安排残疾人就业未达到规定比例的差额人数和本单位在职职工年平均工资之积计算缴纳。计算公式如下：保障金年缴纳额=（上年用人单位在职职工人数×1.5%-上年用人单位实际安排的残疾人就业人数）×上年用人单位在职职工年平均工资用人单位在职职工，是指用人单位在编人员或依法与用人单位签订1年以上（含1年）劳动合同（服务协议）的人员。季节性用工应当折算为年平均用工人数。以劳务派遣用工的，计入派遣单位在职职工人数。</a:t>
            </a:r>
          </a:p>
          <a:p>
            <a:pPr algn="l">
              <a:lnSpc>
                <a:spcPct val="125000"/>
              </a:lnSpc>
              <a:spcBef>
                <a:spcPts val="200"/>
              </a:spcBef>
              <a:spcAft>
                <a:spcPts val="200"/>
              </a:spcAft>
            </a:pPr>
            <a:r>
              <a:rPr sz="1400" b="0">
                <a:solidFill>
                  <a:srgbClr val="000000"/>
                </a:solidFill>
                <a:latin typeface="Microsoft YaHei"/>
              </a:rPr>
              <a:t>用人单位安排残疾人就业未达到规定比例的差额人数，以公式计算结果为准，可以不是整数。</a:t>
            </a:r>
          </a:p>
          <a:p>
            <a:pPr algn="l">
              <a:lnSpc>
                <a:spcPct val="125000"/>
              </a:lnSpc>
              <a:spcBef>
                <a:spcPts val="200"/>
              </a:spcBef>
              <a:spcAft>
                <a:spcPts val="200"/>
              </a:spcAft>
            </a:pPr>
            <a:r>
              <a:rPr sz="1400" b="0">
                <a:solidFill>
                  <a:srgbClr val="000000"/>
                </a:solidFill>
                <a:latin typeface="Microsoft YaHei"/>
              </a:rPr>
              <a:t>上年用人单位在职职工年平均工资，按用人单位上年在职职工工资总额除以用人单位在职职工人数计算。计算用人单位上年在职职工人数和实际安排的残疾人就业人数，对工作不满1年的，应先将实际工作月份数折算成年，再乘以人数计算。用人单位成立不到一年或当年注销的按实际月份计算征收保障金；</a:t>
            </a:r>
          </a:p>
          <a:p>
            <a:pPr algn="l">
              <a:lnSpc>
                <a:spcPct val="125000"/>
              </a:lnSpc>
              <a:spcBef>
                <a:spcPts val="200"/>
              </a:spcBef>
              <a:spcAft>
                <a:spcPts val="200"/>
              </a:spcAft>
            </a:pPr>
            <a:r>
              <a:rPr sz="1400" b="0">
                <a:solidFill>
                  <a:srgbClr val="000000"/>
                </a:solidFill>
                <a:latin typeface="Microsoft YaHei"/>
              </a:rPr>
              <a:t>成立不到一个月的，免征保障金。</a:t>
            </a:r>
          </a:p>
          <a:p>
            <a:pPr algn="l">
              <a:lnSpc>
                <a:spcPct val="125000"/>
              </a:lnSpc>
              <a:spcBef>
                <a:spcPts val="800"/>
              </a:spcBef>
              <a:spcAft>
                <a:spcPts val="300"/>
              </a:spcAft>
            </a:pPr>
            <a:r>
              <a:rPr sz="1600" b="1">
                <a:solidFill>
                  <a:srgbClr val="CC3333"/>
                </a:solidFill>
                <a:latin typeface="Microsoft YaHei"/>
              </a:rPr>
              <a:t>【预计风险】</a:t>
            </a:r>
          </a:p>
          <a:p>
            <a:pPr algn="l">
              <a:lnSpc>
                <a:spcPct val="125000"/>
              </a:lnSpc>
              <a:spcBef>
                <a:spcPts val="200"/>
              </a:spcBef>
              <a:spcAft>
                <a:spcPts val="200"/>
              </a:spcAft>
            </a:pPr>
            <a:r>
              <a:rPr sz="1400" b="0">
                <a:solidFill>
                  <a:srgbClr val="000000"/>
                </a:solidFill>
                <a:latin typeface="Microsoft YaHei"/>
              </a:rPr>
              <a:t>用人单位错误填报少缴纳残疾人就业保障金的风险。</a:t>
            </a:r>
          </a:p>
          <a:p>
            <a:pPr algn="l">
              <a:lnSpc>
                <a:spcPct val="125000"/>
              </a:lnSpc>
              <a:spcBef>
                <a:spcPts val="800"/>
              </a:spcBef>
              <a:spcAft>
                <a:spcPts val="300"/>
              </a:spcAft>
            </a:pPr>
            <a:r>
              <a:rPr sz="1600" b="1">
                <a:solidFill>
                  <a:srgbClr val="008040"/>
                </a:solidFill>
                <a:latin typeface="Microsoft YaHei"/>
              </a:rPr>
              <a:t>【解决方法】</a:t>
            </a:r>
          </a:p>
          <a:p>
            <a:pPr algn="l">
              <a:lnSpc>
                <a:spcPct val="125000"/>
              </a:lnSpc>
              <a:spcBef>
                <a:spcPts val="200"/>
              </a:spcBef>
              <a:spcAft>
                <a:spcPts val="200"/>
              </a:spcAft>
            </a:pPr>
            <a:r>
              <a:rPr sz="1400" b="0">
                <a:solidFill>
                  <a:srgbClr val="000000"/>
                </a:solidFill>
                <a:latin typeface="Microsoft YaHei"/>
              </a:rPr>
              <a:t>用人单位核查在职职工人数及工资总额等信息是否正确填报，是否少缴残疾人就业保障金。</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