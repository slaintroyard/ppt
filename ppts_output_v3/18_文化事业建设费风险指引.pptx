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文化事业建设费风险指引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1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rPr>
              <a:t>文化事业建设费风险指引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25000"/>
              </a:lnSpc>
              <a:spcBef>
                <a:spcPts val="0"/>
              </a:spcBef>
              <a:spcAft>
                <a:spcPts val="0"/>
              </a:spcAft>
            </a:pPr>
            <a:r>
              <a:rPr sz="1600" b="1">
                <a:solidFill>
                  <a:srgbClr val="1B3A5C"/>
                </a:solidFill>
                <a:latin typeface="Microsoft YaHei"/>
              </a:rPr>
              <a:t>开具广告服务业发票未缴纳文化事业建设费</a:t>
            </a:r>
          </a:p>
          <a:p>
            <a:pPr algn="just">
              <a:lnSpc>
                <a:spcPct val="125000"/>
              </a:lnSpc>
              <a:spcBef>
                <a:spcPts val="0"/>
              </a:spcBef>
              <a:spcAft>
                <a:spcPts val="0"/>
              </a:spcAft>
            </a:pPr>
            <a:r>
              <a:rPr sz="1600" b="1">
                <a:solidFill>
                  <a:srgbClr val="333333"/>
                </a:solidFill>
                <a:latin typeface="Microsoft YaHei"/>
              </a:rPr>
              <a:t>【风险描述】</a:t>
            </a:r>
          </a:p>
          <a:p>
            <a:pPr algn="just">
              <a:lnSpc>
                <a:spcPct val="125000"/>
              </a:lnSpc>
              <a:spcBef>
                <a:spcPts val="0"/>
              </a:spcBef>
              <a:spcAft>
                <a:spcPts val="0"/>
              </a:spcAft>
            </a:pPr>
            <a:r>
              <a:rPr sz="1400" b="0">
                <a:solidFill>
                  <a:srgbClr val="000000"/>
                </a:solidFill>
                <a:latin typeface="Microsoft YaHei"/>
              </a:rPr>
              <a:t>企业发生广告服务后开具广告服务业发票，未缴纳文化事业建设费。</a:t>
            </a:r>
          </a:p>
          <a:p>
            <a:pPr algn="just">
              <a:lnSpc>
                <a:spcPct val="125000"/>
              </a:lnSpc>
              <a:spcBef>
                <a:spcPts val="0"/>
              </a:spcBef>
              <a:spcAft>
                <a:spcPts val="0"/>
              </a:spcAft>
            </a:pPr>
            <a:r>
              <a:rPr sz="1600" b="1">
                <a:solidFill>
                  <a:srgbClr val="1B5C9E"/>
                </a:solidFill>
                <a:latin typeface="Microsoft YaHei"/>
              </a:rPr>
              <a:t>【政策依据】</a:t>
            </a:r>
          </a:p>
          <a:p>
            <a:pPr algn="just">
              <a:lnSpc>
                <a:spcPct val="125000"/>
              </a:lnSpc>
              <a:spcBef>
                <a:spcPts val="0"/>
              </a:spcBef>
              <a:spcAft>
                <a:spcPts val="0"/>
              </a:spcAft>
            </a:pPr>
            <a:r>
              <a:rPr sz="1400" b="0">
                <a:solidFill>
                  <a:srgbClr val="000000"/>
                </a:solidFill>
                <a:latin typeface="Microsoft YaHei"/>
              </a:rPr>
              <a:t>根据《财政部 国家税务总局关于营业税改征增值税试点有关文化事业建设费政策及征收管理问题的通知》（财税〔2016〕25号）的规定：</a:t>
            </a:r>
          </a:p>
          <a:p>
            <a:pPr algn="just">
              <a:lnSpc>
                <a:spcPct val="125000"/>
              </a:lnSpc>
              <a:spcBef>
                <a:spcPts val="0"/>
              </a:spcBef>
              <a:spcAft>
                <a:spcPts val="0"/>
              </a:spcAft>
            </a:pPr>
            <a:r>
              <a:rPr sz="1400" b="0">
                <a:solidFill>
                  <a:srgbClr val="000000"/>
                </a:solidFill>
                <a:latin typeface="Microsoft YaHei"/>
              </a:rPr>
              <a:t>在中华人民共和国境内提供广告服务的广告媒介单位和户外广告经营单位，应按照本通知规定缴纳文化事业建设费。本通知所称广告服务，是指《财政部国家税务总局关于全面推开营业税改征增值税试点的通知》（财税〔2016〕36号）的《销售服务、无形资产、不动产注释》中“广告服务”范围内的服务。广告服务，是指利用图书、报纸、杂志、广播、电视、电影、幻灯、路牌、招贴、橱窗、霓虹灯、灯箱、互联网等各种形式为客户的商品、经营服务项目、文体节目或者通告、声明等委托事项进行宣传和提供相关服务的业务活动。包括广告代理和广告的发布、播映、宣传、展示等。</a:t>
            </a:r>
          </a:p>
          <a:p>
            <a:pPr algn="just">
              <a:lnSpc>
                <a:spcPct val="125000"/>
              </a:lnSpc>
              <a:spcBef>
                <a:spcPts val="0"/>
              </a:spcBef>
              <a:spcAft>
                <a:spcPts val="0"/>
              </a:spcAft>
            </a:pPr>
            <a:r>
              <a:rPr sz="1600" b="1">
                <a:solidFill>
                  <a:srgbClr val="CC3333"/>
                </a:solidFill>
                <a:latin typeface="Microsoft YaHei"/>
              </a:rPr>
              <a:t>【预计风险】</a:t>
            </a:r>
          </a:p>
          <a:p>
            <a:pPr algn="just">
              <a:lnSpc>
                <a:spcPct val="125000"/>
              </a:lnSpc>
              <a:spcBef>
                <a:spcPts val="0"/>
              </a:spcBef>
              <a:spcAft>
                <a:spcPts val="0"/>
              </a:spcAft>
            </a:pPr>
            <a:r>
              <a:rPr sz="1400" b="0">
                <a:solidFill>
                  <a:srgbClr val="000000"/>
                </a:solidFill>
                <a:latin typeface="Microsoft YaHei"/>
              </a:rPr>
              <a:t>企业少缴文化事业建设费</a:t>
            </a:r>
          </a:p>
          <a:p>
            <a:pPr algn="just">
              <a:lnSpc>
                <a:spcPct val="125000"/>
              </a:lnSpc>
              <a:spcBef>
                <a:spcPts val="0"/>
              </a:spcBef>
              <a:spcAft>
                <a:spcPts val="0"/>
              </a:spcAft>
            </a:pPr>
            <a:r>
              <a:rPr sz="1600" b="1">
                <a:solidFill>
                  <a:srgbClr val="008040"/>
                </a:solidFill>
                <a:latin typeface="Microsoft YaHei"/>
              </a:rPr>
              <a:t>【解决方法】</a:t>
            </a:r>
          </a:p>
          <a:p>
            <a:pPr algn="just">
              <a:lnSpc>
                <a:spcPct val="125000"/>
              </a:lnSpc>
              <a:spcBef>
                <a:spcPts val="0"/>
              </a:spcBef>
              <a:spcAft>
                <a:spcPts val="0"/>
              </a:spcAft>
            </a:pPr>
            <a:r>
              <a:rPr sz="1400" b="0">
                <a:solidFill>
                  <a:srgbClr val="000000"/>
                </a:solidFill>
                <a:latin typeface="Microsoft YaHei"/>
              </a:rPr>
              <a:t>企业核查开具广告服务业发票时，是否同时缴纳了文化事业建设费。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