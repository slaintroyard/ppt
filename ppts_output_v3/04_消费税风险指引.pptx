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兼营不同税率应税消费品未分别核算，税率未从高</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按照《中华人民共和国消费税暂行条例》（中华人民共和国国务院令第 539 号）第三条规定：</a:t>
            </a:r>
          </a:p>
          <a:p>
            <a:pPr algn="l">
              <a:lnSpc>
                <a:spcPts val="1430"/>
              </a:lnSpc>
              <a:spcBef>
                <a:spcPts val="200"/>
              </a:spcBef>
              <a:spcAft>
                <a:spcPts val="200"/>
              </a:spcAft>
            </a:pPr>
            <a:r>
              <a:rPr sz="11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预收货款结算方式，未在发出商品时缴纳消费税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号）第八条规定：</a:t>
            </a:r>
          </a:p>
          <a:p>
            <a:pPr algn="l">
              <a:lnSpc>
                <a:spcPts val="1430"/>
              </a:lnSpc>
              <a:spcBef>
                <a:spcPts val="200"/>
              </a:spcBef>
              <a:spcAft>
                <a:spcPts val="200"/>
              </a:spcAft>
            </a:pPr>
            <a:r>
              <a:rPr sz="1100" b="0">
                <a:solidFill>
                  <a:srgbClr val="000000"/>
                </a:solidFill>
                <a:latin typeface="Microsoft YaHei"/>
              </a:rPr>
              <a:t>消费税纳税义务发生时间，根据《中华人民共和国消费税暂行条例》第四条的规定，分列如下：</a:t>
            </a:r>
          </a:p>
          <a:p>
            <a:pPr algn="l">
              <a:lnSpc>
                <a:spcPts val="1430"/>
              </a:lnSpc>
              <a:spcBef>
                <a:spcPts val="200"/>
              </a:spcBef>
              <a:spcAft>
                <a:spcPts val="200"/>
              </a:spcAft>
            </a:pPr>
            <a:r>
              <a:rPr sz="1100" b="0">
                <a:solidFill>
                  <a:srgbClr val="000000"/>
                </a:solidFill>
                <a:latin typeface="Microsoft YaHei"/>
              </a:rPr>
              <a:t>（一）纳税人销售应税消费品的，按不同的销售结算方式分别为：2.采取预收货款结算方式的，为发出应税消费品的当天。</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企业销售应税消费品采取预收货款结算方式的，为发出应税消费品的当天，企业应及时按纳税义务发生时间确认收入并计提消费税。</a:t>
            </a:r>
          </a:p>
          <a:p>
            <a:pPr algn="l">
              <a:lnSpc>
                <a:spcPts val="1430"/>
              </a:lnSpc>
              <a:spcBef>
                <a:spcPts val="200"/>
              </a:spcBef>
              <a:spcAft>
                <a:spcPts val="200"/>
              </a:spcAft>
            </a:pPr>
            <a:r>
              <a:rPr sz="1100" b="0">
                <a:solidFill>
                  <a:srgbClr val="000000"/>
                </a:solidFill>
                <a:latin typeface="Microsoft YaHei"/>
              </a:rPr>
              <a:t>211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自产应税消费品馈赠赞助，未视同销售缴纳消费税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根据《中华人民共和国消费税暂行条例》（国务院令2008年第539 号） 第四条规定：</a:t>
            </a:r>
          </a:p>
          <a:p>
            <a:pPr algn="l">
              <a:lnSpc>
                <a:spcPts val="1430"/>
              </a:lnSpc>
              <a:spcBef>
                <a:spcPts val="200"/>
              </a:spcBef>
              <a:spcAft>
                <a:spcPts val="200"/>
              </a:spcAft>
            </a:pPr>
            <a:r>
              <a:rPr sz="11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号）第六条规定：</a:t>
            </a:r>
          </a:p>
          <a:p>
            <a:pPr algn="l">
              <a:lnSpc>
                <a:spcPts val="1430"/>
              </a:lnSpc>
              <a:spcBef>
                <a:spcPts val="200"/>
              </a:spcBef>
              <a:spcAft>
                <a:spcPts val="200"/>
              </a:spcAft>
            </a:pPr>
            <a:r>
              <a:rPr sz="11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自产应税消费品用于职工奖励或福利，未视同销售缴纳消费税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根据《中华人民共和国消费税暂行条例》（国务院令2008年第539 号） 第四条规定：</a:t>
            </a:r>
          </a:p>
          <a:p>
            <a:pPr algn="l">
              <a:lnSpc>
                <a:spcPts val="1430"/>
              </a:lnSpc>
              <a:spcBef>
                <a:spcPts val="200"/>
              </a:spcBef>
              <a:spcAft>
                <a:spcPts val="200"/>
              </a:spcAft>
            </a:pPr>
            <a:r>
              <a:rPr sz="11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号）第六条规定：</a:t>
            </a:r>
          </a:p>
          <a:p>
            <a:pPr algn="l">
              <a:lnSpc>
                <a:spcPts val="1430"/>
              </a:lnSpc>
              <a:spcBef>
                <a:spcPts val="200"/>
              </a:spcBef>
              <a:spcAft>
                <a:spcPts val="200"/>
              </a:spcAft>
            </a:pPr>
            <a:r>
              <a:rPr sz="11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自产应税消费品用于业务宣传样品，未视同销售缴纳消费税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根据《中华人民共和国消费税暂行条例》（国务院令2008年第539 号）第四条规定：</a:t>
            </a:r>
          </a:p>
          <a:p>
            <a:pPr algn="l">
              <a:lnSpc>
                <a:spcPts val="1430"/>
              </a:lnSpc>
              <a:spcBef>
                <a:spcPts val="200"/>
              </a:spcBef>
              <a:spcAft>
                <a:spcPts val="200"/>
              </a:spcAft>
            </a:pPr>
            <a:r>
              <a:rPr sz="11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号）第六条规定：</a:t>
            </a:r>
          </a:p>
          <a:p>
            <a:pPr algn="l">
              <a:lnSpc>
                <a:spcPts val="1430"/>
              </a:lnSpc>
              <a:spcBef>
                <a:spcPts val="200"/>
              </a:spcBef>
              <a:spcAft>
                <a:spcPts val="200"/>
              </a:spcAft>
            </a:pPr>
            <a:r>
              <a:rPr sz="11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应税消费品处置时，企业自产应税消费品用于广告或业务宣传样品未视同销售是风险点，存在补缴消费税并加收滞纳金及罚款的风险。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自产应税消费品用于投资入股未视同销售缴纳消费税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企业将自产的应税消费品用于投资入股时未视同销售，而是直接减少库存商品增加长期股权投资，未视同销售在商品移送时计提消费税。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根据《中华人民共和国消费税暂行条例》（国务院令2008年第539 号） 第四条规定：</a:t>
            </a:r>
          </a:p>
          <a:p>
            <a:pPr algn="l">
              <a:lnSpc>
                <a:spcPts val="1430"/>
              </a:lnSpc>
              <a:spcBef>
                <a:spcPts val="200"/>
              </a:spcBef>
              <a:spcAft>
                <a:spcPts val="200"/>
              </a:spcAft>
            </a:pPr>
            <a:r>
              <a:rPr sz="11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号）第六条规定：</a:t>
            </a:r>
          </a:p>
          <a:p>
            <a:pPr algn="l">
              <a:lnSpc>
                <a:spcPts val="1430"/>
              </a:lnSpc>
              <a:spcBef>
                <a:spcPts val="200"/>
              </a:spcBef>
              <a:spcAft>
                <a:spcPts val="200"/>
              </a:spcAft>
            </a:pPr>
            <a:r>
              <a:rPr sz="11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应税消费品处置时，企业自产应税消费品用于投资入股未视同销售是风险点，存在补缴消费税并加收滞纳金及罚款的风险。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自产应税消费品用于抵债未视同销售缴纳消费税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根据《中华人民共和国消费税暂行条例》（国务院令2008年第539 号）第四条规定：</a:t>
            </a:r>
          </a:p>
          <a:p>
            <a:pPr algn="l">
              <a:lnSpc>
                <a:spcPts val="1430"/>
              </a:lnSpc>
              <a:spcBef>
                <a:spcPts val="200"/>
              </a:spcBef>
              <a:spcAft>
                <a:spcPts val="200"/>
              </a:spcAft>
            </a:pPr>
            <a:r>
              <a:rPr sz="11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六条规定：条例第四条第一款所称用于其他方面，是指纳税人将自产自用应税消费品用于生产非应税消费品、在建工程、管理部门、非生产机构、提供劳务、馈赠、赞助、集资、广告、样品、职工福利、奖励等方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应税消费品处置时，企业自产应税消费品用于抵债未视同销售是风险点，存在补缴消费税并加收滞纳金及罚款的风险。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自产应税消费品用于换取生产资料未视同销售缴纳消费税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根据《中华人民共和国消费税暂行条例》（国务院令2008年第539 号） 第四条规定：</a:t>
            </a:r>
          </a:p>
          <a:p>
            <a:pPr algn="l">
              <a:lnSpc>
                <a:spcPts val="1430"/>
              </a:lnSpc>
              <a:spcBef>
                <a:spcPts val="200"/>
              </a:spcBef>
              <a:spcAft>
                <a:spcPts val="200"/>
              </a:spcAft>
            </a:pPr>
            <a:r>
              <a:rPr sz="11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号）第六条规定：</a:t>
            </a:r>
          </a:p>
          <a:p>
            <a:pPr algn="l">
              <a:lnSpc>
                <a:spcPts val="1430"/>
              </a:lnSpc>
              <a:spcBef>
                <a:spcPts val="200"/>
              </a:spcBef>
              <a:spcAft>
                <a:spcPts val="200"/>
              </a:spcAft>
            </a:pPr>
            <a:r>
              <a:rPr sz="11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企业应税消费品处置时，企业自产应税消费品用于换取生产资料未视同销售是风险点，存在补缴消费税并加收滞纳金及罚款的风险。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未将价外费用确认为消费税的计税基数</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根据《中华人民共和国消费税暂行条例》（国务院令2008年第539 号）第六条规定：</a:t>
            </a:r>
          </a:p>
          <a:p>
            <a:pPr algn="l">
              <a:lnSpc>
                <a:spcPts val="1430"/>
              </a:lnSpc>
              <a:spcBef>
                <a:spcPts val="200"/>
              </a:spcBef>
              <a:spcAft>
                <a:spcPts val="200"/>
              </a:spcAft>
            </a:pPr>
            <a:r>
              <a:rPr sz="1100" b="0">
                <a:solidFill>
                  <a:srgbClr val="000000"/>
                </a:solidFill>
                <a:latin typeface="Microsoft YaHei"/>
              </a:rPr>
              <a:t>销售额为纳税人销售应税消费品向购买方收取的全部价款和价外费用。</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应税消费品连同包装物销售的，包装物未计入消费税计税基数</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 12 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 12 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应税消费品以外币结算的，汇率适用错误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企业销售应税消费品如果以外币结算的，其销售额的人民币折合率可以选择销售额发生的当天或者当月1 日的人民币汇率中间价。纳税人应在事先确定采用何种折合率，确定后1 年内不得变更。企业往往为了降低税负在一年内随意变更折合率，存在风险。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根据《中华人民共和国消费税暂行条例实施细则》（财政部国家税务总局令第 51 号）第十一条：</a:t>
            </a:r>
          </a:p>
          <a:p>
            <a:pPr algn="l">
              <a:lnSpc>
                <a:spcPts val="1430"/>
              </a:lnSpc>
              <a:spcBef>
                <a:spcPts val="200"/>
              </a:spcBef>
              <a:spcAft>
                <a:spcPts val="200"/>
              </a:spcAft>
            </a:pPr>
            <a:r>
              <a:rPr sz="11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 年内不得变更。</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企业销售应税消费品如果以外币结算的，其销售额的人民币折合率一年内是否随意变更是稽查重点，存在利用汇率差少缴消费税的风险。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企业销售应税消费品如果以外币结算的，其销售额的人民币折合率可以选择销售额发生的当天或者当月1 日的人民币汇率中间价。企业应在事先确定采用何种折合率，确定后1 年内不得变更。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委托加工的应税消费品高于受托方的计税价格出售的，未再缴纳消费税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国家税务总局关于&lt;中华人民共和国消费税暂行条例实施细则&gt;有关条款解释的通知》（财法〔2012〕8 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受托方提供原材料的委托加工，未按销售自制应税消费品缴纳消费税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根据《中华人民共和国消费税暂行条例实施细则》（财政部令第51 号）第七条规定：</a:t>
            </a:r>
          </a:p>
          <a:p>
            <a:pPr algn="l">
              <a:lnSpc>
                <a:spcPts val="1430"/>
              </a:lnSpc>
              <a:spcBef>
                <a:spcPts val="200"/>
              </a:spcBef>
              <a:spcAft>
                <a:spcPts val="200"/>
              </a:spcAft>
            </a:pPr>
            <a:r>
              <a:rPr sz="11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受托方提供主要材料的加工业务不属于委托加工，如果受托方不按销售自制应税消费品处，就会存在少缴消费税的风险。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受托加工应税消费品未代收代缴消费税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受托在境内加工应税消费品，未按税法规定在向委托方交货时代收代缴消费税。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l">
              <a:lnSpc>
                <a:spcPts val="1430"/>
              </a:lnSpc>
              <a:spcBef>
                <a:spcPts val="200"/>
              </a:spcBef>
              <a:spcAft>
                <a:spcPts val="200"/>
              </a:spcAft>
            </a:pPr>
            <a:r>
              <a:rPr sz="11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l">
              <a:lnSpc>
                <a:spcPts val="1430"/>
              </a:lnSpc>
              <a:spcBef>
                <a:spcPts val="200"/>
              </a:spcBef>
              <a:spcAft>
                <a:spcPts val="200"/>
              </a:spcAft>
            </a:pPr>
            <a:r>
              <a:rPr sz="11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1430"/>
              </a:lnSpc>
              <a:spcBef>
                <a:spcPts val="200"/>
              </a:spcBef>
              <a:spcAft>
                <a:spcPts val="200"/>
              </a:spcAft>
            </a:pPr>
            <a:r>
              <a:rPr sz="1100" b="0">
                <a:solidFill>
                  <a:srgbClr val="000000"/>
                </a:solidFill>
                <a:latin typeface="Microsoft YaHei"/>
              </a:rPr>
              <a:t>委托加工的应税消费品直接出售的，不再缴纳消费税。委托个人加工的应税消费品，由委托方收回后缴纳消费税。。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受托在境内加工应税消费品，未按税法规定在向委托方交货时代收代缴消费税。可能会产生补缴税款以及缴纳滞纳金的风险。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将粮食白酒按适用低税率的其他酒申报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酒类消费税适用税率按原料划分为不同税率，粮食白酒和其他酒存在差异，《中华人民共和国消费税暂行条例》规定白酒税率从价20%加从量 0.5 元/500 克（或者 500 毫升），其他酒税率从价10%。可能存在将粮食白酒混用为其他酒适用消费税税率的风险。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根据《中华人民共和国消费税暂行条例》附件“消费税税目税率表”;《国家税务总局关于配制酒消费税适用税率问题的公告》（国家税务总局公告 2011 年第 53 号） 第二条的规定：二、配制酒消费税适用税率（一）以蒸馏酒或食用酒精为酒基，同时符合以下条件的配制酒，按消费税税目税率表“其他酒”10%适用税率征收消费税。1.具有国家相关部门批准的国食健字或卫食健字文号；2.酒精度低于 38 度（含）。</a:t>
            </a:r>
          </a:p>
          <a:p>
            <a:pPr algn="l">
              <a:lnSpc>
                <a:spcPts val="1430"/>
              </a:lnSpc>
              <a:spcBef>
                <a:spcPts val="200"/>
              </a:spcBef>
              <a:spcAft>
                <a:spcPts val="200"/>
              </a:spcAft>
            </a:pPr>
            <a:r>
              <a:rPr sz="1100" b="0">
                <a:solidFill>
                  <a:srgbClr val="000000"/>
                </a:solidFill>
                <a:latin typeface="Microsoft YaHei"/>
              </a:rPr>
              <a:t>（二）以发酵酒为酒基，酒精度低于20 度（含）的配制酒，按消费税税目税率表“其他酒”10%适用税率征收消费税。（三）其他配制酒，按消费税税目税率表“白酒”适用税率征收消费税。</a:t>
            </a:r>
          </a:p>
          <a:p>
            <a:pPr algn="l">
              <a:lnSpc>
                <a:spcPts val="1430"/>
              </a:lnSpc>
              <a:spcBef>
                <a:spcPts val="200"/>
              </a:spcBef>
              <a:spcAft>
                <a:spcPts val="200"/>
              </a:spcAft>
            </a:pPr>
            <a:r>
              <a:rPr sz="1100" b="0">
                <a:solidFill>
                  <a:srgbClr val="000000"/>
                </a:solidFill>
                <a:latin typeface="Microsoft YaHei"/>
              </a:rPr>
              <a:t>上述蒸馏酒或食用酒精为酒基是指酒基中蒸馏酒或食用酒精的比重超过 80%（含）；发酵酒为酒基是指酒基中发酵酒的比重超过80%（含）。。</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企业将粮食白酒混用为其他酒适用消费税税率。可能会产生补缴税款以及缴纳滞纳金的风险。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同时在生产白酒和其他酒的企业可查看生产产品品类及销售情况，结合消费税纳税申报情况，确认各品类酒已按规定税率缴纳消费税。</a:t>
            </a:r>
          </a:p>
          <a:p>
            <a:pPr algn="l">
              <a:lnSpc>
                <a:spcPts val="1430"/>
              </a:lnSpc>
              <a:spcBef>
                <a:spcPts val="200"/>
              </a:spcBef>
              <a:spcAft>
                <a:spcPts val="200"/>
              </a:spcAft>
            </a:pPr>
            <a:r>
              <a:rPr sz="1100" b="0">
                <a:solidFill>
                  <a:srgbClr val="000000"/>
                </a:solidFill>
                <a:latin typeface="Microsoft YaHei"/>
              </a:rPr>
              <a:t>227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