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Oval 1"/>
          <p:cNvSpPr/>
          <p:nvPr/>
        </p:nvSpPr>
        <p:spPr>
          <a:xfrm>
            <a:off x="3353104" y="274320"/>
            <a:ext cx="5486400" cy="5486400"/>
          </a:xfrm>
          <a:prstGeom prst="ellipse">
            <a:avLst/>
          </a:prstGeom>
          <a:solidFill>
            <a:srgbClr val="5776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0"/>
            <a:ext cx="10728655" cy="2286000"/>
          </a:xfrm>
          <a:prstGeom prst="rect">
            <a:avLst/>
          </a:prstGeom>
          <a:noFill/>
        </p:spPr>
        <p:txBody>
          <a:bodyPr wrap="square">
            <a:spAutoFit/>
          </a:bodyPr>
          <a:lstStyle/>
          <a:p>
            <a:pPr algn="ctr">
              <a:defRPr sz="4000" b="1">
                <a:solidFill>
                  <a:srgbClr val="FFFFFF"/>
                </a:solidFill>
                <a:latin typeface="Microsoft YaHei"/>
              </a:defRPr>
            </a:pPr>
            <a:r>
              <a:t>资源税风险指引</a:t>
            </a:r>
          </a:p>
        </p:txBody>
      </p:sp>
      <p:sp>
        <p:nvSpPr>
          <p:cNvPr id="4" name="Rectangle 3"/>
          <p:cNvSpPr/>
          <p:nvPr/>
        </p:nvSpPr>
        <p:spPr>
          <a:xfrm>
            <a:off x="4114800" y="3749039"/>
            <a:ext cx="3962095" cy="182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931920"/>
            <a:ext cx="10728655" cy="548640"/>
          </a:xfrm>
          <a:prstGeom prst="rect">
            <a:avLst/>
          </a:prstGeom>
          <a:noFill/>
        </p:spPr>
        <p:txBody>
          <a:bodyPr wrap="none">
            <a:spAutoFit/>
          </a:bodyPr>
          <a:lstStyle/>
          <a:p>
            <a:pPr algn="ctr">
              <a:defRPr sz="2200">
                <a:solidFill>
                  <a:srgbClr val="CCCCCC"/>
                </a:solidFill>
                <a:latin typeface="Microsoft YaHei"/>
              </a:defRPr>
            </a:pPr>
            <a:r>
              <a:t>共 7 个风险点</a:t>
            </a:r>
          </a:p>
        </p:txBody>
      </p:sp>
      <p:sp>
        <p:nvSpPr>
          <p:cNvPr id="6" name="TextBox 5"/>
          <p:cNvSpPr txBox="1"/>
          <p:nvPr/>
        </p:nvSpPr>
        <p:spPr>
          <a:xfrm>
            <a:off x="731520" y="4572000"/>
            <a:ext cx="10728655" cy="731520"/>
          </a:xfrm>
          <a:prstGeom prst="rect">
            <a:avLst/>
          </a:prstGeom>
          <a:noFill/>
        </p:spPr>
        <p:txBody>
          <a:bodyPr wrap="none">
            <a:spAutoFit/>
          </a:bodyPr>
          <a:lstStyle/>
          <a:p>
            <a:pPr algn="ctr">
              <a:defRPr sz="1600">
                <a:solidFill>
                  <a:srgbClr val="AABBCC"/>
                </a:solidFill>
                <a:latin typeface="Microsoft YaHei"/>
              </a:defRPr>
            </a:pPr>
            <a:r>
              <a:t>税费合规指引 (2.0版)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资源税风险指引  |  风险点 1</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1B3A5C"/>
                </a:solidFill>
                <a:latin typeface="Microsoft YaHei"/>
              </a:rPr>
              <a:t>资源税纳税申报环节风险</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1. 资源税纳税义务人发生应纳税行为，未履行或未及时履行纳税申报义务。如纳税人发生开采应税矿产品并销售因不需开具发票即收入不入账，不缴税。2. 纳税人未按照《采矿许可证》标明的矿种进行申报，错误申报成其他矿产品导致税率错误，申报税款错误。</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根据《中华人民共和国资源税法》第一条的规定：在中华人民共和国领域和中华人民共和国管辖的其他海域开发应税资源的单位和个人，为资源税的纳税人，应当依照本法规定缴纳资源税。</a:t>
            </a:r>
          </a:p>
          <a:p>
            <a:pPr algn="just">
              <a:lnSpc>
                <a:spcPct val="110000"/>
              </a:lnSpc>
              <a:spcBef>
                <a:spcPts val="0"/>
              </a:spcBef>
              <a:spcAft>
                <a:spcPts val="0"/>
              </a:spcAft>
            </a:pPr>
            <a:r>
              <a:rPr sz="1400" b="0">
                <a:solidFill>
                  <a:srgbClr val="000000"/>
                </a:solidFill>
                <a:latin typeface="Microsoft YaHei"/>
              </a:rPr>
              <a:t>《中华人民共和国资源税法》第三条资源税按照《税目税率表》实行从价计征或者从量计征。《税目税率表》中规定可以选择实行从价计征或者从量计征的，具体计征方式由省、自治区、直辖市人民政府提出，报同级人民代表大会常务委员会决定，并报全国人民代表大会常务委员会和国务院备案。实行从价计征的，应纳税额按照应税资源产品（以下称应税产品）的销售额乘以具体适用税率计算。实行从量计征的，应纳税额按照应税产品的销售数量乘以具体适用税率计算。应税产品为矿产品的，包括原矿和选矿产品。《中华人民共和国资源税法》第十条纳税人销售应税产品，纳税义务发生时间为收讫销售款或者取得索取销售款凭据的当日；自用应税产品的，纳税义务发生时间为移送应税产品的当日。《中华人民共和国资源税法》第十二条资源税按月或者按季申报缴纳；不能按固定期限计算缴纳的，可以按次申报缴纳。纳税人按月或者按季申报缴纳的，应当自月度或者季度终了之日起十五日内，向税务机关办理纳税申报并缴纳税款；按次申报缴纳的，应当自纳税义务发生之日起十五日内，向税务机关办理纳税申报并缴纳税款。</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应申报，未申报，或者或者申报错误将面临补缴税款、征收滞纳金、行政处罚以及影响企业纳税信用评级等。</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企业在发生资源税应税行为后，应及时按相关规定据实申报缴纳资源税。</a:t>
            </a:r>
          </a:p>
        </p:txBody>
      </p:sp>
      <p:sp>
        <p:nvSpPr>
          <p:cNvPr id="4" name="Rectangle 3"/>
          <p:cNvSpPr/>
          <p:nvPr/>
        </p:nvSpPr>
        <p:spPr>
          <a:xfrm>
            <a:off x="457200" y="6720840"/>
            <a:ext cx="11277295" cy="2743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资源税风险指引  |  风险点 2</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1B3A5C"/>
                </a:solidFill>
                <a:latin typeface="Microsoft YaHei"/>
              </a:rPr>
              <a:t>错误按砂石从量计征申报纳税风险</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对能区分原生岩石矿种（非砂石矿种）应从价计征但按砂石品目申报，或涉及多个应税矿产品但混淆在一起按砂石从量计征申报纳税。</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中华人民共和国资源税法》第二条的规定：资源税的税目、税率，依照《税目税率表》执行。《中华人民共和国资源税法》第四条纳税人开采或者生产不同税目应税产品的，应当分别核算不同税目应税产品的销售额或者销售数量；未分别核算或者不能准确提供不同税目应税产品的销售额或者销售数量的，从高适用税率。</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对能区分原生岩石矿种（非砂石矿种）从价计征的按砂石品目申报，或涉及多个应税矿产品但混淆在一起按砂石从量计征申报纳税，申报错误纳税人将面临风险。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企业应在生产经营过程中建立真实清晰的开采、销售账目，并据实申报缴纳资源税。</a:t>
            </a:r>
          </a:p>
        </p:txBody>
      </p:sp>
      <p:sp>
        <p:nvSpPr>
          <p:cNvPr id="4" name="Rectangle 3"/>
          <p:cNvSpPr/>
          <p:nvPr/>
        </p:nvSpPr>
        <p:spPr>
          <a:xfrm>
            <a:off x="457200" y="6720840"/>
            <a:ext cx="11277295" cy="2743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资源税风险指引  |  风险点 3</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1B3A5C"/>
                </a:solidFill>
                <a:latin typeface="Microsoft YaHei"/>
              </a:rPr>
              <a:t>自用应税产品未申报纳税风险</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开采的应税矿产品自用未申报纳税。如将开采的矿产品投资、抵债等，或用于生产其他产品等未按规定申报缴纳资源税。</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根据《中华人民共和国资源税法》第五条的规定：纳税人开采或者生产应税产品自用的，应当依照本法规定缴纳资源税；但是，自用于连续生产应税产品的，不缴纳资源税。《财政部 税务总局关于资源税有关问题执行口径的公告》（财政部 税务总局公告2020年第34号）二、纳税人自用应税产品应当缴纳资源税的情形，包括纳税人以应税产品用于非货币性资产交换、捐赠、偿债、赞助、集资、投资、广告、样品、职工福利、利润分配或者连续生产非应税产品等。</a:t>
            </a:r>
          </a:p>
          <a:p>
            <a:pPr algn="just">
              <a:lnSpc>
                <a:spcPct val="110000"/>
              </a:lnSpc>
              <a:spcBef>
                <a:spcPts val="0"/>
              </a:spcBef>
              <a:spcAft>
                <a:spcPts val="0"/>
              </a:spcAft>
            </a:pPr>
            <a:r>
              <a:rPr sz="1400" b="0">
                <a:solidFill>
                  <a:srgbClr val="000000"/>
                </a:solidFill>
                <a:latin typeface="Microsoft YaHei"/>
              </a:rPr>
              <a:t>《中华人民共和国资源税法》第十条纳税人销售应税产品，纳税义务发生时间为收讫销售款或者取得索取销售款凭据的当日；自用应税产品的，纳税义务发生时间为移送应税产品的当日。</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自用应税产品应申报而未申报缴纳资源税，造成少缴税款风险。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企业应在应税矿产品移交使用市据实入账并确认收入，并按规定期限申报缴纳资源税。</a:t>
            </a:r>
          </a:p>
        </p:txBody>
      </p:sp>
      <p:sp>
        <p:nvSpPr>
          <p:cNvPr id="4" name="Rectangle 3"/>
          <p:cNvSpPr/>
          <p:nvPr/>
        </p:nvSpPr>
        <p:spPr>
          <a:xfrm>
            <a:off x="457200" y="6720840"/>
            <a:ext cx="11277295" cy="2743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资源税风险指引  |  风险点 4</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1B3A5C"/>
                </a:solidFill>
                <a:latin typeface="Microsoft YaHei"/>
              </a:rPr>
              <a:t>资源税纳税地点错误风险</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企业未向应税产品开采地或者生产地的税务机关申报缴纳资源税。</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根据《中华人民共和国资源税法》第十一条的规定：纳税人应当向应税产品开采地或者生产地的税务机关申报缴纳资源税。</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企业未向应税产品开采地或者生产地的税务机关申报缴纳资源税，导致资源税纳税地点错误，造成适用税额错误，产生少缴税款风险。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企业应按规定及时向应税产品开采地或者生产地的税务机关申报缴纳资源税。</a:t>
            </a:r>
          </a:p>
        </p:txBody>
      </p:sp>
      <p:sp>
        <p:nvSpPr>
          <p:cNvPr id="4" name="Rectangle 3"/>
          <p:cNvSpPr/>
          <p:nvPr/>
        </p:nvSpPr>
        <p:spPr>
          <a:xfrm>
            <a:off x="457200" y="6720840"/>
            <a:ext cx="11277295" cy="2743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资源税风险指引  |  风险点 5</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1B3A5C"/>
                </a:solidFill>
                <a:latin typeface="Microsoft YaHei"/>
              </a:rPr>
              <a:t>无证取水、超许可或超计划取水风险</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企业未取得取水许可擅自取水；实际取水量超过取水许可额度、用水计划，未按累进税额申报；擅自改变取水用途。</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根据《黑龙江省财政厅 国家税务总局黑龙江省税务局黑龙江省水利厅关于印发《黑龙江省水资源税改革试点有关政策措施》的通知》规定：超计划取水实行累进加征，无证取水按3倍税额计征。</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企业未按规定申报水资源税，导致适用税率错误，产生纳税风险。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企业应先办理取水许可，严格按许可/ 计划取水；超量取水主动按累进税额申报；变更用途及时报备并调整适用税额。</a:t>
            </a:r>
          </a:p>
        </p:txBody>
      </p:sp>
      <p:sp>
        <p:nvSpPr>
          <p:cNvPr id="4" name="Rectangle 3"/>
          <p:cNvSpPr/>
          <p:nvPr/>
        </p:nvSpPr>
        <p:spPr>
          <a:xfrm>
            <a:off x="457200" y="6720840"/>
            <a:ext cx="11277295" cy="2743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资源税风险指引  |  风险点 6</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1B3A5C"/>
                </a:solidFill>
                <a:latin typeface="Microsoft YaHei"/>
              </a:rPr>
              <a:t>取水计量设施缺失、损坏或数据失真风险</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纳税人未按规定安装计量装置；计量故障未及时报修；篡改、伪造水量数据；无计量装置但按实际用水量申报。</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依据《水资源税改革试点实施办法》规定：水资源税以实际取用水量为计税依据；未安装计量设施的，按最大取水能力核定计征。</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纳税人计量申报用水量不真实、不准确，需按最大取水能力核定，税负大幅增加。</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规范安装、定期校验计量设施；故障24小时内报备并修复；建立用水台账，确保数据真实可查。</a:t>
            </a:r>
          </a:p>
        </p:txBody>
      </p:sp>
      <p:sp>
        <p:nvSpPr>
          <p:cNvPr id="4" name="Rectangle 3"/>
          <p:cNvSpPr/>
          <p:nvPr/>
        </p:nvSpPr>
        <p:spPr>
          <a:xfrm>
            <a:off x="457200" y="6720840"/>
            <a:ext cx="11277295" cy="2743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资源税风险指引  |  风险点 7</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1B3A5C"/>
                </a:solidFill>
                <a:latin typeface="Microsoft YaHei"/>
              </a:rPr>
              <a:t>纳税人申报水源、用途、税额适用错误风险</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纳税人进行申报时混淆地表水和 地下水；用途申报有误，错用低税额；地下水按地表水申报的风险。</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根据《黑龙江省财政厅 国家税务总局黑龙江省税务局黑龙江省水利厅关于印发&lt;黑龙江省水资源税改革试点有关政策措施&gt;的通知》对不同用途税额的规定，超采区税额加倍。</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纳税人申报填报错误，容易产生少缴税款风险。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纳税人应按取水口性质、行业、区域精准匹配税额；对照本省税额目录逐一核对。</a:t>
            </a:r>
          </a:p>
        </p:txBody>
      </p:sp>
      <p:sp>
        <p:nvSpPr>
          <p:cNvPr id="4" name="Rectangle 3"/>
          <p:cNvSpPr/>
          <p:nvPr/>
        </p:nvSpPr>
        <p:spPr>
          <a:xfrm>
            <a:off x="457200" y="6720840"/>
            <a:ext cx="11277295" cy="2743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