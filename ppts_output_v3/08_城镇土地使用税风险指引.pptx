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以出让或转让方式取得土地使用权未按规定缴纳土地使用税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未区分安全防范用地与仓库库区、厂房用地</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无偿使用免税单位土地未缴土地使用税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企业如果因为使用的土地是免税单位的而未缴纳土地使用税，则存在补缴税款、滞纳金和罚款的风险。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免税单位出租房屋未缴土地使用税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l">
              <a:lnSpc>
                <a:spcPct val="125000"/>
              </a:lnSpc>
              <a:spcBef>
                <a:spcPts val="0"/>
              </a:spcBef>
              <a:spcAft>
                <a:spcPts val="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l">
              <a:lnSpc>
                <a:spcPct val="125000"/>
              </a:lnSpc>
              <a:spcBef>
                <a:spcPts val="0"/>
              </a:spcBef>
              <a:spcAft>
                <a:spcPts val="0"/>
              </a:spcAft>
            </a:pPr>
            <a:r>
              <a:rPr sz="1400" b="0">
                <a:solidFill>
                  <a:srgbClr val="000000"/>
                </a:solidFill>
                <a:latin typeface="Microsoft YaHei"/>
              </a:rPr>
              <a:t>七、由财政部另行规定免税的能源、交通、水利设施用地和其他用地。</a:t>
            </a:r>
          </a:p>
          <a:p>
            <a:pPr algn="l">
              <a:lnSpc>
                <a:spcPct val="125000"/>
              </a:lnSpc>
              <a:spcBef>
                <a:spcPts val="0"/>
              </a:spcBef>
              <a:spcAft>
                <a:spcPts val="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l">
              <a:lnSpc>
                <a:spcPct val="125000"/>
              </a:lnSpc>
              <a:spcBef>
                <a:spcPts val="0"/>
              </a:spcBef>
              <a:spcAft>
                <a:spcPts val="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ct val="125000"/>
              </a:lnSpc>
              <a:spcBef>
                <a:spcPts val="0"/>
              </a:spcBef>
              <a:spcAft>
                <a:spcPts val="0"/>
              </a:spcAft>
            </a:pPr>
            <a:r>
              <a:rPr sz="1400" b="0">
                <a:solidFill>
                  <a:srgbClr val="000000"/>
                </a:solidFill>
                <a:latin typeface="Microsoft YaHei"/>
              </a:rPr>
              <a:t>公园、名胜古迹自用的土地，是指供公共参观游览的用地及其管理单位的办公用地。</a:t>
            </a:r>
          </a:p>
          <a:p>
            <a:pPr algn="l">
              <a:lnSpc>
                <a:spcPct val="125000"/>
              </a:lnSpc>
              <a:spcBef>
                <a:spcPts val="0"/>
              </a:spcBef>
              <a:spcAft>
                <a:spcPts val="0"/>
              </a:spcAft>
            </a:pPr>
            <a:r>
              <a:rPr sz="1400" b="0">
                <a:solidFill>
                  <a:srgbClr val="000000"/>
                </a:solidFill>
                <a:latin typeface="Microsoft YaHei"/>
              </a:rPr>
              <a:t>以上单位的生产、营业用地和其他用地，不属于免税范围，应按规定缴纳土地使用税。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应税土地面积不符合规定</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l">
              <a:lnSpc>
                <a:spcPct val="125000"/>
              </a:lnSpc>
              <a:spcBef>
                <a:spcPts val="0"/>
              </a:spcBef>
              <a:spcAft>
                <a:spcPts val="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l">
              <a:lnSpc>
                <a:spcPct val="125000"/>
              </a:lnSpc>
              <a:spcBef>
                <a:spcPts val="0"/>
              </a:spcBef>
              <a:spcAft>
                <a:spcPts val="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单独建造的地下建筑用地未交土地使用税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ct val="125000"/>
              </a:lnSpc>
              <a:spcBef>
                <a:spcPts val="0"/>
              </a:spcBef>
              <a:spcAft>
                <a:spcPts val="0"/>
              </a:spcAft>
            </a:pPr>
            <a:r>
              <a:rPr sz="1400" b="0">
                <a:solidFill>
                  <a:srgbClr val="000000"/>
                </a:solidFill>
                <a:latin typeface="Microsoft YaHei"/>
              </a:rPr>
              <a:t>对上述地下建筑用地暂按应征税款的50%征收城镇土地使用税。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共用土地未按规定计征土地使用税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ct val="125000"/>
              </a:lnSpc>
              <a:spcBef>
                <a:spcPts val="0"/>
              </a:spcBef>
              <a:spcAft>
                <a:spcPts val="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厂区内的绿化用地未缴土地使用税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供热企业非供热厂房及土地错误享受免税政策</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l">
              <a:lnSpc>
                <a:spcPct val="125000"/>
              </a:lnSpc>
              <a:spcBef>
                <a:spcPts val="0"/>
              </a:spcBef>
              <a:spcAft>
                <a:spcPts val="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l">
              <a:lnSpc>
                <a:spcPct val="125000"/>
              </a:lnSpc>
              <a:spcBef>
                <a:spcPts val="0"/>
              </a:spcBef>
              <a:spcAft>
                <a:spcPts val="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减免土地使用税，未留存必要的备查资料</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根据《关于实施小微企业普惠性税收减免政策的通知》（财税〔2019〕13号）第三条的规定：</a:t>
            </a:r>
          </a:p>
          <a:p>
            <a:pPr algn="l">
              <a:lnSpc>
                <a:spcPct val="125000"/>
              </a:lnSpc>
              <a:spcBef>
                <a:spcPts val="0"/>
              </a:spcBef>
              <a:spcAft>
                <a:spcPts val="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ct val="125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