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契税风险指引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7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契税风险指引  |  风险点 1</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2080"/>
              </a:lnSpc>
              <a:spcBef>
                <a:spcPts val="0"/>
              </a:spcBef>
              <a:spcAft>
                <a:spcPts val="600"/>
              </a:spcAft>
            </a:pPr>
            <a:r>
              <a:rPr sz="1600" b="1">
                <a:solidFill>
                  <a:srgbClr val="1B3A5C"/>
                </a:solidFill>
                <a:latin typeface="Microsoft YaHei"/>
              </a:rPr>
              <a:t>土地补偿费、地上附着物和青苗补偿费等未按规定缴纳契税的风险</a:t>
            </a:r>
          </a:p>
          <a:p>
            <a:pPr algn="l">
              <a:lnSpc>
                <a:spcPts val="2080"/>
              </a:lnSpc>
              <a:spcBef>
                <a:spcPts val="800"/>
              </a:spcBef>
              <a:spcAft>
                <a:spcPts val="300"/>
              </a:spcAft>
            </a:pPr>
            <a:r>
              <a:rPr sz="1600" b="1">
                <a:solidFill>
                  <a:srgbClr val="333333"/>
                </a:solidFill>
                <a:latin typeface="Microsoft YaHei"/>
              </a:rPr>
              <a:t>【风险描述】</a:t>
            </a:r>
          </a:p>
          <a:p>
            <a:pPr algn="l">
              <a:lnSpc>
                <a:spcPts val="1820"/>
              </a:lnSpc>
              <a:spcBef>
                <a:spcPts val="200"/>
              </a:spcBef>
              <a:spcAft>
                <a:spcPts val="200"/>
              </a:spcAft>
            </a:pPr>
            <a:r>
              <a:rPr sz="1400" b="0">
                <a:solidFill>
                  <a:srgbClr val="000000"/>
                </a:solidFill>
                <a:latin typeface="Microsoft YaHei"/>
              </a:rPr>
              <a:t>土地补偿费、地上附着物和青苗补偿费等未计入契税依据。</a:t>
            </a:r>
          </a:p>
          <a:p>
            <a:pPr algn="l">
              <a:lnSpc>
                <a:spcPts val="2080"/>
              </a:lnSpc>
              <a:spcBef>
                <a:spcPts val="800"/>
              </a:spcBef>
              <a:spcAft>
                <a:spcPts val="300"/>
              </a:spcAft>
            </a:pPr>
            <a:r>
              <a:rPr sz="1600" b="1">
                <a:solidFill>
                  <a:srgbClr val="1B5C9E"/>
                </a:solidFill>
                <a:latin typeface="Microsoft YaHei"/>
              </a:rPr>
              <a:t>【政策依据】</a:t>
            </a:r>
          </a:p>
          <a:p>
            <a:pPr algn="l">
              <a:lnSpc>
                <a:spcPts val="1820"/>
              </a:lnSpc>
              <a:spcBef>
                <a:spcPts val="200"/>
              </a:spcBef>
              <a:spcAft>
                <a:spcPts val="200"/>
              </a:spcAft>
            </a:pPr>
            <a:r>
              <a:rPr sz="1400" b="0">
                <a:solidFill>
                  <a:srgbClr val="000000"/>
                </a:solidFill>
                <a:latin typeface="Microsoft YaHei"/>
              </a:rPr>
              <a:t>根据《税务总局关于贯彻实施契税法若干事项执行口径的公告》（财政部 税务总局公告 2021 年第 23 号）的规定：二、关于若干计税依据的具体情形，（五）土地使用权出让的，计税依据包括土地出让金、土地补偿费、安置补助费、地上附着物和青苗补偿费、征收补偿费、城市基础设施配套费、实物配建房屋等应交付的货币以及实物、其他经济利益对应的价款。</a:t>
            </a:r>
          </a:p>
          <a:p>
            <a:pPr algn="l">
              <a:lnSpc>
                <a:spcPts val="2080"/>
              </a:lnSpc>
              <a:spcBef>
                <a:spcPts val="800"/>
              </a:spcBef>
              <a:spcAft>
                <a:spcPts val="300"/>
              </a:spcAft>
            </a:pPr>
            <a:r>
              <a:rPr sz="1600" b="1">
                <a:solidFill>
                  <a:srgbClr val="CC3333"/>
                </a:solidFill>
                <a:latin typeface="Microsoft YaHei"/>
              </a:rPr>
              <a:t>【预计风险】</a:t>
            </a:r>
          </a:p>
          <a:p>
            <a:pPr algn="l">
              <a:lnSpc>
                <a:spcPts val="1820"/>
              </a:lnSpc>
              <a:spcBef>
                <a:spcPts val="200"/>
              </a:spcBef>
              <a:spcAft>
                <a:spcPts val="200"/>
              </a:spcAft>
            </a:pPr>
            <a:r>
              <a:rPr sz="1400" b="0">
                <a:solidFill>
                  <a:srgbClr val="000000"/>
                </a:solidFill>
                <a:latin typeface="Microsoft YaHei"/>
              </a:rPr>
              <a:t>土地补偿费、地上附着物和青苗补偿费等未计入契税依据，存在少缴纳契税的风险</a:t>
            </a:r>
          </a:p>
          <a:p>
            <a:pPr algn="l">
              <a:lnSpc>
                <a:spcPts val="2080"/>
              </a:lnSpc>
              <a:spcBef>
                <a:spcPts val="800"/>
              </a:spcBef>
              <a:spcAft>
                <a:spcPts val="300"/>
              </a:spcAft>
            </a:pPr>
            <a:r>
              <a:rPr sz="1600" b="1">
                <a:solidFill>
                  <a:srgbClr val="008040"/>
                </a:solidFill>
                <a:latin typeface="Microsoft YaHei"/>
              </a:rPr>
              <a:t>【解决方法】</a:t>
            </a:r>
          </a:p>
          <a:p>
            <a:pPr algn="l">
              <a:lnSpc>
                <a:spcPts val="1820"/>
              </a:lnSpc>
              <a:spcBef>
                <a:spcPts val="200"/>
              </a:spcBef>
              <a:spcAft>
                <a:spcPts val="200"/>
              </a:spcAft>
            </a:pPr>
            <a:r>
              <a:rPr sz="1400" b="0">
                <a:solidFill>
                  <a:srgbClr val="000000"/>
                </a:solidFill>
                <a:latin typeface="Microsoft YaHei"/>
              </a:rPr>
              <a:t>企业核查“开发成本”科目下与土地补偿费、地上附着物和青苗补偿费相关的成本金额，申报的契税计税依据比对，核实是否存在少缴契税的情况。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契税风险指引  |  风险点 2</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2080"/>
              </a:lnSpc>
              <a:spcBef>
                <a:spcPts val="0"/>
              </a:spcBef>
              <a:spcAft>
                <a:spcPts val="600"/>
              </a:spcAft>
            </a:pPr>
            <a:r>
              <a:rPr sz="1600" b="1">
                <a:solidFill>
                  <a:srgbClr val="1B3A5C"/>
                </a:solidFill>
                <a:latin typeface="Microsoft YaHei"/>
              </a:rPr>
              <a:t>取得土地出让金减免未足额缴纳契税的风险</a:t>
            </a:r>
          </a:p>
          <a:p>
            <a:pPr algn="l">
              <a:lnSpc>
                <a:spcPts val="2080"/>
              </a:lnSpc>
              <a:spcBef>
                <a:spcPts val="800"/>
              </a:spcBef>
              <a:spcAft>
                <a:spcPts val="300"/>
              </a:spcAft>
            </a:pPr>
            <a:r>
              <a:rPr sz="1600" b="1">
                <a:solidFill>
                  <a:srgbClr val="333333"/>
                </a:solidFill>
                <a:latin typeface="Microsoft YaHei"/>
              </a:rPr>
              <a:t>【风险描述】</a:t>
            </a:r>
          </a:p>
          <a:p>
            <a:pPr algn="l">
              <a:lnSpc>
                <a:spcPts val="1820"/>
              </a:lnSpc>
              <a:spcBef>
                <a:spcPts val="200"/>
              </a:spcBef>
              <a:spcAft>
                <a:spcPts val="200"/>
              </a:spcAft>
            </a:pPr>
            <a:r>
              <a:rPr sz="1400" b="0">
                <a:solidFill>
                  <a:srgbClr val="000000"/>
                </a:solidFill>
                <a:latin typeface="Microsoft YaHei"/>
              </a:rPr>
              <a:t>房地产企业取得土地使用权时，政府部门对其应缴纳的土地出让金给予部分或全额减免，企业按减免后实际缴纳的土地出让金计算缴纳契税，存在少缴契税的风险。</a:t>
            </a:r>
          </a:p>
          <a:p>
            <a:pPr algn="l">
              <a:lnSpc>
                <a:spcPts val="2080"/>
              </a:lnSpc>
              <a:spcBef>
                <a:spcPts val="800"/>
              </a:spcBef>
              <a:spcAft>
                <a:spcPts val="300"/>
              </a:spcAft>
            </a:pPr>
            <a:r>
              <a:rPr sz="1600" b="1">
                <a:solidFill>
                  <a:srgbClr val="1B5C9E"/>
                </a:solidFill>
                <a:latin typeface="Microsoft YaHei"/>
              </a:rPr>
              <a:t>【政策依据】</a:t>
            </a:r>
          </a:p>
          <a:p>
            <a:pPr algn="l">
              <a:lnSpc>
                <a:spcPts val="1820"/>
              </a:lnSpc>
              <a:spcBef>
                <a:spcPts val="200"/>
              </a:spcBef>
              <a:spcAft>
                <a:spcPts val="200"/>
              </a:spcAft>
            </a:pPr>
            <a:r>
              <a:rPr sz="1400" b="0">
                <a:solidFill>
                  <a:srgbClr val="000000"/>
                </a:solidFill>
                <a:latin typeface="Microsoft YaHei"/>
              </a:rPr>
              <a:t>根据《国家税务总局关于免征土地出让金出让国有土地使用权征收契税的批复》（国税函〔2005〕436 号）的规定：根据《中华人民共和国契税暂行条例》及其细则的有关规定，对承受国有土地使用权所应支付的土地出让金，要计征契税。不得因减免土地出让金，而减免契税。</a:t>
            </a:r>
          </a:p>
          <a:p>
            <a:pPr algn="l">
              <a:lnSpc>
                <a:spcPts val="2080"/>
              </a:lnSpc>
              <a:spcBef>
                <a:spcPts val="800"/>
              </a:spcBef>
              <a:spcAft>
                <a:spcPts val="300"/>
              </a:spcAft>
            </a:pPr>
            <a:r>
              <a:rPr sz="1600" b="1">
                <a:solidFill>
                  <a:srgbClr val="CC3333"/>
                </a:solidFill>
                <a:latin typeface="Microsoft YaHei"/>
              </a:rPr>
              <a:t>【预计风险】</a:t>
            </a:r>
          </a:p>
          <a:p>
            <a:pPr algn="l">
              <a:lnSpc>
                <a:spcPts val="1820"/>
              </a:lnSpc>
              <a:spcBef>
                <a:spcPts val="200"/>
              </a:spcBef>
              <a:spcAft>
                <a:spcPts val="200"/>
              </a:spcAft>
            </a:pPr>
            <a:r>
              <a:rPr sz="1400" b="0">
                <a:solidFill>
                  <a:srgbClr val="000000"/>
                </a:solidFill>
                <a:latin typeface="Microsoft YaHei"/>
              </a:rPr>
              <a:t>取得土地出让金减免，而少计契税依据，存在少缴纳契税的风险</a:t>
            </a:r>
          </a:p>
          <a:p>
            <a:pPr algn="l">
              <a:lnSpc>
                <a:spcPts val="2080"/>
              </a:lnSpc>
              <a:spcBef>
                <a:spcPts val="800"/>
              </a:spcBef>
              <a:spcAft>
                <a:spcPts val="300"/>
              </a:spcAft>
            </a:pPr>
            <a:r>
              <a:rPr sz="1600" b="1">
                <a:solidFill>
                  <a:srgbClr val="008040"/>
                </a:solidFill>
                <a:latin typeface="Microsoft YaHei"/>
              </a:rPr>
              <a:t>【解决方法】</a:t>
            </a:r>
          </a:p>
          <a:p>
            <a:pPr algn="l">
              <a:lnSpc>
                <a:spcPts val="1820"/>
              </a:lnSpc>
              <a:spcBef>
                <a:spcPts val="200"/>
              </a:spcBef>
              <a:spcAft>
                <a:spcPts val="200"/>
              </a:spcAft>
            </a:pPr>
            <a:r>
              <a:rPr sz="1400" b="0">
                <a:solidFill>
                  <a:srgbClr val="000000"/>
                </a:solidFill>
                <a:latin typeface="Microsoft YaHei"/>
              </a:rPr>
              <a:t>房地产企业取得土地使用权时，按取得土地出让金的全额计税。</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契税风险指引  |  风险点 3</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2080"/>
              </a:lnSpc>
              <a:spcBef>
                <a:spcPts val="0"/>
              </a:spcBef>
              <a:spcAft>
                <a:spcPts val="600"/>
              </a:spcAft>
            </a:pPr>
            <a:r>
              <a:rPr sz="1600" b="1">
                <a:solidFill>
                  <a:srgbClr val="1B3A5C"/>
                </a:solidFill>
                <a:latin typeface="Microsoft YaHei"/>
              </a:rPr>
              <a:t>补缴土地出让金未按规定缴纳契税的风险</a:t>
            </a:r>
          </a:p>
          <a:p>
            <a:pPr algn="l">
              <a:lnSpc>
                <a:spcPts val="2080"/>
              </a:lnSpc>
              <a:spcBef>
                <a:spcPts val="800"/>
              </a:spcBef>
              <a:spcAft>
                <a:spcPts val="300"/>
              </a:spcAft>
            </a:pPr>
            <a:r>
              <a:rPr sz="1600" b="1">
                <a:solidFill>
                  <a:srgbClr val="333333"/>
                </a:solidFill>
                <a:latin typeface="Microsoft YaHei"/>
              </a:rPr>
              <a:t>【风险描述】</a:t>
            </a:r>
          </a:p>
          <a:p>
            <a:pPr algn="l">
              <a:lnSpc>
                <a:spcPts val="1820"/>
              </a:lnSpc>
              <a:spcBef>
                <a:spcPts val="200"/>
              </a:spcBef>
              <a:spcAft>
                <a:spcPts val="200"/>
              </a:spcAft>
            </a:pPr>
            <a:r>
              <a:rPr sz="1400" b="0">
                <a:solidFill>
                  <a:srgbClr val="000000"/>
                </a:solidFill>
                <a:latin typeface="Microsoft YaHei"/>
              </a:rPr>
              <a:t>房地产开发企业，先以划拨方式取得土地使用权，后经批准改为以出让方式取得该土地使用权的，其计税依据为包含后续发生的出让费用。</a:t>
            </a:r>
          </a:p>
          <a:p>
            <a:pPr algn="l">
              <a:lnSpc>
                <a:spcPts val="1820"/>
              </a:lnSpc>
              <a:spcBef>
                <a:spcPts val="200"/>
              </a:spcBef>
              <a:spcAft>
                <a:spcPts val="200"/>
              </a:spcAft>
            </a:pPr>
            <a:r>
              <a:rPr sz="1400" b="0">
                <a:solidFill>
                  <a:srgbClr val="000000"/>
                </a:solidFill>
                <a:latin typeface="Microsoft YaHei"/>
              </a:rPr>
              <a:t>将工业用地变性为商业，补交土地出让金签订土地变性合同后，其契税计税依据为包含补交的土地出让金。</a:t>
            </a:r>
          </a:p>
          <a:p>
            <a:pPr algn="l">
              <a:lnSpc>
                <a:spcPts val="2080"/>
              </a:lnSpc>
              <a:spcBef>
                <a:spcPts val="800"/>
              </a:spcBef>
              <a:spcAft>
                <a:spcPts val="300"/>
              </a:spcAft>
            </a:pPr>
            <a:r>
              <a:rPr sz="1600" b="1">
                <a:solidFill>
                  <a:srgbClr val="1B5C9E"/>
                </a:solidFill>
                <a:latin typeface="Microsoft YaHei"/>
              </a:rPr>
              <a:t>【政策依据】</a:t>
            </a:r>
          </a:p>
          <a:p>
            <a:pPr algn="l">
              <a:lnSpc>
                <a:spcPts val="1820"/>
              </a:lnSpc>
              <a:spcBef>
                <a:spcPts val="200"/>
              </a:spcBef>
              <a:spcAft>
                <a:spcPts val="200"/>
              </a:spcAft>
            </a:pPr>
            <a:r>
              <a:rPr sz="1400" b="0">
                <a:solidFill>
                  <a:srgbClr val="000000"/>
                </a:solidFill>
                <a:latin typeface="Microsoft YaHei"/>
              </a:rPr>
              <a:t>根据《财政部 国家税务总局关于国有土地使用权出让等有关契税问题的通知》（财税〔2004〕134 号）第二条的规定：：先以划拨方式取得土地使用权，后经批准改为出让方式取得该土地使用权的，应依法缴纳契税，其计税依据为应补缴的土地出让金和其他出让费用。</a:t>
            </a:r>
          </a:p>
          <a:p>
            <a:pPr algn="l">
              <a:lnSpc>
                <a:spcPts val="1820"/>
              </a:lnSpc>
              <a:spcBef>
                <a:spcPts val="200"/>
              </a:spcBef>
              <a:spcAft>
                <a:spcPts val="200"/>
              </a:spcAft>
            </a:pPr>
            <a:r>
              <a:rPr sz="1400" b="0">
                <a:solidFill>
                  <a:srgbClr val="000000"/>
                </a:solidFill>
                <a:latin typeface="Microsoft YaHei"/>
              </a:rPr>
              <a:t>《财政部 税务总局关于贯彻实施契税法若干事项执行口径的公告》（财政部 税务总局公告 2021 年第23 号）第二条二、关于若干计税依据的具体情形（一）以划拨方式取得的土地使用权，经批准改为出让方式重新取得该土地使用权的，应由该土地使用权人以补缴的土地出让价款为计税依据缴纳契税。</a:t>
            </a:r>
          </a:p>
          <a:p>
            <a:pPr algn="l">
              <a:lnSpc>
                <a:spcPts val="1820"/>
              </a:lnSpc>
              <a:spcBef>
                <a:spcPts val="200"/>
              </a:spcBef>
              <a:spcAft>
                <a:spcPts val="200"/>
              </a:spcAft>
            </a:pPr>
            <a:r>
              <a:rPr sz="1400" b="0">
                <a:solidFill>
                  <a:srgbClr val="000000"/>
                </a:solidFill>
                <a:latin typeface="Microsoft YaHei"/>
              </a:rPr>
              <a:t>（二）先以划拨方式取得土地使用权，后经批准转让房地产，划拨土地性质改为出让的，承受方应分别以补缴的土地出让价款和房地产权属转移合同确定的成交价格为计税依据缴纳契税。（三）先以划拨方式取得土地使用权，后经批准转让房地产，划拨土地性质未发生改变的，承受方应以房地产权属转移合同确定的成交价格为计税依据缴纳契税。</a:t>
            </a:r>
          </a:p>
          <a:p>
            <a:pPr algn="l">
              <a:lnSpc>
                <a:spcPts val="2080"/>
              </a:lnSpc>
              <a:spcBef>
                <a:spcPts val="800"/>
              </a:spcBef>
              <a:spcAft>
                <a:spcPts val="300"/>
              </a:spcAft>
            </a:pPr>
            <a:r>
              <a:rPr sz="1600" b="1">
                <a:solidFill>
                  <a:srgbClr val="CC3333"/>
                </a:solidFill>
                <a:latin typeface="Microsoft YaHei"/>
              </a:rPr>
              <a:t>【预计风险】</a:t>
            </a:r>
          </a:p>
          <a:p>
            <a:pPr algn="l">
              <a:lnSpc>
                <a:spcPts val="1820"/>
              </a:lnSpc>
              <a:spcBef>
                <a:spcPts val="200"/>
              </a:spcBef>
              <a:spcAft>
                <a:spcPts val="200"/>
              </a:spcAft>
            </a:pPr>
            <a:r>
              <a:rPr sz="1400" b="0">
                <a:solidFill>
                  <a:srgbClr val="000000"/>
                </a:solidFill>
                <a:latin typeface="Microsoft YaHei"/>
              </a:rPr>
              <a:t>房地产开发企业在先以划拨方式取得土地使用权，后改为出让方式补缴出让金取得该土地使用权时，计算契税时应包含后续的土地出让金和其他出让费用。未包括的，存在少缴契税、罚款及滞纳金的风险。</a:t>
            </a:r>
          </a:p>
          <a:p>
            <a:pPr algn="l">
              <a:lnSpc>
                <a:spcPts val="2080"/>
              </a:lnSpc>
              <a:spcBef>
                <a:spcPts val="800"/>
              </a:spcBef>
              <a:spcAft>
                <a:spcPts val="300"/>
              </a:spcAft>
            </a:pPr>
            <a:r>
              <a:rPr sz="1600" b="1">
                <a:solidFill>
                  <a:srgbClr val="008040"/>
                </a:solidFill>
                <a:latin typeface="Microsoft YaHei"/>
              </a:rPr>
              <a:t>【解决方法】</a:t>
            </a:r>
          </a:p>
          <a:p>
            <a:pPr algn="l">
              <a:lnSpc>
                <a:spcPts val="1820"/>
              </a:lnSpc>
              <a:spcBef>
                <a:spcPts val="200"/>
              </a:spcBef>
              <a:spcAft>
                <a:spcPts val="200"/>
              </a:spcAft>
            </a:pPr>
            <a:r>
              <a:rPr sz="1400" b="0">
                <a:solidFill>
                  <a:srgbClr val="000000"/>
                </a:solidFill>
                <a:latin typeface="Microsoft YaHei"/>
              </a:rPr>
              <a:t>房地产开发企业出现了上述情况，核查计算契税时是否包含了后续的土地出让金和其他出让费用。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契税风险指引  |  风险点 4</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2080"/>
              </a:lnSpc>
              <a:spcBef>
                <a:spcPts val="0"/>
              </a:spcBef>
              <a:spcAft>
                <a:spcPts val="600"/>
              </a:spcAft>
            </a:pPr>
            <a:r>
              <a:rPr sz="1600" b="1">
                <a:solidFill>
                  <a:srgbClr val="1B3A5C"/>
                </a:solidFill>
                <a:latin typeface="Microsoft YaHei"/>
              </a:rPr>
              <a:t>城市基础设施配套费未按规定缴纳契税的风险</a:t>
            </a:r>
          </a:p>
          <a:p>
            <a:pPr algn="l">
              <a:lnSpc>
                <a:spcPts val="2080"/>
              </a:lnSpc>
              <a:spcBef>
                <a:spcPts val="800"/>
              </a:spcBef>
              <a:spcAft>
                <a:spcPts val="300"/>
              </a:spcAft>
            </a:pPr>
            <a:r>
              <a:rPr sz="1600" b="1">
                <a:solidFill>
                  <a:srgbClr val="333333"/>
                </a:solidFill>
                <a:latin typeface="Microsoft YaHei"/>
              </a:rPr>
              <a:t>【风险描述】</a:t>
            </a:r>
          </a:p>
          <a:p>
            <a:pPr algn="l">
              <a:lnSpc>
                <a:spcPts val="1820"/>
              </a:lnSpc>
              <a:spcBef>
                <a:spcPts val="200"/>
              </a:spcBef>
              <a:spcAft>
                <a:spcPts val="200"/>
              </a:spcAft>
            </a:pPr>
            <a:r>
              <a:rPr sz="1400" b="0">
                <a:solidFill>
                  <a:srgbClr val="000000"/>
                </a:solidFill>
                <a:latin typeface="Microsoft YaHei"/>
              </a:rPr>
              <a:t>房地产企业取得土地使用权后，按规定缴纳相应的市政建设配套费，才能办理《建设施工许可证》，开始房地产项目开工建设。企业缴纳市政建设配套费后，未按规定申报缴纳相应的契税，存在少缴契税的风险。</a:t>
            </a:r>
          </a:p>
          <a:p>
            <a:pPr algn="l">
              <a:lnSpc>
                <a:spcPts val="2080"/>
              </a:lnSpc>
              <a:spcBef>
                <a:spcPts val="800"/>
              </a:spcBef>
              <a:spcAft>
                <a:spcPts val="300"/>
              </a:spcAft>
            </a:pPr>
            <a:r>
              <a:rPr sz="1600" b="1">
                <a:solidFill>
                  <a:srgbClr val="1B5C9E"/>
                </a:solidFill>
                <a:latin typeface="Microsoft YaHei"/>
              </a:rPr>
              <a:t>【政策依据】</a:t>
            </a:r>
          </a:p>
          <a:p>
            <a:pPr algn="l">
              <a:lnSpc>
                <a:spcPts val="1820"/>
              </a:lnSpc>
              <a:spcBef>
                <a:spcPts val="200"/>
              </a:spcBef>
              <a:spcAft>
                <a:spcPts val="200"/>
              </a:spcAft>
            </a:pPr>
            <a:r>
              <a:rPr sz="1400" b="0">
                <a:solidFill>
                  <a:srgbClr val="000000"/>
                </a:solidFill>
                <a:latin typeface="Microsoft YaHei"/>
              </a:rPr>
              <a:t>根据《财政部 税务总局关于贯彻实施契税法若干事项执行口径的公告》（财政部 税务总局公告 2021 年第23 号）的规定：二、关于若干计税依据的具体情形（五）土地使用权出让的，计税依据包括土地出让金、土地补偿费、安置补助费、地上附着物和青苗补偿费、征收补偿费、城市基础设施配套费、实物配建房屋等应交付的货币以及实物、其他经济利益对应的价款。</a:t>
            </a:r>
          </a:p>
          <a:p>
            <a:pPr algn="l">
              <a:lnSpc>
                <a:spcPts val="2080"/>
              </a:lnSpc>
              <a:spcBef>
                <a:spcPts val="800"/>
              </a:spcBef>
              <a:spcAft>
                <a:spcPts val="300"/>
              </a:spcAft>
            </a:pPr>
            <a:r>
              <a:rPr sz="1600" b="1">
                <a:solidFill>
                  <a:srgbClr val="CC3333"/>
                </a:solidFill>
                <a:latin typeface="Microsoft YaHei"/>
              </a:rPr>
              <a:t>【预计风险】</a:t>
            </a:r>
          </a:p>
          <a:p>
            <a:pPr algn="l">
              <a:lnSpc>
                <a:spcPts val="1820"/>
              </a:lnSpc>
              <a:spcBef>
                <a:spcPts val="200"/>
              </a:spcBef>
              <a:spcAft>
                <a:spcPts val="200"/>
              </a:spcAft>
            </a:pPr>
            <a:r>
              <a:rPr sz="1400" b="0">
                <a:solidFill>
                  <a:srgbClr val="000000"/>
                </a:solidFill>
                <a:latin typeface="Microsoft YaHei"/>
              </a:rPr>
              <a:t>房地产企业取得土地使用权后，按规定缴纳相应的市政建设配套费后，未按规定申报缴纳相应的契税，存在少缴契税的风险。</a:t>
            </a:r>
          </a:p>
          <a:p>
            <a:pPr algn="l">
              <a:lnSpc>
                <a:spcPts val="2080"/>
              </a:lnSpc>
              <a:spcBef>
                <a:spcPts val="800"/>
              </a:spcBef>
              <a:spcAft>
                <a:spcPts val="300"/>
              </a:spcAft>
            </a:pPr>
            <a:r>
              <a:rPr sz="1600" b="1">
                <a:solidFill>
                  <a:srgbClr val="008040"/>
                </a:solidFill>
                <a:latin typeface="Microsoft YaHei"/>
              </a:rPr>
              <a:t>【解决方法】</a:t>
            </a:r>
          </a:p>
          <a:p>
            <a:pPr algn="l">
              <a:lnSpc>
                <a:spcPts val="1820"/>
              </a:lnSpc>
              <a:spcBef>
                <a:spcPts val="200"/>
              </a:spcBef>
              <a:spcAft>
                <a:spcPts val="200"/>
              </a:spcAft>
            </a:pPr>
            <a:r>
              <a:rPr sz="1400" b="0">
                <a:solidFill>
                  <a:srgbClr val="000000"/>
                </a:solidFill>
                <a:latin typeface="Microsoft YaHei"/>
              </a:rPr>
              <a:t>企业核查城市基础设施配套费是否纳入契税计税依据。</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契税风险指引  |  风险点 5</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2080"/>
              </a:lnSpc>
              <a:spcBef>
                <a:spcPts val="0"/>
              </a:spcBef>
              <a:spcAft>
                <a:spcPts val="600"/>
              </a:spcAft>
            </a:pPr>
            <a:r>
              <a:rPr sz="1600" b="1">
                <a:solidFill>
                  <a:srgbClr val="1B3A5C"/>
                </a:solidFill>
                <a:latin typeface="Microsoft YaHei"/>
              </a:rPr>
              <a:t>土地补偿费、安置补助费、地上附着物和青苗补偿费、拆迁补偿费等未计入契税计税依据</a:t>
            </a:r>
          </a:p>
          <a:p>
            <a:pPr algn="l">
              <a:lnSpc>
                <a:spcPts val="2080"/>
              </a:lnSpc>
              <a:spcBef>
                <a:spcPts val="800"/>
              </a:spcBef>
              <a:spcAft>
                <a:spcPts val="300"/>
              </a:spcAft>
            </a:pPr>
            <a:r>
              <a:rPr sz="1600" b="1">
                <a:solidFill>
                  <a:srgbClr val="333333"/>
                </a:solidFill>
                <a:latin typeface="Microsoft YaHei"/>
              </a:rPr>
              <a:t>【风险描述】</a:t>
            </a:r>
          </a:p>
          <a:p>
            <a:pPr algn="l">
              <a:lnSpc>
                <a:spcPts val="1820"/>
              </a:lnSpc>
              <a:spcBef>
                <a:spcPts val="200"/>
              </a:spcBef>
              <a:spcAft>
                <a:spcPts val="200"/>
              </a:spcAft>
            </a:pPr>
            <a:r>
              <a:rPr sz="1400" b="0">
                <a:solidFill>
                  <a:srgbClr val="000000"/>
                </a:solidFill>
                <a:latin typeface="Microsoft YaHei"/>
              </a:rPr>
              <a:t>存在上述价款未申报缴纳契税的风险。</a:t>
            </a:r>
          </a:p>
          <a:p>
            <a:pPr algn="l">
              <a:lnSpc>
                <a:spcPts val="2080"/>
              </a:lnSpc>
              <a:spcBef>
                <a:spcPts val="800"/>
              </a:spcBef>
              <a:spcAft>
                <a:spcPts val="300"/>
              </a:spcAft>
            </a:pPr>
            <a:r>
              <a:rPr sz="1600" b="1">
                <a:solidFill>
                  <a:srgbClr val="1B5C9E"/>
                </a:solidFill>
                <a:latin typeface="Microsoft YaHei"/>
              </a:rPr>
              <a:t>【政策依据】</a:t>
            </a:r>
          </a:p>
          <a:p>
            <a:pPr algn="l">
              <a:lnSpc>
                <a:spcPts val="1820"/>
              </a:lnSpc>
              <a:spcBef>
                <a:spcPts val="200"/>
              </a:spcBef>
              <a:spcAft>
                <a:spcPts val="200"/>
              </a:spcAft>
            </a:pPr>
            <a:r>
              <a:rPr sz="1400" b="0">
                <a:solidFill>
                  <a:srgbClr val="000000"/>
                </a:solidFill>
                <a:latin typeface="Microsoft YaHei"/>
              </a:rPr>
              <a:t>根据《财政部税务总局关于贯彻实施契税法若干事项执行口径的公告》（财政部税务总局公告 2021 年第 23 号）第二条第五项的规定：二、关于若干计税依据的具体情形（五）土地使用权出让的，计税依据包括土地出让金、土地补偿费、安置补助费、地上附着物和青苗补偿费、征收补偿费、城市基础设施配套费、实物配建房屋等应交付的货币以及实物、其他经济利益对应的价款。</a:t>
            </a:r>
          </a:p>
          <a:p>
            <a:pPr algn="l">
              <a:lnSpc>
                <a:spcPts val="2080"/>
              </a:lnSpc>
              <a:spcBef>
                <a:spcPts val="800"/>
              </a:spcBef>
              <a:spcAft>
                <a:spcPts val="300"/>
              </a:spcAft>
            </a:pPr>
            <a:r>
              <a:rPr sz="1600" b="1">
                <a:solidFill>
                  <a:srgbClr val="CC3333"/>
                </a:solidFill>
                <a:latin typeface="Microsoft YaHei"/>
              </a:rPr>
              <a:t>【预计风险】</a:t>
            </a:r>
          </a:p>
          <a:p>
            <a:pPr algn="l">
              <a:lnSpc>
                <a:spcPts val="1820"/>
              </a:lnSpc>
              <a:spcBef>
                <a:spcPts val="200"/>
              </a:spcBef>
              <a:spcAft>
                <a:spcPts val="200"/>
              </a:spcAft>
            </a:pPr>
            <a:r>
              <a:rPr sz="1400" b="0">
                <a:solidFill>
                  <a:srgbClr val="000000"/>
                </a:solidFill>
                <a:latin typeface="Microsoft YaHei"/>
              </a:rPr>
              <a:t>土地使用权出让的，计税依据包括土地出让金、土地补偿费、安置补助费、地上附着物和青苗补偿费、征收补偿费、城市基础设施配套费、实物配建房屋等应交付的货币以及实物、其他经济利益对应的价款。</a:t>
            </a:r>
          </a:p>
          <a:p>
            <a:pPr algn="l">
              <a:lnSpc>
                <a:spcPts val="2080"/>
              </a:lnSpc>
              <a:spcBef>
                <a:spcPts val="800"/>
              </a:spcBef>
              <a:spcAft>
                <a:spcPts val="300"/>
              </a:spcAft>
            </a:pPr>
            <a:r>
              <a:rPr sz="1600" b="1">
                <a:solidFill>
                  <a:srgbClr val="008040"/>
                </a:solidFill>
                <a:latin typeface="Microsoft YaHei"/>
              </a:rPr>
              <a:t>【解决方法】</a:t>
            </a:r>
          </a:p>
          <a:p>
            <a:pPr algn="l">
              <a:lnSpc>
                <a:spcPts val="1820"/>
              </a:lnSpc>
              <a:spcBef>
                <a:spcPts val="200"/>
              </a:spcBef>
              <a:spcAft>
                <a:spcPts val="200"/>
              </a:spcAft>
            </a:pPr>
            <a:r>
              <a:rPr sz="1400" b="0">
                <a:solidFill>
                  <a:srgbClr val="000000"/>
                </a:solidFill>
                <a:latin typeface="Microsoft YaHei"/>
              </a:rPr>
              <a:t>企业核查土地补偿费、安置补助费、地上附着物和青苗补偿费、拆迁补偿费等是否纳入契税计税依据。</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契税风险指引  |  风险点 6</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2080"/>
              </a:lnSpc>
              <a:spcBef>
                <a:spcPts val="0"/>
              </a:spcBef>
              <a:spcAft>
                <a:spcPts val="600"/>
              </a:spcAft>
            </a:pPr>
            <a:r>
              <a:rPr sz="1600" b="1">
                <a:solidFill>
                  <a:srgbClr val="1B3A5C"/>
                </a:solidFill>
                <a:latin typeface="Microsoft YaHei"/>
              </a:rPr>
              <a:t>因改变土地用途而补缴的土地出让价款及其他费用未按规定申报缴纳契税</a:t>
            </a:r>
          </a:p>
          <a:p>
            <a:pPr algn="l">
              <a:lnSpc>
                <a:spcPts val="2080"/>
              </a:lnSpc>
              <a:spcBef>
                <a:spcPts val="800"/>
              </a:spcBef>
              <a:spcAft>
                <a:spcPts val="300"/>
              </a:spcAft>
            </a:pPr>
            <a:r>
              <a:rPr sz="1600" b="1">
                <a:solidFill>
                  <a:srgbClr val="333333"/>
                </a:solidFill>
                <a:latin typeface="Microsoft YaHei"/>
              </a:rPr>
              <a:t>【风险描述】</a:t>
            </a:r>
          </a:p>
          <a:p>
            <a:pPr algn="l">
              <a:lnSpc>
                <a:spcPts val="1820"/>
              </a:lnSpc>
              <a:spcBef>
                <a:spcPts val="200"/>
              </a:spcBef>
              <a:spcAft>
                <a:spcPts val="200"/>
              </a:spcAft>
            </a:pPr>
            <a:r>
              <a:rPr sz="1400" b="0">
                <a:solidFill>
                  <a:srgbClr val="000000"/>
                </a:solidFill>
                <a:latin typeface="Microsoft YaHei"/>
              </a:rPr>
              <a:t>因改变土地用途补缴的土地出让价款及其他费用未按规定申报纳税，存在少缴契税的风险。</a:t>
            </a:r>
          </a:p>
          <a:p>
            <a:pPr algn="l">
              <a:lnSpc>
                <a:spcPts val="2080"/>
              </a:lnSpc>
              <a:spcBef>
                <a:spcPts val="800"/>
              </a:spcBef>
              <a:spcAft>
                <a:spcPts val="300"/>
              </a:spcAft>
            </a:pPr>
            <a:r>
              <a:rPr sz="1600" b="1">
                <a:solidFill>
                  <a:srgbClr val="1B5C9E"/>
                </a:solidFill>
                <a:latin typeface="Microsoft YaHei"/>
              </a:rPr>
              <a:t>【政策依据】</a:t>
            </a:r>
          </a:p>
          <a:p>
            <a:pPr algn="l">
              <a:lnSpc>
                <a:spcPts val="1820"/>
              </a:lnSpc>
              <a:spcBef>
                <a:spcPts val="200"/>
              </a:spcBef>
              <a:spcAft>
                <a:spcPts val="200"/>
              </a:spcAft>
            </a:pPr>
            <a:r>
              <a:rPr sz="1400" b="0">
                <a:solidFill>
                  <a:srgbClr val="000000"/>
                </a:solidFill>
                <a:latin typeface="Microsoft YaHei"/>
              </a:rPr>
              <a:t>根据《财政部税务总局关于贯彻实施契税法若干事项执行口径的公告》（财政部税务总局公告 2021 年第23 号）第二条的规定：二、关于若干计税依据的具体情形（一）以划拨方式取得的土地使用权，经批准改为出让方式重新取得该土地使用权的，应由该土地使用权人以补缴的土地出让价款为计税依据缴纳契税。</a:t>
            </a:r>
          </a:p>
          <a:p>
            <a:pPr algn="l">
              <a:lnSpc>
                <a:spcPts val="1820"/>
              </a:lnSpc>
              <a:spcBef>
                <a:spcPts val="200"/>
              </a:spcBef>
              <a:spcAft>
                <a:spcPts val="200"/>
              </a:spcAft>
            </a:pPr>
            <a:r>
              <a:rPr sz="1400" b="0">
                <a:solidFill>
                  <a:srgbClr val="000000"/>
                </a:solidFill>
                <a:latin typeface="Microsoft YaHei"/>
              </a:rPr>
              <a:t>（二）先以划拨方式取得土地使用权，后经批准转让房地产，划拨土地性质改为出让的，承受方应分别以补缴的土地出让价款和房地产权属转移合同确定的成交价格为计税依据缴纳契税。（三）先以划拨方式取得土地使用权，后经批准转让房地产，划拨土地性质未发生改变的，承受方应以房地产权属转移合同确定的成交价格为计税依据缴纳契税。</a:t>
            </a:r>
          </a:p>
          <a:p>
            <a:pPr algn="l">
              <a:lnSpc>
                <a:spcPts val="1820"/>
              </a:lnSpc>
              <a:spcBef>
                <a:spcPts val="200"/>
              </a:spcBef>
              <a:spcAft>
                <a:spcPts val="200"/>
              </a:spcAft>
            </a:pPr>
            <a:r>
              <a:rPr sz="1400" b="0">
                <a:solidFill>
                  <a:srgbClr val="000000"/>
                </a:solidFill>
                <a:latin typeface="Microsoft YaHei"/>
              </a:rPr>
              <a:t>（四）土地使用权及所附建筑物、构筑物等（包括在建的房屋、其他建筑物、构筑物和其他附着物）转让的，计税依据为承受方应交付的总价款。</a:t>
            </a:r>
          </a:p>
          <a:p>
            <a:pPr algn="l">
              <a:lnSpc>
                <a:spcPts val="1820"/>
              </a:lnSpc>
              <a:spcBef>
                <a:spcPts val="200"/>
              </a:spcBef>
              <a:spcAft>
                <a:spcPts val="200"/>
              </a:spcAft>
            </a:pPr>
            <a:r>
              <a:rPr sz="1400" b="0">
                <a:solidFill>
                  <a:srgbClr val="000000"/>
                </a:solidFill>
                <a:latin typeface="Microsoft YaHei"/>
              </a:rPr>
              <a:t>（五）土地使用权出让的，计税依据包括土地出让金、土地补偿费、安置补助费、地上附着物和青苗补偿费、征收补偿费、城市基础设施配套费、实物配建房屋等应交付的货币以及实物、其他经济利益对应的价款。</a:t>
            </a:r>
          </a:p>
          <a:p>
            <a:pPr algn="l">
              <a:lnSpc>
                <a:spcPts val="1820"/>
              </a:lnSpc>
              <a:spcBef>
                <a:spcPts val="200"/>
              </a:spcBef>
              <a:spcAft>
                <a:spcPts val="200"/>
              </a:spcAft>
            </a:pPr>
            <a:r>
              <a:rPr sz="1400" b="0">
                <a:solidFill>
                  <a:srgbClr val="000000"/>
                </a:solidFill>
                <a:latin typeface="Microsoft YaHei"/>
              </a:rPr>
              <a:t>（六）房屋附属设施（包括停车位、机动车库、非机动车库、顶层阁楼、储藏室及其他房屋附属设施）与房屋为同一不动产单元的，计税依据为承受方应交付的总价款，并适用与房屋相同的税率；房屋附属设施与房屋为不同不动产单元的，计税依据为转移合同确定的成交价格，并按当地确定的适用税率计税。（七）承受已装修房屋的，应将包括装修费用在内的费用计入承受方应交付的总价款。</a:t>
            </a:r>
          </a:p>
          <a:p>
            <a:pPr algn="l">
              <a:lnSpc>
                <a:spcPts val="1820"/>
              </a:lnSpc>
              <a:spcBef>
                <a:spcPts val="200"/>
              </a:spcBef>
              <a:spcAft>
                <a:spcPts val="200"/>
              </a:spcAft>
            </a:pPr>
            <a:r>
              <a:rPr sz="1400" b="0">
                <a:solidFill>
                  <a:srgbClr val="000000"/>
                </a:solidFill>
                <a:latin typeface="Microsoft YaHei"/>
              </a:rPr>
              <a:t>（八）土地使用权互换、房屋互换，互换价格相等的，互换双方计税依据为零；互换价格不相等的，以其差额为计税依据，由支付差额的一方缴纳契税。</a:t>
            </a:r>
          </a:p>
          <a:p>
            <a:pPr algn="l">
              <a:lnSpc>
                <a:spcPts val="1820"/>
              </a:lnSpc>
              <a:spcBef>
                <a:spcPts val="200"/>
              </a:spcBef>
              <a:spcAft>
                <a:spcPts val="200"/>
              </a:spcAft>
            </a:pPr>
            <a:r>
              <a:rPr sz="1400" b="0">
                <a:solidFill>
                  <a:srgbClr val="000000"/>
                </a:solidFill>
                <a:latin typeface="Microsoft YaHei"/>
              </a:rPr>
              <a:t>（九）契税的计税依据不包括增值税。</a:t>
            </a:r>
          </a:p>
          <a:p>
            <a:pPr algn="l">
              <a:lnSpc>
                <a:spcPts val="2080"/>
              </a:lnSpc>
              <a:spcBef>
                <a:spcPts val="800"/>
              </a:spcBef>
              <a:spcAft>
                <a:spcPts val="300"/>
              </a:spcAft>
            </a:pPr>
            <a:r>
              <a:rPr sz="1600" b="1">
                <a:solidFill>
                  <a:srgbClr val="CC3333"/>
                </a:solidFill>
                <a:latin typeface="Microsoft YaHei"/>
              </a:rPr>
              <a:t>【预计风险】</a:t>
            </a:r>
          </a:p>
          <a:p>
            <a:pPr algn="l">
              <a:lnSpc>
                <a:spcPts val="1820"/>
              </a:lnSpc>
              <a:spcBef>
                <a:spcPts val="200"/>
              </a:spcBef>
              <a:spcAft>
                <a:spcPts val="200"/>
              </a:spcAft>
            </a:pPr>
            <a:r>
              <a:rPr sz="1400" b="0">
                <a:solidFill>
                  <a:srgbClr val="000000"/>
                </a:solidFill>
                <a:latin typeface="Microsoft YaHei"/>
              </a:rPr>
              <a:t>取得土地用途为“工业用地”或“商业用地”等非住宅用地进行房地产开发，因改变土地用途补缴的土地出让价款及其他费用未按规定申报纳税，存在少缴契税的风险。</a:t>
            </a:r>
          </a:p>
          <a:p>
            <a:pPr algn="l">
              <a:lnSpc>
                <a:spcPts val="2080"/>
              </a:lnSpc>
              <a:spcBef>
                <a:spcPts val="800"/>
              </a:spcBef>
              <a:spcAft>
                <a:spcPts val="300"/>
              </a:spcAft>
            </a:pPr>
            <a:r>
              <a:rPr sz="1600" b="1">
                <a:solidFill>
                  <a:srgbClr val="008040"/>
                </a:solidFill>
                <a:latin typeface="Microsoft YaHei"/>
              </a:rPr>
              <a:t>【解决方法】</a:t>
            </a:r>
          </a:p>
          <a:p>
            <a:pPr algn="l">
              <a:lnSpc>
                <a:spcPts val="1820"/>
              </a:lnSpc>
              <a:spcBef>
                <a:spcPts val="200"/>
              </a:spcBef>
              <a:spcAft>
                <a:spcPts val="200"/>
              </a:spcAft>
            </a:pPr>
            <a:r>
              <a:rPr sz="1400" b="0">
                <a:solidFill>
                  <a:srgbClr val="000000"/>
                </a:solidFill>
                <a:latin typeface="Microsoft YaHei"/>
              </a:rPr>
              <a:t>企业对于存在土地用途变更、取得方式变更的情况，查看土地权属转移相关合同，确认涉及的合同金额与契税计税依据是否一致，是否存在少缴契税的风险。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契税风险指引  |  风险点 7</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2080"/>
              </a:lnSpc>
              <a:spcBef>
                <a:spcPts val="0"/>
              </a:spcBef>
              <a:spcAft>
                <a:spcPts val="600"/>
              </a:spcAft>
            </a:pPr>
            <a:r>
              <a:rPr sz="1600" b="1">
                <a:solidFill>
                  <a:srgbClr val="1B3A5C"/>
                </a:solidFill>
                <a:latin typeface="Microsoft YaHei"/>
              </a:rPr>
              <a:t>售后回租业务，承受承租方房屋、土地权属未按规定缴纳契税</a:t>
            </a:r>
          </a:p>
          <a:p>
            <a:pPr algn="l">
              <a:lnSpc>
                <a:spcPts val="2080"/>
              </a:lnSpc>
              <a:spcBef>
                <a:spcPts val="800"/>
              </a:spcBef>
              <a:spcAft>
                <a:spcPts val="300"/>
              </a:spcAft>
            </a:pPr>
            <a:r>
              <a:rPr sz="1600" b="1">
                <a:solidFill>
                  <a:srgbClr val="333333"/>
                </a:solidFill>
                <a:latin typeface="Microsoft YaHei"/>
              </a:rPr>
              <a:t>【风险描述】</a:t>
            </a:r>
          </a:p>
          <a:p>
            <a:pPr algn="l">
              <a:lnSpc>
                <a:spcPts val="1820"/>
              </a:lnSpc>
              <a:spcBef>
                <a:spcPts val="200"/>
              </a:spcBef>
              <a:spcAft>
                <a:spcPts val="200"/>
              </a:spcAft>
            </a:pPr>
            <a:r>
              <a:rPr sz="1400" b="0">
                <a:solidFill>
                  <a:srgbClr val="000000"/>
                </a:solidFill>
                <a:latin typeface="Microsoft YaHei"/>
              </a:rPr>
              <a:t>对售后回租合同期满，承租人回购原房屋、土地权属的，免征契税。存在开展售后回租业务，承受承租方房屋、土地权属的，未按规定申报缴纳契税的风险。</a:t>
            </a:r>
          </a:p>
          <a:p>
            <a:pPr algn="l">
              <a:lnSpc>
                <a:spcPts val="2080"/>
              </a:lnSpc>
              <a:spcBef>
                <a:spcPts val="800"/>
              </a:spcBef>
              <a:spcAft>
                <a:spcPts val="300"/>
              </a:spcAft>
            </a:pPr>
            <a:r>
              <a:rPr sz="1600" b="1">
                <a:solidFill>
                  <a:srgbClr val="1B5C9E"/>
                </a:solidFill>
                <a:latin typeface="Microsoft YaHei"/>
              </a:rPr>
              <a:t>【政策依据】</a:t>
            </a:r>
          </a:p>
          <a:p>
            <a:pPr algn="l">
              <a:lnSpc>
                <a:spcPts val="1820"/>
              </a:lnSpc>
              <a:spcBef>
                <a:spcPts val="200"/>
              </a:spcBef>
              <a:spcAft>
                <a:spcPts val="200"/>
              </a:spcAft>
            </a:pPr>
            <a:r>
              <a:rPr sz="1400" b="0">
                <a:solidFill>
                  <a:srgbClr val="000000"/>
                </a:solidFill>
                <a:latin typeface="Microsoft YaHei"/>
              </a:rPr>
              <a:t>根据《财政部国家税务总局关于企业以售后回租方式进行融资等有关契税政策的通知》（财税〔2012〕82 号）第一条的规定：一、对金融租赁公司开展售后回租业务，承受承租人房屋、土地权属的，照章征税。对售后回租合同期满，承租人回购原房屋、土地权属的，免征契税。</a:t>
            </a:r>
          </a:p>
          <a:p>
            <a:pPr algn="l">
              <a:lnSpc>
                <a:spcPts val="2080"/>
              </a:lnSpc>
              <a:spcBef>
                <a:spcPts val="800"/>
              </a:spcBef>
              <a:spcAft>
                <a:spcPts val="300"/>
              </a:spcAft>
            </a:pPr>
            <a:r>
              <a:rPr sz="1600" b="1">
                <a:solidFill>
                  <a:srgbClr val="CC3333"/>
                </a:solidFill>
                <a:latin typeface="Microsoft YaHei"/>
              </a:rPr>
              <a:t>【预计风险】</a:t>
            </a:r>
          </a:p>
          <a:p>
            <a:pPr algn="l">
              <a:lnSpc>
                <a:spcPts val="1820"/>
              </a:lnSpc>
              <a:spcBef>
                <a:spcPts val="200"/>
              </a:spcBef>
              <a:spcAft>
                <a:spcPts val="200"/>
              </a:spcAft>
            </a:pPr>
            <a:r>
              <a:rPr sz="1400" b="0">
                <a:solidFill>
                  <a:srgbClr val="000000"/>
                </a:solidFill>
                <a:latin typeface="Microsoft YaHei"/>
              </a:rPr>
              <a:t>对金融租赁公司开展售后回租业务，承受承租人房屋、土地权属的，照章征收契税。</a:t>
            </a:r>
          </a:p>
          <a:p>
            <a:pPr algn="l">
              <a:lnSpc>
                <a:spcPts val="2080"/>
              </a:lnSpc>
              <a:spcBef>
                <a:spcPts val="800"/>
              </a:spcBef>
              <a:spcAft>
                <a:spcPts val="300"/>
              </a:spcAft>
            </a:pPr>
            <a:r>
              <a:rPr sz="1600" b="1">
                <a:solidFill>
                  <a:srgbClr val="008040"/>
                </a:solidFill>
                <a:latin typeface="Microsoft YaHei"/>
              </a:rPr>
              <a:t>【解决方法】</a:t>
            </a:r>
          </a:p>
          <a:p>
            <a:pPr algn="l">
              <a:lnSpc>
                <a:spcPts val="1820"/>
              </a:lnSpc>
              <a:spcBef>
                <a:spcPts val="200"/>
              </a:spcBef>
              <a:spcAft>
                <a:spcPts val="200"/>
              </a:spcAft>
            </a:pPr>
            <a:r>
              <a:rPr sz="1400" b="0">
                <a:solidFill>
                  <a:srgbClr val="000000"/>
                </a:solidFill>
                <a:latin typeface="Microsoft YaHei"/>
              </a:rPr>
              <a:t>对金融租赁公司开展售后回租业务，承受承租人房屋、土地权属的核查是否缴纳契税。</a:t>
            </a:r>
          </a:p>
          <a:p>
            <a:pPr algn="l">
              <a:lnSpc>
                <a:spcPts val="1820"/>
              </a:lnSpc>
              <a:spcBef>
                <a:spcPts val="200"/>
              </a:spcBef>
              <a:spcAft>
                <a:spcPts val="200"/>
              </a:spcAft>
            </a:pPr>
            <a:r>
              <a:rPr sz="1400" b="0">
                <a:solidFill>
                  <a:srgbClr val="000000"/>
                </a:solidFill>
                <a:latin typeface="Microsoft YaHei"/>
              </a:rPr>
              <a:t>316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