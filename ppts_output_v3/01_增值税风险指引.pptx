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购进货物用于集体福利和个人消费未做进项税额转出</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根据《中华人民共和国增值税法》以及《中华人民共和国增值税法实施条例》的规定：</a:t>
            </a:r>
          </a:p>
          <a:p>
            <a:pPr algn="l">
              <a:lnSpc>
                <a:spcPts val="1820"/>
              </a:lnSpc>
              <a:spcBef>
                <a:spcPts val="200"/>
              </a:spcBef>
              <a:spcAft>
                <a:spcPts val="20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l">
              <a:lnSpc>
                <a:spcPts val="1820"/>
              </a:lnSpc>
              <a:spcBef>
                <a:spcPts val="200"/>
              </a:spcBef>
              <a:spcAft>
                <a:spcPts val="200"/>
              </a:spcAft>
            </a:pPr>
            <a:r>
              <a:rPr sz="1400" b="0">
                <a:solidFill>
                  <a:srgbClr val="000000"/>
                </a:solidFill>
                <a:latin typeface="Microsoft YaHei"/>
              </a:rPr>
              <a:t>（五）购进并直接用于消费的餐饮服务、居民日常服务和娱乐服务对应的进项税额；</a:t>
            </a:r>
          </a:p>
          <a:p>
            <a:pPr algn="l">
              <a:lnSpc>
                <a:spcPts val="1820"/>
              </a:lnSpc>
              <a:spcBef>
                <a:spcPts val="200"/>
              </a:spcBef>
              <a:spcAft>
                <a:spcPts val="200"/>
              </a:spcAft>
            </a:pPr>
            <a:r>
              <a:rPr sz="1400" b="0">
                <a:solidFill>
                  <a:srgbClr val="000000"/>
                </a:solidFill>
                <a:latin typeface="Microsoft YaHei"/>
              </a:rPr>
              <a:t>（六）国务院规定的其他进项税额。</a:t>
            </a:r>
          </a:p>
          <a:p>
            <a:pPr algn="l">
              <a:lnSpc>
                <a:spcPts val="1820"/>
              </a:lnSpc>
              <a:spcBef>
                <a:spcPts val="200"/>
              </a:spcBef>
              <a:spcAft>
                <a:spcPts val="200"/>
              </a:spcAft>
            </a:pPr>
            <a:r>
              <a:rPr sz="1400" b="0">
                <a:solidFill>
                  <a:srgbClr val="000000"/>
                </a:solidFill>
                <a:latin typeface="Microsoft YaHei"/>
              </a:rPr>
              <a:t>纳税人的交际应酬消费属于增值税法所称个人消费。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未分别核算免税、减税项目等项目收入，导致未能享受免税、减税优惠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l">
              <a:lnSpc>
                <a:spcPts val="1820"/>
              </a:lnSpc>
              <a:spcBef>
                <a:spcPts val="200"/>
              </a:spcBef>
              <a:spcAft>
                <a:spcPts val="20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企业安置残疾人未达到法定标准即享受增值税优惠政策，少缴税款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l">
              <a:lnSpc>
                <a:spcPts val="1820"/>
              </a:lnSpc>
              <a:spcBef>
                <a:spcPts val="200"/>
              </a:spcBef>
              <a:spcAft>
                <a:spcPts val="20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l">
              <a:lnSpc>
                <a:spcPts val="1820"/>
              </a:lnSpc>
              <a:spcBef>
                <a:spcPts val="200"/>
              </a:spcBef>
              <a:spcAft>
                <a:spcPts val="20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l">
              <a:lnSpc>
                <a:spcPts val="1820"/>
              </a:lnSpc>
              <a:spcBef>
                <a:spcPts val="200"/>
              </a:spcBef>
              <a:spcAft>
                <a:spcPts val="20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l">
              <a:lnSpc>
                <a:spcPts val="1820"/>
              </a:lnSpc>
              <a:spcBef>
                <a:spcPts val="200"/>
              </a:spcBef>
              <a:spcAft>
                <a:spcPts val="20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l">
              <a:lnSpc>
                <a:spcPts val="1820"/>
              </a:lnSpc>
              <a:spcBef>
                <a:spcPts val="200"/>
              </a:spcBef>
              <a:spcAft>
                <a:spcPts val="20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提供有形动产融资性售后回租服务在计算当期销售额扣除的有形动产本金不符合规定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企业收回逾期包装物押金未缴纳增值税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l">
              <a:lnSpc>
                <a:spcPts val="1820"/>
              </a:lnSpc>
              <a:spcBef>
                <a:spcPts val="200"/>
              </a:spcBef>
              <a:spcAft>
                <a:spcPts val="20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销售货物销售额与折扣额不在同一张发票而在核算时减除了折扣额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企业采取折扣方式销售货物，折扣额与销售额单独开具发票，将折扣额从销售额中减除，少计与之对应的增值税税款。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l">
              <a:lnSpc>
                <a:spcPts val="1820"/>
              </a:lnSpc>
              <a:spcBef>
                <a:spcPts val="200"/>
              </a:spcBef>
              <a:spcAft>
                <a:spcPts val="20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混合销售行为未以主营业务确定适用税率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根据《中华人民共和国增值税法》、《中华人民共和国增值税法实施条例》的规定：</a:t>
            </a:r>
          </a:p>
          <a:p>
            <a:pPr algn="l">
              <a:lnSpc>
                <a:spcPts val="1820"/>
              </a:lnSpc>
              <a:spcBef>
                <a:spcPts val="200"/>
              </a:spcBef>
              <a:spcAft>
                <a:spcPts val="20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收取的价外费用和逾期包装物押金未换算成不含税收入，而多缴税款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平销行为返还资金的没有冲减当期进项税额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l">
              <a:lnSpc>
                <a:spcPts val="1820"/>
              </a:lnSpc>
              <a:spcBef>
                <a:spcPts val="200"/>
              </a:spcBef>
              <a:spcAft>
                <a:spcPts val="200"/>
              </a:spcAft>
            </a:pPr>
            <a:r>
              <a:rPr sz="1400" b="0">
                <a:solidFill>
                  <a:srgbClr val="000000"/>
                </a:solidFill>
                <a:latin typeface="Microsoft YaHei"/>
              </a:rPr>
              <a:t>当期应冲减进项税金=当期取得的返还资金×所购货物适用的增值税税率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企业未开具红字专用发票即做冲减销项税额处理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视同销售行为未及时确认收入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根据《中华人民共和国增值税法》第五条规定：有下列情形之一的，视同应税交易，应当依照本法规定缴纳增值税：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（一）单位和个体工商户将自产或者委托加工的货物用于集体福利或者个人消费；</a:t>
            </a:r>
          </a:p>
          <a:p>
            <a:pPr algn="l">
              <a:lnSpc>
                <a:spcPts val="1820"/>
              </a:lnSpc>
              <a:spcBef>
                <a:spcPts val="200"/>
              </a:spcBef>
              <a:spcAft>
                <a:spcPts val="200"/>
              </a:spcAft>
            </a:pPr>
            <a:r>
              <a:rPr sz="1400" b="0">
                <a:solidFill>
                  <a:srgbClr val="000000"/>
                </a:solidFill>
                <a:latin typeface="Microsoft YaHei"/>
              </a:rPr>
              <a:t>（二）单位和个体工商户无偿转让货物；（三）单位和个人无偿转让无形资产、不动产或者金融商品。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外币结算的销售额折合人民币时适用汇率错误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根据《中华人民共和国增值税法实施细则》（中华人民共和国国务院令第826号）第十七条的规定：</a:t>
            </a:r>
          </a:p>
          <a:p>
            <a:pPr algn="l">
              <a:lnSpc>
                <a:spcPts val="1820"/>
              </a:lnSpc>
              <a:spcBef>
                <a:spcPts val="200"/>
              </a:spcBef>
              <a:spcAft>
                <a:spcPts val="20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出口货物办理退税后发生退货或者退关企业未按规定补缴增值税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根据《中华人民共和国增值税法》及其实施条例关于出口退（免）税的规定：</a:t>
            </a:r>
          </a:p>
          <a:p>
            <a:pPr algn="l">
              <a:lnSpc>
                <a:spcPts val="1820"/>
              </a:lnSpc>
              <a:spcBef>
                <a:spcPts val="200"/>
              </a:spcBef>
              <a:spcAft>
                <a:spcPts val="20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l">
              <a:lnSpc>
                <a:spcPts val="1820"/>
              </a:lnSpc>
              <a:spcBef>
                <a:spcPts val="200"/>
              </a:spcBef>
              <a:spcAft>
                <a:spcPts val="200"/>
              </a:spcAft>
            </a:pPr>
            <a:r>
              <a:rPr sz="1400" b="0">
                <a:solidFill>
                  <a:srgbClr val="000000"/>
                </a:solidFill>
                <a:latin typeface="Microsoft YaHei"/>
              </a:rPr>
              <a:t>出口货物办理退税后发生退货或者退关的，纳税人应当依法补缴已退的税款。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不合规抵扣凭证抵扣了进项税额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以旧换新销售，未按规定缴纳增值税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l">
              <a:lnSpc>
                <a:spcPts val="1820"/>
              </a:lnSpc>
              <a:spcBef>
                <a:spcPts val="200"/>
              </a:spcBef>
              <a:spcAft>
                <a:spcPts val="20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企业支付与贷款相关的财务顾问费、咨询费等，其进项税额不得抵扣</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根据《中华人民共和国增值税法实施条例》（中华人民共和国国务院令第826号）第二十一条规定：</a:t>
            </a:r>
          </a:p>
          <a:p>
            <a:pPr algn="l">
              <a:lnSpc>
                <a:spcPts val="1820"/>
              </a:lnSpc>
              <a:spcBef>
                <a:spcPts val="200"/>
              </a:spcBef>
              <a:spcAft>
                <a:spcPts val="20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l">
              <a:lnSpc>
                <a:spcPts val="1820"/>
              </a:lnSpc>
              <a:spcBef>
                <a:spcPts val="200"/>
              </a:spcBef>
              <a:spcAft>
                <a:spcPts val="20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房地产企业发生“以租代售”业务隐瞒收入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a:t>
            </a:r>
          </a:p>
          <a:p>
            <a:pPr algn="l">
              <a:lnSpc>
                <a:spcPts val="1820"/>
              </a:lnSpc>
              <a:spcBef>
                <a:spcPts val="200"/>
              </a:spcBef>
              <a:spcAft>
                <a:spcPts val="20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房地产企业收到预收账款不入账，少预缴增值税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l">
              <a:lnSpc>
                <a:spcPts val="1820"/>
              </a:lnSpc>
              <a:spcBef>
                <a:spcPts val="200"/>
              </a:spcBef>
              <a:spcAft>
                <a:spcPts val="200"/>
              </a:spcAft>
            </a:pPr>
            <a:r>
              <a:rPr sz="1400" b="0">
                <a:solidFill>
                  <a:srgbClr val="000000"/>
                </a:solidFill>
                <a:latin typeface="Microsoft YaHei"/>
              </a:rPr>
              <a:t>一般纳税人采取预收款方式销售自行开发的房地产项目，应在收到预收款时按照3%的预征率预缴增值税。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预收账款没有准确及时核算，使得预缴增值税时点延迟，会给企业带来税务稽查风险，从而产生罚款及滞纳金。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房地产企业以商品房抵债未计销售额，未缴纳增值税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以商品房抵冲其所欠施工款、材料款、广告费等，未及时计入销售收入当中，未缴纳增值税。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根据《中华人民共和国增值税法》及其实施条例关于有偿转让不动产的规定：</a:t>
            </a:r>
          </a:p>
          <a:p>
            <a:pPr algn="l">
              <a:lnSpc>
                <a:spcPts val="1820"/>
              </a:lnSpc>
              <a:spcBef>
                <a:spcPts val="200"/>
              </a:spcBef>
              <a:spcAft>
                <a:spcPts val="200"/>
              </a:spcAft>
            </a:pPr>
            <a:r>
              <a:rPr sz="1400" b="0">
                <a:solidFill>
                  <a:srgbClr val="000000"/>
                </a:solidFill>
                <a:latin typeface="Microsoft YaHei"/>
              </a:rPr>
              <a:t>销售不动产，是指转让不动产所有权的业务活动。有偿，是指取得货币、货物或者其他经济利益。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房地产企业签订阴阳合同隐瞒收入，少缴增值税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l">
              <a:lnSpc>
                <a:spcPts val="1820"/>
              </a:lnSpc>
              <a:spcBef>
                <a:spcPts val="200"/>
              </a:spcBef>
              <a:spcAft>
                <a:spcPts val="20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扩大享受境内金融机构同业往来利息收入增值税免税范围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将不在增值税免税范围内的同业往来业务收入一并作为同业往来利息收入申报免税，未按规定申报缴纳增值税。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扩大享受金融机构农户小额贷款利息收入增值税优惠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错误界定享受免税规定的农户小额贷款，扩大享受金融机构农户小额贷款的利息收入。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l">
              <a:lnSpc>
                <a:spcPts val="1820"/>
              </a:lnSpc>
              <a:spcBef>
                <a:spcPts val="200"/>
              </a:spcBef>
              <a:spcAft>
                <a:spcPts val="20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l">
              <a:lnSpc>
                <a:spcPts val="1820"/>
              </a:lnSpc>
              <a:spcBef>
                <a:spcPts val="200"/>
              </a:spcBef>
              <a:spcAft>
                <a:spcPts val="20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l">
              <a:lnSpc>
                <a:spcPts val="1820"/>
              </a:lnSpc>
              <a:spcBef>
                <a:spcPts val="200"/>
              </a:spcBef>
              <a:spcAft>
                <a:spcPts val="20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金融企业收取贷款相关滞纳金、罚金等未缴纳增值税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与收取贷款利息相关的，且具有利息属性的罚金、滞纳金、赔偿金，如贷款还款违约的罚息，应按照税法规定缴纳增值税。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l">
              <a:lnSpc>
                <a:spcPts val="1820"/>
              </a:lnSpc>
              <a:spcBef>
                <a:spcPts val="200"/>
              </a:spcBef>
              <a:spcAft>
                <a:spcPts val="20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财产保险企业处置损余物资未缴纳增值税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l">
              <a:lnSpc>
                <a:spcPts val="1820"/>
              </a:lnSpc>
              <a:spcBef>
                <a:spcPts val="200"/>
              </a:spcBef>
              <a:spcAft>
                <a:spcPts val="20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l">
              <a:lnSpc>
                <a:spcPts val="1820"/>
              </a:lnSpc>
              <a:spcBef>
                <a:spcPts val="200"/>
              </a:spcBef>
              <a:spcAft>
                <a:spcPts val="200"/>
              </a:spcAft>
            </a:pPr>
            <a:r>
              <a:rPr sz="1400" b="0">
                <a:solidFill>
                  <a:srgbClr val="000000"/>
                </a:solidFill>
                <a:latin typeface="Microsoft YaHei"/>
              </a:rPr>
              <a:t>（三）销售金融商品的，金融商品在境内发行，或者销售方为境内单位和个人；</a:t>
            </a:r>
          </a:p>
          <a:p>
            <a:pPr algn="l">
              <a:lnSpc>
                <a:spcPts val="1820"/>
              </a:lnSpc>
              <a:spcBef>
                <a:spcPts val="200"/>
              </a:spcBef>
              <a:spcAft>
                <a:spcPts val="20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l">
              <a:lnSpc>
                <a:spcPts val="1820"/>
              </a:lnSpc>
              <a:spcBef>
                <a:spcPts val="200"/>
              </a:spcBef>
              <a:spcAft>
                <a:spcPts val="20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收取与工程有关的其他收入与价外费用未按规定确认收入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取得与工程有关的额外收入如质量奖、提前竣工奖、延期付款利息等未按规定计入收入计提销项税额。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l">
              <a:lnSpc>
                <a:spcPts val="1820"/>
              </a:lnSpc>
              <a:spcBef>
                <a:spcPts val="200"/>
              </a:spcBef>
              <a:spcAft>
                <a:spcPts val="20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电信业务适用税率错误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收取其他单位资金占用费未确认收入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l">
              <a:lnSpc>
                <a:spcPts val="1820"/>
              </a:lnSpc>
              <a:spcBef>
                <a:spcPts val="200"/>
              </a:spcBef>
              <a:spcAft>
                <a:spcPts val="200"/>
              </a:spcAft>
            </a:pPr>
            <a:r>
              <a:rPr sz="1400" b="0">
                <a:solidFill>
                  <a:srgbClr val="000000"/>
                </a:solidFill>
                <a:latin typeface="Microsoft YaHei"/>
              </a:rPr>
              <a:t>各种占用、拆借资金取得的收入，包括资金占用费、补偿金等，按照贷款服务缴纳增值税。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直接冲减财务费用或计入往来款等科目，未确认收入，未计提销项税额，少缴增值税风险。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对外转租资产未按规定缴纳增值税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将承租的场地、物品、设备等再转租给其他企业或个人，未计入增值税收入。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l">
              <a:lnSpc>
                <a:spcPts val="1820"/>
              </a:lnSpc>
              <a:spcBef>
                <a:spcPts val="200"/>
              </a:spcBef>
              <a:spcAft>
                <a:spcPts val="20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将承租的场地、物品、设备等再转租给其他企业或个人，未按税法规定缴纳增值税。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收到实物、劳务及其他形式租金未缴纳增值税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以物抵租部分少报租金收入，或收到以实物、劳务及其他形式支付的租金未计收入少缴增值税的风险。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将政府无偿划拨的土地按评估价值投资入股未缴纳增值税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将改制前通过政府无偿划拨取得的土地用于投资入股，按评估价作为长期股权投资，未计增值税收入风险。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根据《中华人民共和国增值税法》第五条及其实施条例关于视同应税交易的规定：</a:t>
            </a:r>
          </a:p>
          <a:p>
            <a:pPr algn="l">
              <a:lnSpc>
                <a:spcPts val="1820"/>
              </a:lnSpc>
              <a:spcBef>
                <a:spcPts val="200"/>
              </a:spcBef>
              <a:spcAft>
                <a:spcPts val="200"/>
              </a:spcAft>
            </a:pPr>
            <a:r>
              <a:rPr sz="1400" b="0">
                <a:solidFill>
                  <a:srgbClr val="000000"/>
                </a:solidFill>
                <a:latin typeface="Microsoft YaHei"/>
              </a:rPr>
              <a:t>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返利冲减当期销售收入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直接冲减当期销售收入，少计提增值税销项税额，少缴增值税风险。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混淆增值税一般计税方法和简易计税方法</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l">
              <a:lnSpc>
                <a:spcPts val="1820"/>
              </a:lnSpc>
              <a:spcBef>
                <a:spcPts val="200"/>
              </a:spcBef>
              <a:spcAft>
                <a:spcPts val="20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管理不善造成非正常损失的原材料、库存商品未按规定转出进项税额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管理不善造成非正常损失的原材料、库存商品未按规定转出进项税额，未按规定做进项税额转出，少缴增值税的风险。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管理不善造成不动产以及该不动产所耗用的购进货物及服务非正常损失未按规定转出进项税额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l">
              <a:lnSpc>
                <a:spcPts val="1820"/>
              </a:lnSpc>
              <a:spcBef>
                <a:spcPts val="200"/>
              </a:spcBef>
              <a:spcAft>
                <a:spcPts val="20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l">
              <a:lnSpc>
                <a:spcPts val="1820"/>
              </a:lnSpc>
              <a:spcBef>
                <a:spcPts val="200"/>
              </a:spcBef>
              <a:spcAft>
                <a:spcPts val="20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l">
              <a:lnSpc>
                <a:spcPts val="1820"/>
              </a:lnSpc>
              <a:spcBef>
                <a:spcPts val="200"/>
              </a:spcBef>
              <a:spcAft>
                <a:spcPts val="200"/>
              </a:spcAft>
            </a:pPr>
            <a:r>
              <a:rPr sz="1400" b="0">
                <a:solidFill>
                  <a:srgbClr val="000000"/>
                </a:solidFill>
                <a:latin typeface="Microsoft YaHei"/>
              </a:rPr>
              <a:t>不得抵扣的进项税额＝已抵扣进项税额×不动产净值率不动产净值率＝（不动产净值÷不动产原值）×100%</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管理不善造成在建工程非正常损失未按规定转出进项税额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因管理不善造成在建工程非正常损失，未按规定转出进项税额，少缴增值税的风险。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将债券转让收入混为免税利息收入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ts val="1820"/>
              </a:lnSpc>
              <a:spcBef>
                <a:spcPts val="200"/>
              </a:spcBef>
              <a:spcAft>
                <a:spcPts val="200"/>
              </a:spcAft>
            </a:pPr>
            <a:r>
              <a:rPr sz="1400" b="0">
                <a:solidFill>
                  <a:srgbClr val="000000"/>
                </a:solidFill>
                <a:latin typeface="Microsoft YaHei"/>
              </a:rPr>
              <a:t>国债、地方政府债利息收入免征增值税，但转让收入不属于免税范围。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将债券转让收入混为免税利息收入，未计入增值税收入，少缴增值税风险。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统借统还业务中，向下属单位收取高于支付给金融机构借款利率水平的利息未按规定缴纳增值税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ts val="1820"/>
              </a:lnSpc>
              <a:spcBef>
                <a:spcPts val="200"/>
              </a:spcBef>
              <a:spcAft>
                <a:spcPts val="20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统借统还业务中，向下属单位收取高于支付给金融机构借款利率水平的利息未计入增值税收入，少缴增值税风险。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