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88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非货币性收入未计入应纳税所得额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未计收入减少应纳税所得额，税务机关会要求改正，补缴税款，缴纳罚款等。</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非货币性资产投资收入的确认时点错误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企业非货币性资产转让收入的确认时点错误会减少企业当期的收入，收入未入账减少企业当期应纳税所得额。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非货币性资产投资企业所得税政策问题的通知》（财税〔2014〕116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上述业务发生后，核查纳税申报时保证各事项正确完整，避免出现错误。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跨年度租金收入未按收入与费用配比原则确认收入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根据《中华人民共和国企业所得税法实施条例》（中华人民共和国国务院令第512号）第九条规定：</a:t>
            </a:r>
          </a:p>
          <a:p>
            <a:pPr algn="just">
              <a:lnSpc>
                <a:spcPct val="125000"/>
              </a:lnSpc>
              <a:spcBef>
                <a:spcPts val="0"/>
              </a:spcBef>
              <a:spcAft>
                <a:spcPts val="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租金收入未分期均匀计入相关年度</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合同约定租金付款日的，企业可能会不及时确认这笔收入，从而产生少计收入，少缴税款的风险。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股权转让所得的计算和时点的确认不符合规定</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贯彻落实企业所得税法若干税收问题的通知》（国税函〔2010〕79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未确认收入的实现，违反法律、法规，减少了应纳税款，会面临补缴税款，缴纳罚款等风险。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企业要核查存在的股权（包括转让股票或股份）买卖，及时确认收入。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企业处置资产未按照公允价值确定销售收入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所得税有关问题的公告》（国家税务总局公告2016年第80号）第二条规定：企业发生《国家税务总局关于企业处置资产所得税处理问题的通知》（国税函〔2008〕828号）第二条规定情形的，除另有规定外，应按照被移送资产的公允价值确定销售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企业对企业处置资产的销售收入进行核对，对于没有按照要求按资产公允价值确定销售收入的要及时改正。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视同销售不确认收入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企业在生产经营过程中对符合税法规定的视同销售未将其确认为收入，会产生少计收入，少缴税款的风险。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政策性搬迁收入挂往来账，未计入收入总额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企业政策性搬迁所得税管理办法》（国家税务总局公告2012年第40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just">
              <a:lnSpc>
                <a:spcPct val="125000"/>
              </a:lnSpc>
              <a:spcBef>
                <a:spcPts val="0"/>
              </a:spcBef>
              <a:spcAft>
                <a:spcPts val="0"/>
              </a:spcAft>
            </a:pPr>
            <a:r>
              <a:rPr sz="1400" b="0">
                <a:solidFill>
                  <a:srgbClr val="000000"/>
                </a:solidFill>
                <a:latin typeface="Microsoft YaHei"/>
              </a:rPr>
              <a:t>（一）从搬迁开始，5年内（包括搬迁当年度）任何一年完成搬迁的。</a:t>
            </a:r>
          </a:p>
          <a:p>
            <a:pPr algn="just">
              <a:lnSpc>
                <a:spcPct val="125000"/>
              </a:lnSpc>
              <a:spcBef>
                <a:spcPts val="0"/>
              </a:spcBef>
              <a:spcAft>
                <a:spcPts val="0"/>
              </a:spcAft>
            </a:pPr>
            <a:r>
              <a:rPr sz="1400" b="0">
                <a:solidFill>
                  <a:srgbClr val="000000"/>
                </a:solidFill>
                <a:latin typeface="Microsoft YaHei"/>
              </a:rPr>
              <a:t>（二）从搬迁开始，搬迁时间满5年（包括搬迁当年度）的年度。</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少记提供劳务或服务收入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 第512号）第十四条、第十五条规定：企业所得税法第六条第（一）项所称销售货物收入，是指企业销售商品、产品、原材料、包装物、低值易耗品以及其他存货取得的收入。</a:t>
            </a:r>
          </a:p>
          <a:p>
            <a:pPr algn="just">
              <a:lnSpc>
                <a:spcPct val="125000"/>
              </a:lnSpc>
              <a:spcBef>
                <a:spcPts val="0"/>
              </a:spcBef>
              <a:spcAft>
                <a:spcPts val="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对于生产销售企业来说，提供劳务或者服务并不常见，但这部分收入也要及时完整入账，否则会有少缴税款的风险。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个税手续费收入未确认收入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财政部会计司在2018年9月7日发布的《关于2018年度一般企业财务报表格式有关问题的解读》（财会〔2018〕15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号——财务报表列报》等的相关规定，对可比期间的比较数据进行调整。根据《财政部 税务总局 人民银行关于进一步加强代扣代收代征税款手续费管理的通知》（财行〔2019〕11号）第四条第三款第四项规定：</a:t>
            </a:r>
          </a:p>
          <a:p>
            <a:pPr algn="just">
              <a:lnSpc>
                <a:spcPct val="125000"/>
              </a:lnSpc>
              <a:spcBef>
                <a:spcPts val="0"/>
              </a:spcBef>
              <a:spcAft>
                <a:spcPts val="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企业因代扣代缴个人所得税而取得的手续费返还，未并入企业当期收入，存在少缴所得税的风险。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企业未按规定确认销售商品收入实现时间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确认企业所得税收入若干问题的通知》（国税函〔2008〕875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4.销售商品采用支付手续费方式委托代销的，在收到代销清单时确认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应收账款未及时计入收入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务院《中华人民共和国企业所得税法实施条例》（中华人民共和国国务院令第512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企业将收入长期挂往来账户而不及时入账。此类情况将要面临补缴税款，缴纳滞纳金和罚款的风险。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确实无法偿付的应付款项未确认收入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存在超账期应付款项未确认营业外收入，将面临补缴企业所得税、附加税、滞纳金及罚款等风险。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just">
              <a:lnSpc>
                <a:spcPct val="125000"/>
              </a:lnSpc>
              <a:spcBef>
                <a:spcPts val="0"/>
              </a:spcBef>
              <a:spcAft>
                <a:spcPts val="0"/>
              </a:spcAft>
            </a:pPr>
            <a:r>
              <a:rPr sz="1400" b="0">
                <a:solidFill>
                  <a:srgbClr val="000000"/>
                </a:solidFill>
                <a:latin typeface="Microsoft YaHei"/>
              </a:rPr>
              <a:t>同时需要注意：应付利息、应付股利的对方如果是自然人，还可能会涉及扣缴个人所得税。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收回已税前扣除的坏账损失未确认收入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资产损失税前扣除政策的通知》（财税〔2009〕57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3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根据《中华人民共和国企业所得税法实施条例》（中华人民共和国国务院令第512号）第三十二条规定：企业已经作为损失处理的资产，在以后纳税年度又全部收回或者部分收回时，应当计入当期收入。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对后续收回的已扣除部分资产损失未计收入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企业已经确认扣除的资产损失在以后纳税年度全部或部分收回，此时增加收入，需计入应纳税所得额中。</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资产损失税前扣除政策的通知》（财税〔2009〕57号）第十一条规定：企业在计算应纳税所得额时已经扣除的资产损失，在以后纳税年度全部或者部分收回时，其收回部分应当作为收入计入收回当期的应纳税所得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收回损失，应计收入而未计收入，税务机关会要求调整，追缴税款。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企业需核查应计收入而未计收入的项目，对于收回的资产损失，需在相应纳税年度增加应纳税所得额，补缴税款。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逾期未退包装物押金未按税法规定确认收入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企业收取逾期包装物押金要及时确认收入，企业可能会不及时确认这笔收入，从而产生少计收入，少缴税款的风险。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处置低值易耗品的收入未及时入账</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四条规定：企业所得税法第六条第（一）项所称销售货物收入，是指企业销售商品、产品、原材料、包装物、低值易耗品以及其他存货取得的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低值易耗品收入不入账这种行为有少记收入企图少缴税款的嫌疑，面临补缴税款，缴纳滞纳金和罚款的风险。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不符合不征税条件的政府补助</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根据《中华人民共和国企业所得税法》第七条规定：收入总额中的下列收入为不征税收入：（一）财政拨款；</a:t>
            </a:r>
          </a:p>
          <a:p>
            <a:pPr algn="just">
              <a:lnSpc>
                <a:spcPct val="125000"/>
              </a:lnSpc>
              <a:spcBef>
                <a:spcPts val="0"/>
              </a:spcBef>
              <a:spcAft>
                <a:spcPts val="0"/>
              </a:spcAft>
            </a:pPr>
            <a:r>
              <a:rPr sz="1400" b="0">
                <a:solidFill>
                  <a:srgbClr val="000000"/>
                </a:solidFill>
                <a:latin typeface="Microsoft YaHei"/>
              </a:rPr>
              <a:t>（二）依法收取并纳入财政管理的行政事业性收费、政府性基金；</a:t>
            </a:r>
          </a:p>
          <a:p>
            <a:pPr algn="just">
              <a:lnSpc>
                <a:spcPct val="125000"/>
              </a:lnSpc>
              <a:spcBef>
                <a:spcPts val="0"/>
              </a:spcBef>
              <a:spcAft>
                <a:spcPts val="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just">
              <a:lnSpc>
                <a:spcPct val="125000"/>
              </a:lnSpc>
              <a:spcBef>
                <a:spcPts val="0"/>
              </a:spcBef>
              <a:spcAft>
                <a:spcPts val="0"/>
              </a:spcAft>
            </a:pPr>
            <a:r>
              <a:rPr sz="1400" b="0">
                <a:solidFill>
                  <a:srgbClr val="000000"/>
                </a:solidFill>
                <a:latin typeface="Microsoft YaHei"/>
              </a:rPr>
              <a:t>第一条、财政性资金。</a:t>
            </a:r>
          </a:p>
          <a:p>
            <a:pPr algn="just">
              <a:lnSpc>
                <a:spcPct val="125000"/>
              </a:lnSpc>
              <a:spcBef>
                <a:spcPts val="0"/>
              </a:spcBef>
              <a:spcAft>
                <a:spcPts val="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25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25000"/>
              </a:lnSpc>
              <a:spcBef>
                <a:spcPts val="0"/>
              </a:spcBef>
              <a:spcAft>
                <a:spcPts val="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号）第一条规定：</a:t>
            </a:r>
          </a:p>
          <a:p>
            <a:pPr algn="just">
              <a:lnSpc>
                <a:spcPct val="125000"/>
              </a:lnSpc>
              <a:spcBef>
                <a:spcPts val="0"/>
              </a:spcBef>
              <a:spcAft>
                <a:spcPts val="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25000"/>
              </a:lnSpc>
              <a:spcBef>
                <a:spcPts val="0"/>
              </a:spcBef>
              <a:spcAft>
                <a:spcPts val="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企业应核实取得的各种政府财政性资金，如财政补贴、补助、补偿、等，如不符合财税〔2011〕70号规定的三项条件的，应当按照实际取得收入的时间确认收入，不得作为不征税收入核算。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将应税收入申报为免税收入核算</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根据《中华人民共和国企业所得税法》（中华人民共和国主席令第六十三号）第二十七条的规定：</a:t>
            </a:r>
          </a:p>
          <a:p>
            <a:pPr algn="just">
              <a:lnSpc>
                <a:spcPct val="125000"/>
              </a:lnSpc>
              <a:spcBef>
                <a:spcPts val="0"/>
              </a:spcBef>
              <a:spcAft>
                <a:spcPts val="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企业虚增销售综合利用资源产品取得的收入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根据《中华人民共和国企业所得税法》（中华人民共和国主席令第六十三号）第三十三条的规定：</a:t>
            </a:r>
          </a:p>
          <a:p>
            <a:pPr algn="just">
              <a:lnSpc>
                <a:spcPct val="125000"/>
              </a:lnSpc>
              <a:spcBef>
                <a:spcPts val="0"/>
              </a:spcBef>
              <a:spcAft>
                <a:spcPts val="0"/>
              </a:spcAft>
            </a:pPr>
            <a:r>
              <a:rPr sz="1400" b="0">
                <a:solidFill>
                  <a:srgbClr val="000000"/>
                </a:solidFill>
                <a:latin typeface="Microsoft YaHei"/>
              </a:rPr>
              <a:t>企业综合利用资源，生产符合国家产业政策规定的产品所取得的收入，可以在计算应纳税所得额时减计收入。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企业未单独核算生产经营项目所得与享受优惠的公共基础设施项目经营所得</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实施国家重点扶持的公共基础设施项目企业所得税优惠问题的通知》（国税发〔2009〕80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财政资金长期挂往来款未计入收入总额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财政资金超过5年以上仍未支出或缴回财政，在第六年应作为应税收入总额中，目前很多单位仍然挂账专项应付款中，存在企业所得税风险。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关于专项用途财政性资金企业所得税处理问题的通知》（财税〔2011〕70号）第三条规定：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已作为不征税收入处理的财政资金5年内未发生支出且未缴回财政，又不计入应纳税所得额的，存在少缴所得税的风险。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企业存货计价方法前后不一致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三条：企业使用或者销售的存货的成本计算方法，可以在先进先出法、加权平均法、个别计价法中选用一种。计价方法一经选用，不得随意变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企业将不符合规定的工资支出计入工资薪金支出总额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工资薪金及职工福利费扣除问题的通知》（国税函〔2009〕3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企业应检查计算应纳税所得额时扣除的工资薪金，如果有超过限额的扣除额，应及时调整。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非货币性资产交换换入换出成本错误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根据《企业会计准则第7号——非货币性资产交换》（财会〔2019〕8号）第九条规定：</a:t>
            </a:r>
          </a:p>
          <a:p>
            <a:pPr algn="just">
              <a:lnSpc>
                <a:spcPct val="125000"/>
              </a:lnSpc>
              <a:spcBef>
                <a:spcPts val="0"/>
              </a:spcBef>
              <a:spcAft>
                <a:spcPts val="0"/>
              </a:spcAft>
            </a:pPr>
            <a:r>
              <a:rPr sz="1400" b="0">
                <a:solidFill>
                  <a:srgbClr val="000000"/>
                </a:solidFill>
                <a:latin typeface="Microsoft YaHei"/>
              </a:rPr>
              <a:t>第九条 以公允价值为基础计量的非货币性资产交换，涉及补价的，应当按照下列规定进行处理：</a:t>
            </a:r>
          </a:p>
          <a:p>
            <a:pPr algn="just">
              <a:lnSpc>
                <a:spcPct val="125000"/>
              </a:lnSpc>
              <a:spcBef>
                <a:spcPts val="0"/>
              </a:spcBef>
              <a:spcAft>
                <a:spcPts val="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离退休等三类人员费用税前扣除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根据《国家税务总局关于企业工资薪金及职工福利费扣除问题的通知》（国税函〔2009〕3号）第三条规定：关于职工福利费问题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just">
              <a:lnSpc>
                <a:spcPct val="125000"/>
              </a:lnSpc>
              <a:spcBef>
                <a:spcPts val="0"/>
              </a:spcBef>
              <a:spcAft>
                <a:spcPts val="0"/>
              </a:spcAft>
            </a:pPr>
            <a:r>
              <a:rPr sz="1400" b="0">
                <a:solidFill>
                  <a:srgbClr val="000000"/>
                </a:solidFill>
                <a:latin typeface="Microsoft YaHei"/>
              </a:rPr>
              <a:t>与企业取得收入不直接相关的离退休人员工资、福利费等支出，不得在企业所得税前扣除。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国税函〔2009〕3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专项资金改变用途后继续进行税前扣除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五条规定：企业依照法律、行政法规有关规定提取的用于环境保护、生态恢复等方面的专项资金，准予扣除。上述专项资金提取后改变用途的，不得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企业自查是否有上述情况，存在的话及时调整。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不符合规定的劳动保护支出，未作纳税调整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根据《中华人民共和国企业所得税法实施条例》（中华人民共和国国务院令第512号）第四十八条规定：企业发生的合理的劳动保护支出，准予扣除。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根据《劳动保护用品管理规定》（劳部发〔1996〕138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利息扣除不符合规定</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对向非金融机构的借款利息扣除不合规</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所得税若干问题的公告》（国家税务总局公告2011年第34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just">
              <a:lnSpc>
                <a:spcPct val="125000"/>
              </a:lnSpc>
              <a:spcBef>
                <a:spcPts val="0"/>
              </a:spcBef>
              <a:spcAft>
                <a:spcPts val="0"/>
              </a:spcAft>
            </a:pPr>
            <a:r>
              <a:rPr sz="1400" b="0">
                <a:solidFill>
                  <a:srgbClr val="000000"/>
                </a:solidFill>
                <a:latin typeface="Microsoft YaHei"/>
              </a:rPr>
              <a:t>根据《中华人民共和国企业所得税法》（中华人民共和国主席令第63号文件）第四十六条规定：企业从其关联方接受的债权性投资与权益性投资的比例超过规定标准而发生的利息支出，不得在计算应纳税所得额时扣除。</a:t>
            </a:r>
          </a:p>
          <a:p>
            <a:pPr algn="just">
              <a:lnSpc>
                <a:spcPct val="125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just">
              <a:lnSpc>
                <a:spcPct val="125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国家税务总局关于企业关联方利息支出税前扣除标准有关税收政策问题的通知》（财税〔2008〕121号）规定的条件，计算企业所得税扣除额。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不合规定的商业保险费误在税前扣除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2016年第80号）规定：</a:t>
            </a:r>
          </a:p>
          <a:p>
            <a:pPr algn="just">
              <a:lnSpc>
                <a:spcPct val="125000"/>
              </a:lnSpc>
              <a:spcBef>
                <a:spcPts val="0"/>
              </a:spcBef>
              <a:spcAft>
                <a:spcPts val="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just">
              <a:lnSpc>
                <a:spcPct val="125000"/>
              </a:lnSpc>
              <a:spcBef>
                <a:spcPts val="0"/>
              </a:spcBef>
              <a:spcAft>
                <a:spcPts val="0"/>
              </a:spcAft>
            </a:pPr>
            <a:r>
              <a:rPr sz="1400" b="0">
                <a:solidFill>
                  <a:srgbClr val="000000"/>
                </a:solidFill>
                <a:latin typeface="Microsoft YaHei"/>
              </a:rPr>
              <a:t>根据《国家税务总局关于责任保险费企业所得税税前扣除有关问题的公告》（国家税务总局公告2018年第52号）规定：企业参加雇主责任险、公众责任险等责任保险，按照规定缴纳的保险费，准予在企业所得税税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其他不得列支项目在税前列支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just">
              <a:lnSpc>
                <a:spcPct val="125000"/>
              </a:lnSpc>
              <a:spcBef>
                <a:spcPts val="0"/>
              </a:spcBef>
              <a:spcAft>
                <a:spcPts val="0"/>
              </a:spcAft>
            </a:pPr>
            <a:r>
              <a:rPr sz="1400" b="0">
                <a:solidFill>
                  <a:srgbClr val="000000"/>
                </a:solidFill>
                <a:latin typeface="Microsoft YaHei"/>
              </a:rPr>
              <a:t>（三）税收滞纳金；</a:t>
            </a:r>
          </a:p>
          <a:p>
            <a:pPr algn="just">
              <a:lnSpc>
                <a:spcPct val="125000"/>
              </a:lnSpc>
              <a:spcBef>
                <a:spcPts val="0"/>
              </a:spcBef>
              <a:spcAft>
                <a:spcPts val="0"/>
              </a:spcAft>
            </a:pPr>
            <a:r>
              <a:rPr sz="1400" b="0">
                <a:solidFill>
                  <a:srgbClr val="000000"/>
                </a:solidFill>
                <a:latin typeface="Microsoft YaHei"/>
              </a:rPr>
              <a:t>（四）罚金、罚款和被没收财物的损失；（五）本法第九条规定以外的捐赠支出；（六）赞助支出；</a:t>
            </a:r>
          </a:p>
          <a:p>
            <a:pPr algn="just">
              <a:lnSpc>
                <a:spcPct val="125000"/>
              </a:lnSpc>
              <a:spcBef>
                <a:spcPts val="0"/>
              </a:spcBef>
              <a:spcAft>
                <a:spcPts val="0"/>
              </a:spcAft>
            </a:pPr>
            <a:r>
              <a:rPr sz="1400" b="0">
                <a:solidFill>
                  <a:srgbClr val="000000"/>
                </a:solidFill>
                <a:latin typeface="Microsoft YaHei"/>
              </a:rPr>
              <a:t>（七）未经核定的准备金支出；</a:t>
            </a:r>
          </a:p>
          <a:p>
            <a:pPr algn="just">
              <a:lnSpc>
                <a:spcPct val="125000"/>
              </a:lnSpc>
              <a:spcBef>
                <a:spcPts val="0"/>
              </a:spcBef>
              <a:spcAft>
                <a:spcPts val="0"/>
              </a:spcAft>
            </a:pPr>
            <a:r>
              <a:rPr sz="1400" b="0">
                <a:solidFill>
                  <a:srgbClr val="000000"/>
                </a:solidFill>
                <a:latin typeface="Microsoft YaHei"/>
              </a:rPr>
              <a:t>（八）与取得收入无关的其他支出。</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企业虚增工资薪金总额作为限额扣除的基数</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工资薪金和职工福利费等支出税前扣除问题的公告》（国家税务总局公告2015年第34号）第一条规定：列入企业员工工资薪金制度、固定与工资薪金一起发放的福利性补贴，符合《国家税务总局关于企业工资薪金及职工福利费扣除问题的通知》（国税函〔2009〕3号）第一条规定的，可作为企业发生的工资薪金支出，按规定在税前扣除。</a:t>
            </a:r>
          </a:p>
          <a:p>
            <a:pPr algn="just">
              <a:lnSpc>
                <a:spcPct val="125000"/>
              </a:lnSpc>
              <a:spcBef>
                <a:spcPts val="0"/>
              </a:spcBef>
              <a:spcAft>
                <a:spcPts val="0"/>
              </a:spcAft>
            </a:pPr>
            <a:r>
              <a:rPr sz="1400" b="0">
                <a:solidFill>
                  <a:srgbClr val="000000"/>
                </a:solidFill>
                <a:latin typeface="Microsoft YaHei"/>
              </a:rPr>
              <a:t>不能同时符合上述条件的福利性补贴，应作为国税函〔2009〕3号文件第三条规定的职工福利费，按规定计算限额税前扣除。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该按照法律规定准确计算工资薪金支出，对于不符合工资薪金要求的福利性补贴，应作为国税函〔2009〕3号文件第三条规定的职工福利费，按规定计算限额税前扣除。建议自查企业发生的职工福利费发生额，职工福利费税前扣除应在税法规定的比例范围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劳务派遣人员工资记入工资薪金加大“三费”扣除基数</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根据《中华人民共和国个人所得税法实施条例》（中华人民共和国国务院令第707号）第六条规定：</a:t>
            </a:r>
          </a:p>
          <a:p>
            <a:pPr algn="just">
              <a:lnSpc>
                <a:spcPct val="125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just">
              <a:lnSpc>
                <a:spcPct val="125000"/>
              </a:lnSpc>
              <a:spcBef>
                <a:spcPts val="0"/>
              </a:spcBef>
              <a:spcAft>
                <a:spcPts val="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根据《中华人民共和国企业所得税法实施条例》（中华人民共和国国务院令第512号）第三十四条规定：企业发生的合理的工资、薪金支出，准予扣除。</a:t>
            </a:r>
          </a:p>
          <a:p>
            <a:pPr algn="just">
              <a:lnSpc>
                <a:spcPct val="125000"/>
              </a:lnSpc>
              <a:spcBef>
                <a:spcPts val="0"/>
              </a:spcBef>
              <a:spcAft>
                <a:spcPts val="0"/>
              </a:spcAft>
            </a:pPr>
            <a:r>
              <a:rPr sz="1400" b="0">
                <a:solidFill>
                  <a:srgbClr val="000000"/>
                </a:solidFill>
                <a:latin typeface="Microsoft YaHei"/>
              </a:rPr>
              <a:t>根据《国家税务总局关于企业工资薪金及职工福利费扣除问题的通知》国税函〔2009〕3号文件规定：《实施条例》第三十四条所称的“合理工资、薪金”，是指企业按照股东大会、董事会、薪酬委员会或相关管理机构制订的工资、薪金制度规定实际发放给员工的工资、薪金。</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职工教育经费扩大列支范围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二条：除国务院财政、税务主管部门另有规定外，企业发生的职工教育经费支出，不超过工资薪金总额2.5%的部分，准予扣除；超过部分，准予在以后纳税年度结转扣除。</a:t>
            </a:r>
          </a:p>
          <a:p>
            <a:pPr algn="just">
              <a:lnSpc>
                <a:spcPct val="125000"/>
              </a:lnSpc>
              <a:spcBef>
                <a:spcPts val="0"/>
              </a:spcBef>
              <a:spcAft>
                <a:spcPts val="0"/>
              </a:spcAft>
            </a:pPr>
            <a:r>
              <a:rPr sz="1400" b="0">
                <a:solidFill>
                  <a:srgbClr val="000000"/>
                </a:solidFill>
                <a:latin typeface="Microsoft YaHei"/>
              </a:rPr>
              <a:t>根据《财政部 税务总局关于企业职工教育经费税前扣除政策的通知》（财税〔2018〕51号）规定：</a:t>
            </a:r>
          </a:p>
          <a:p>
            <a:pPr algn="just">
              <a:lnSpc>
                <a:spcPct val="125000"/>
              </a:lnSpc>
              <a:spcBef>
                <a:spcPts val="0"/>
              </a:spcBef>
              <a:spcAft>
                <a:spcPts val="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just">
              <a:lnSpc>
                <a:spcPct val="125000"/>
              </a:lnSpc>
              <a:spcBef>
                <a:spcPts val="0"/>
              </a:spcBef>
              <a:spcAft>
                <a:spcPts val="0"/>
              </a:spcAft>
            </a:pPr>
            <a:r>
              <a:rPr sz="1400" b="0">
                <a:solidFill>
                  <a:srgbClr val="000000"/>
                </a:solidFill>
                <a:latin typeface="Microsoft YaHei"/>
              </a:rPr>
              <a:t>根据《关于印发关于企业职工教育经费提取与使用管理的意见的通知》（财建〔2006〕317号）规定：</a:t>
            </a:r>
          </a:p>
          <a:p>
            <a:pPr algn="just">
              <a:lnSpc>
                <a:spcPct val="125000"/>
              </a:lnSpc>
              <a:spcBef>
                <a:spcPts val="0"/>
              </a:spcBef>
              <a:spcAft>
                <a:spcPts val="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just">
              <a:lnSpc>
                <a:spcPct val="125000"/>
              </a:lnSpc>
              <a:spcBef>
                <a:spcPts val="0"/>
              </a:spcBef>
              <a:spcAft>
                <a:spcPts val="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just">
              <a:lnSpc>
                <a:spcPct val="125000"/>
              </a:lnSpc>
              <a:spcBef>
                <a:spcPts val="0"/>
              </a:spcBef>
              <a:spcAft>
                <a:spcPts val="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号）第六条规定：“集成电路设计企业和符合条件软件企业的职工培训费用，应单独进行核算并按实际发生额在计算应纳税所得额时扣除。”二是航空企业。《国家税务总局关于企业所得税若干问题的公告》（国家税务总局公告2011年第34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2014年第29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企业将职工教育经费超过工资薪金总额8%的部分进行税前列支，会产生多计支出，少缴税款的风险。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企业自查企业发生的职工教育经费发生额，职工教育经费税前扣除应在税法规定的比例范围内。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工会经费实际拨缴数小于计提数未做纳税调整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业务宣传费中列支与经营活动无关赞助费未做纳税调整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根据《中华人民共和国企业所得税法》（主席令第63号）第十条第六项的规定：</a:t>
            </a:r>
          </a:p>
          <a:p>
            <a:pPr algn="just">
              <a:lnSpc>
                <a:spcPct val="125000"/>
              </a:lnSpc>
              <a:spcBef>
                <a:spcPts val="0"/>
              </a:spcBef>
              <a:spcAft>
                <a:spcPts val="0"/>
              </a:spcAft>
            </a:pPr>
            <a:r>
              <a:rPr sz="1400" b="0">
                <a:solidFill>
                  <a:srgbClr val="000000"/>
                </a:solidFill>
                <a:latin typeface="Microsoft YaHei"/>
              </a:rPr>
              <a:t>在计算应纳税所得额时，赞助支出不得扣除。根据《中华人民共和国企业所得税法实施条例》（国务院令第512号）第五十四条的规定：</a:t>
            </a:r>
          </a:p>
          <a:p>
            <a:pPr algn="just">
              <a:lnSpc>
                <a:spcPct val="125000"/>
              </a:lnSpc>
              <a:spcBef>
                <a:spcPts val="0"/>
              </a:spcBef>
              <a:spcAft>
                <a:spcPts val="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企业所得税法第十条第六项所称赞助支出，是指企业发生的与生产经营活动无关的各种非广告性质支出。根据《中华人民共和国企业所得税法实施条例》（国务院令第512号）第四十四条的规定：</a:t>
            </a:r>
          </a:p>
          <a:p>
            <a:pPr algn="just">
              <a:lnSpc>
                <a:spcPct val="125000"/>
              </a:lnSpc>
              <a:spcBef>
                <a:spcPts val="0"/>
              </a:spcBef>
              <a:spcAft>
                <a:spcPts val="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年第16号）的规定，自2026年1月1日起至2027年12月31日：1.对化妆品制造或销售、医药制造和饮料制造（不含酒类制造）企业发生的广告费和业务宣传费支出，不超过当年销售（营业）收入30%的部分，准予扣除；超过部分，准予在以后纳税年度结转扣除。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业务招待费混同宣传费</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四十三条规定：企业发生的与生产经营活动有关的业务招待费支出，按照发生额的60%扣除，但最高不得超过当年销售（营业）收入的5‰。</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自查是否存在将业务招待费列支业务宣传费的情况，如果存在则需要进行纳税调整。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企业将不符合规定的保险费在税前扣除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为员工支付的补充养老保险费、补充医疗保险费，超过职工工资总额5%的限定额的部分，仍然在计算企业应纳税所得额时扣除，影响应纳税所得额，进而影响应纳税额，产生补缴税款与缴纳滞纳金、罚款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补充养老保险费、补充医疗保险费有关企业所得税政策问题的通知》（财税〔2009〕27号）的规定：自2008年1月1日起，企业根据国家有关政策规定，为在本企业任职或者受雇的全体员工支付的补充养老保险费、补充医疗保险费，分别在不超过职工工资总额5%标准内的部分，在计算应纳税所得额时准予扣除；超过的部分，不予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企业为员工支付的补充养老保险费、补充医疗保险费，超过职工工资总额5%的税前列支，影响应纳税所得额，进而影响应纳税额，产生补缴企业所得税和滞纳金的风险。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企业佣金及手续费支出不符合税法规定税前扣除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5%算限额，除委托个人代理外，必须转账支付，否则不得扣除。即使是正常经营业务发生的佣金手续费支出，若以现金方式支付，仍不得在税前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手续费及佣金支出税前扣除政策的通知》（财税〔2009〕29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5%计算限额。</a:t>
            </a:r>
          </a:p>
          <a:p>
            <a:pPr algn="just">
              <a:lnSpc>
                <a:spcPct val="125000"/>
              </a:lnSpc>
              <a:spcBef>
                <a:spcPts val="0"/>
              </a:spcBef>
              <a:spcAft>
                <a:spcPts val="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按税法规定一般企业发生与生产经营有关的手续费及佣金支出，按服务协议或合同确认的收入金额的5%算限额，除委托个人代理外，必须转账支付，否则不得扣除，如有现金支付业务，应做纳税调整。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委托境外研发费扣除不符合规定</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 科技部关于企业委托境外研究开发费用税前加计扣除有关政策问题的通知》（财税〔2018〕64号）第一条规定：</a:t>
            </a:r>
          </a:p>
          <a:p>
            <a:pPr algn="just">
              <a:lnSpc>
                <a:spcPct val="125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just">
              <a:lnSpc>
                <a:spcPct val="125000"/>
              </a:lnSpc>
              <a:spcBef>
                <a:spcPts val="0"/>
              </a:spcBef>
              <a:spcAft>
                <a:spcPts val="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企业随意扩大适用加计扣除的适用范围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根据《中华人民共和国企业所得税法》（中华人民共和国主席令第六十三号）第三十条的规定：</a:t>
            </a:r>
          </a:p>
          <a:p>
            <a:pPr algn="just">
              <a:lnSpc>
                <a:spcPct val="125000"/>
              </a:lnSpc>
              <a:spcBef>
                <a:spcPts val="0"/>
              </a:spcBef>
              <a:spcAft>
                <a:spcPts val="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just">
              <a:lnSpc>
                <a:spcPct val="125000"/>
              </a:lnSpc>
              <a:spcBef>
                <a:spcPts val="0"/>
              </a:spcBef>
              <a:spcAft>
                <a:spcPts val="0"/>
              </a:spcAft>
            </a:pPr>
            <a:r>
              <a:rPr sz="1400" b="0">
                <a:solidFill>
                  <a:srgbClr val="000000"/>
                </a:solidFill>
                <a:latin typeface="Microsoft YaHei"/>
              </a:rPr>
              <a:t>根据《关于完善研究开发费用税前加计扣除政策的通知》（财税〔2015〕119号）的规定：</a:t>
            </a:r>
          </a:p>
          <a:p>
            <a:pPr algn="just">
              <a:lnSpc>
                <a:spcPct val="125000"/>
              </a:lnSpc>
              <a:spcBef>
                <a:spcPts val="0"/>
              </a:spcBef>
              <a:spcAft>
                <a:spcPts val="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3.企业在商品化后为顾客提供的技术支持活动。4.对现存产品、服务、技术、材料或工艺流程进行的重复或简单改变。5.市场调查研究、效率调查或管理研究。6.作为工业（服务）流程环节或常规的质量控制、测试分析、维修维护。7.社会科学、艺术或人文学方面的研究。第四条规定：不适合研发费加计扣除的行业有：1.烟草制造业。2.住宿和餐饮业。3.批发和零售业。4.房地产业。5.租赁和商务服务业。6.娱乐业。7.财政部和国家税务总局规定的其他行业。</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将形成无形资产的研究开发费用费用化计入当期损益在当期加计100%一次扣除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自2023年1月1日起，企业研究开发形成无形资产的费用，应该计入无形资产成本，并按照无形资产成本的200%摊销；不能将形成无形资产的研究开发费用费用化计入当期损益在当期加计100%一次扣除。</a:t>
            </a:r>
          </a:p>
          <a:p>
            <a:pPr algn="just">
              <a:lnSpc>
                <a:spcPct val="125000"/>
              </a:lnSpc>
              <a:spcBef>
                <a:spcPts val="0"/>
              </a:spcBef>
              <a:spcAft>
                <a:spcPts val="0"/>
              </a:spcAft>
            </a:pPr>
            <a:r>
              <a:rPr sz="1400" b="0">
                <a:solidFill>
                  <a:srgbClr val="000000"/>
                </a:solidFill>
                <a:latin typeface="Microsoft YaHei"/>
              </a:rPr>
              <a:t>注：2018年1月1日至2022年12月31日期间，加计扣除比例为75%，无形资产成本摊销比例为175%；2016年1月1日至2017年12月31日，加计扣除比例为50%，无形资产成本摊销比例为150%。特殊行业规定：高新技术企业在2022年10月1日至2022年12月31日期间允许计入当期损益加计扣除100%；制造业企业自2021年1月日起研发费用加计扣除比例提高至100%，无形资产成本按照200%在税前摊销。</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《财政部 税务总局关于进一步完善研发费用税前加计扣除政策的公告》（财政部 税务总局公告2023年第7号）第一条、企业开展研发活动中实际发生的研发费用，未形成无形资产计入当期损益的，在按规定据实扣除的基础上，自2023年1月1日起，再按照实际发生额的100%在税前加计扣除;形成无形资产的，自2023年1月1日起，按照无形资产成本的200%在税前摊销。根据《财政部 税务总局 科技部关于提高研究开发费用税前加计扣除比例的通知》（财税〔2018〕99号）规定：一、企业开展研发活动中实际发生的研发费用，未形成无形资产计入当期损益的，在按规定据实扣除的基础上，在2018年1月1日至2020年12月31日期间，再按照实际发生额的75%在税前加计扣除；形成无形资产的，在上述期间按照无形资产成本的175%在税前摊销。，根据《财政部 税务总局关于延长部分税收优惠政策执行期限的公告》（财政部 税务总局公告2021年第6号）附件1，财税〔2018〕99号文件税收优惠政策执行期限延长至2023年12月31日。</a:t>
            </a:r>
          </a:p>
          <a:p>
            <a:pPr algn="just">
              <a:lnSpc>
                <a:spcPct val="125000"/>
              </a:lnSpc>
              <a:spcBef>
                <a:spcPts val="0"/>
              </a:spcBef>
              <a:spcAft>
                <a:spcPts val="0"/>
              </a:spcAft>
            </a:pPr>
            <a:r>
              <a:rPr sz="1400" b="0">
                <a:solidFill>
                  <a:srgbClr val="000000"/>
                </a:solidFill>
                <a:latin typeface="Microsoft YaHei"/>
              </a:rPr>
              <a:t>根据《财政部 国家税务总局 科技部关于完善研究开发费用税前加计扣除政策的通知》（财税〔2015〕119号）第一条第一款，允许加计扣除的研发费用。企业开展研发活动中实际发生的研发费用，未形成无形资产计入当期损益的，在按规定据实扣除的基础上，按照本年度实际发生额的50%，从本年度应纳税所得额中扣除；形成无形资产的，按照无形资产成本的150%在税前摊销。本通知自2016年1月1日起执行。</a:t>
            </a:r>
          </a:p>
          <a:p>
            <a:pPr algn="just">
              <a:lnSpc>
                <a:spcPct val="125000"/>
              </a:lnSpc>
              <a:spcBef>
                <a:spcPts val="0"/>
              </a:spcBef>
              <a:spcAft>
                <a:spcPts val="0"/>
              </a:spcAft>
            </a:pPr>
            <a:r>
              <a:rPr sz="1400" b="0">
                <a:solidFill>
                  <a:srgbClr val="000000"/>
                </a:solidFill>
                <a:latin typeface="Microsoft YaHei"/>
              </a:rPr>
              <a:t>根据《关于加大支持科技创新税前扣除力度的公告》（财政部税务总局 科技部公告2022年第28）一、高新技术企业在2022年10月1日至2022年12月31日期间新购置的设备、器具，允许当年一次性全额在计算应纳税所得额时扣除，并允许在税前实行100%加计扣除。根据《财政部 税务总局关于进一步完善研发费用税前加计扣除政策的公告》（财政部 税务总局公告2021年第13号）〔全文废止，但2021-2022年期间适用〕一、制造业企业开展研发活动中实际发生的研发费用，未形成无形资产计入当期损益的，在按规定据实扣除的基础上，自2021年1月1日起，再按照实际发生额的100%在税前加计扣除;形成无形资产的，自2021年1月1日起，按照无形资产成本的200%在税前摊销。</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研发费用和生产经营费用未分别核算导致无法进行所得税税前加计扣除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科学技术部关于完善研究开发费用税前加计扣除政策的通知》（财税〔2015〕119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2.企业应对研发费用和生产经营费用分别核算，准确、合理归集各项费用支出，对划分不清的，不得实行加计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资本性支出直接税前扣除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企业在生产经营过程中对资本性支出直接进行税前扣除，会产生多计支出，少缴税款的风险。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企业安置残疾人未达到法定标准即享受企业所得税加计扣除政策</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国家税务总局关于安置残疾人员就业有关企业所得税优惠政策问题的通知》（财税〔2009〕70号）的规定：三、企业享受安置残疾职工工资100%加计扣除应同时具备如下条件：</a:t>
            </a:r>
          </a:p>
          <a:p>
            <a:pPr algn="just">
              <a:lnSpc>
                <a:spcPct val="125000"/>
              </a:lnSpc>
              <a:spcBef>
                <a:spcPts val="0"/>
              </a:spcBef>
              <a:spcAft>
                <a:spcPts val="0"/>
              </a:spcAft>
            </a:pPr>
            <a:r>
              <a:rPr sz="1400" b="0">
                <a:solidFill>
                  <a:srgbClr val="000000"/>
                </a:solidFill>
                <a:latin typeface="Microsoft YaHei"/>
              </a:rPr>
              <a:t>（一）依法与安置的每位残疾人签订了1年以上（含1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just">
              <a:lnSpc>
                <a:spcPct val="125000"/>
              </a:lnSpc>
              <a:spcBef>
                <a:spcPts val="0"/>
              </a:spcBef>
              <a:spcAft>
                <a:spcPts val="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just">
              <a:lnSpc>
                <a:spcPct val="125000"/>
              </a:lnSpc>
              <a:spcBef>
                <a:spcPts val="0"/>
              </a:spcBef>
              <a:spcAft>
                <a:spcPts val="0"/>
              </a:spcAft>
            </a:pPr>
            <a:r>
              <a:rPr sz="1400" b="0">
                <a:solidFill>
                  <a:srgbClr val="000000"/>
                </a:solidFill>
                <a:latin typeface="Microsoft YaHei"/>
              </a:rPr>
              <a:t>（四）具备安置残疾人上岗工作的基本设施。</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固定资产大修理支出作为费用化支出在当期一次性扣除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同时符合下列条件的固定资产的大修理支出：修理支出达到取得固定资产时的计税基础50%以上；修理后固定资产的使用年限延长2年以上，在发生当期作为费用化支出一次性税前扣除，会减少当期应纳税所得额，产生补缴企业所得税并处罚金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六十九条：企业所得税法第十三条第（三）项所称固定资产的大修理支出，是指同时符合下列条件的支出：（一）修理支出达到取得固定资产时的计税基础50%以上；（二）修理后固定资产的使用年限延长2年以上。企业所得税法第十三条第（三）项规定的支出，按照固定资产尚可使用年限分期摊销。</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长期待摊费用支出摊销期限低于三年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条：企业所得税法第十三条第（四）项所称其他应当作为长期待摊费用的支出，自支出发生月份的次月起，分期摊销，摊销年限不得低于3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维简费支出属于资本性支出的作为当期费用扣除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维简费支出企业所得税税前扣除问题的公告》（国家税务总局公告2013年第67号）第一条规定：企业实际发生的维简费支出，属于收益性支出的，可作为当期费用税前扣除；属于资本性支出的，应计入有关资产成本，并按企业所得税法规定计提折旧或摊销费用在税前扣除。</a:t>
            </a:r>
          </a:p>
          <a:p>
            <a:pPr algn="just">
              <a:lnSpc>
                <a:spcPct val="125000"/>
              </a:lnSpc>
              <a:spcBef>
                <a:spcPts val="0"/>
              </a:spcBef>
              <a:spcAft>
                <a:spcPts val="0"/>
              </a:spcAft>
            </a:pPr>
            <a:r>
              <a:rPr sz="1400" b="0">
                <a:solidFill>
                  <a:srgbClr val="000000"/>
                </a:solidFill>
                <a:latin typeface="Microsoft YaHei"/>
              </a:rPr>
              <a:t>企业按照有关规定预提的维简费，不得在当期税前扣除。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作为资本性支出的维检费支出若在当期直接扣除则会减少当期应纳税额，产生补缴企业所得税的风险。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企业需要自查维检费支出的类别，预缴的维检费支出不得税前扣除。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停止使用的固定资产继续计提折旧</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企业在停止使用固定资产后，还继续对其计提折旧，通过虚增费用成本来少缴纳企业所得税的风险。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企业对固定资产采取的加速折旧方法随意变更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企业固定资产折旧方法确认后不得变更，否则会导致纳税年度内折旧额的不准确，计算应纳税所得额出现错误。</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固定资产加速折旧税收政策有关问题的公告》（国家税务总局公告2014年第64号）第五条规定：企业的固定资产采取加速折旧方法的，可以采用双倍余额递减法或者年数总和法。加速折旧方法一经确定，一般不得变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企业应及时进行核查，对不符合税法规定的项目进行纳税调整。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不征税收入形成资产折旧在税前扣除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专项用途财政性资金企业所得税处理问题的通知》（财税〔2011〕70号）的规定：二、根据实施条例第二十八条的规定，上述不征税收入用于支出所形成的费用，不得在计算应纳税所得额时扣除；用于支出所形成的资产，其计算的折旧、摊销不得在计算应纳税所得额时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实际资产损失与法定资产损失申报扣除年度有误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年第25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just">
              <a:lnSpc>
                <a:spcPct val="125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规定：一、企业向税务机关申报扣除资产损失，仅需填报企业所得税年度纳税申报表《资产损失税前扣除及纳税调整明细表》，不再报送资产损失相关资料。相关资料由企业留存备查。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未按照规定要求在合理年度进行申报税前扣除，影响纳税年度应纳税额。</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股权投资损失不满足规定条件即在税前扣除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资产损失税前扣除政策的通知》（财税〔2009〕57号）第六条规定：企业的股权投资符合下列条件之一的，减除可收回金额后确认的无法收回的股权投资，可以作为股权投资损失在计算应纳税所得额时扣除：</a:t>
            </a:r>
          </a:p>
          <a:p>
            <a:pPr algn="just">
              <a:lnSpc>
                <a:spcPct val="125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25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25000"/>
              </a:lnSpc>
              <a:spcBef>
                <a:spcPts val="0"/>
              </a:spcBef>
              <a:spcAft>
                <a:spcPts val="0"/>
              </a:spcAft>
            </a:pPr>
            <a:r>
              <a:rPr sz="1400" b="0">
                <a:solidFill>
                  <a:srgbClr val="000000"/>
                </a:solidFill>
                <a:latin typeface="Microsoft YaHei"/>
              </a:rPr>
              <a:t>（五）国务院财政、税务主管部门规定的其他条件。</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不符合股权投资不可收回条件进行税前扣除，面临风险，符合条件但未减除可收回金额，面临纳税调整的风险。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企业未能对权益性投资损失进行据实扣除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企业股权投资损失所得税处理问题的公告》（国家税务总局公告2010年第6号）的规定：企业对外进行权益性（以下简称“股权”）投资所发生的损失，在经确认的损失发生年度，作为企业损失在计算企业应纳税所得额时一次性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企业在生产经营过程中通过采取多扣损失从而达到少缴税款的目的，这在税法上是决不允许的。</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将境外营业机构资产损失用于境内企业税前扣除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境内企业计算应纳税所得额时扣除境外经营机构资产损失，未分别核算资产损失。</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资产损失税前扣除政策的通知》（财税〔2009〕57号）第十二条规定：企业境内、境外营业机构发生的资产损失应分开核算，对境外营业机构由于发生资产损失而产生的亏损，不得在计算境内应纳税所得额时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境内企业应纳税所得额的计算不得扣除境外经营机构的资产损失，违反规定需要重新调整，补缴税款的风险。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企业需要核查境外经营机构和境内企业的申报表，不得统一核算资产损失。</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坏账损失不满足规定条件即在税前扣除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企业除贷款类债权外的应收账款和预付账款，预期无法收回的可能性较小或者不满足条件则不得扣除。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企业在确认股权投资无法收回时需按规定进行扣除，若未减除可收回（财税〔2009〕57号）第四条规定：企业除贷款类债权外的应收、预付账款符合下列条件之一的，减除可收回金额后确认的无法收回的应收、预付款项，可以作为坏账损失在计算应纳税所得额时扣除：</a:t>
            </a:r>
          </a:p>
          <a:p>
            <a:pPr algn="just">
              <a:lnSpc>
                <a:spcPct val="125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25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25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25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企业坏账损失的税前扣除并不满足规定，从而减少了应纳税所得额，错误适用税收政策，面临进行调整的风险。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母子公司之间按照内部交易价格核算收入与费用</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一、母公司为其子公司（以下简称子公司）提供各种服务而发生的费用，应按照独立企业之间公平交易原则确定服务的价格，作为企业正常的劳务费用进行税务处理。</a:t>
            </a:r>
          </a:p>
          <a:p>
            <a:pPr algn="just">
              <a:lnSpc>
                <a:spcPct val="125000"/>
              </a:lnSpc>
              <a:spcBef>
                <a:spcPts val="0"/>
              </a:spcBef>
              <a:spcAft>
                <a:spcPts val="0"/>
              </a:spcAft>
            </a:pPr>
            <a:r>
              <a:rPr sz="1400" b="0">
                <a:solidFill>
                  <a:srgbClr val="000000"/>
                </a:solidFill>
                <a:latin typeface="Microsoft YaHei"/>
              </a:rPr>
              <a:t>母子公司未按照独立企业之间的业务往来收取价款的，税务机关有权予以调整。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子公司对支付给母公司的管理费进行税前扣除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母公司向子公司提取费用，子公司支付的管理费用在税前扣除，使应纳税所得额低于实际值，少缴企业所得税税款。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四、母公司以管理费形式向子公司提取费用，子公司因此支付给母公司的管理费，不得在税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母公司以管理费形式向子公司提取费用，子公司支付给母公司的管理费在税前扣除，导致少缴税款的风险。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子公司在计算应纳税所得额，进行所得税税前扣除时，如果存在扣除支付给母公司管理费的情况，企业及时进行调整纠正。</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错误核定接受关联方的债权性投资与其权益性投资比例，从而错误核算税前可扣除利息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5：1；</a:t>
            </a:r>
          </a:p>
          <a:p>
            <a:pPr algn="just">
              <a:lnSpc>
                <a:spcPct val="125000"/>
              </a:lnSpc>
              <a:spcBef>
                <a:spcPts val="0"/>
              </a:spcBef>
              <a:spcAft>
                <a:spcPts val="0"/>
              </a:spcAft>
            </a:pPr>
            <a:r>
              <a:rPr sz="1400" b="0">
                <a:solidFill>
                  <a:srgbClr val="000000"/>
                </a:solidFill>
                <a:latin typeface="Microsoft YaHei"/>
              </a:rPr>
              <a:t>（二）其他企业，为2：1。</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企业错误核算债权性投资与权益性投资比例，导致扣除利息支出不合规，少缴税款的风险。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总部期间费用纳税申报时全部分摊到高税率的东部地区扣除，未在适用优惠税率的西部地区摊销</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一百零二条规定：企业同时从事适用不同企业所得税待遇的项目的，其优惠项目应当单独计算所得，并合理分摊企业的期间费用。</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企业需核查共同负担的期间费用是否在不同税率的东、西部企业合理分摊。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企业购置并实际使用的环境保护、节能节水、安全生产等专用设备在5年内转让、出租的，错误享受税额抵免政策</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企业购置并实际使用的环境保护、节能节水、安全生产等专用设备在5年内转让、出租的，错误享受专用设备的投资额的10%的税额抵免政策，会减少当期应纳税所得额，产生补缴企业所得税的税务风险。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中华人民共和国国务院令第512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购置并实际使用的环境保护、节能节水、安全生产等专用设备在5年内转让、出租，应当停止享受企业所得税优惠，企业如错误享受专用设备的投资额的10%的税额抵免政策，导致少缴企业所得税，产生补缴税款并处罚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是否存在购置并实际使用的环境保护、节能节水、安全生产等专用设备在5年内转让、出租的，错误享受税额抵免政策的情况，若存在，立即停止享受企业所得税优惠，并补缴已经抵免的企业所得税税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企业未按照税法规定预缴税款。</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根据《中华人民共和国企业所得税法》（中华人民共和国主席令第六十三号）第五十四条的规定：</a:t>
            </a:r>
          </a:p>
          <a:p>
            <a:pPr algn="just">
              <a:lnSpc>
                <a:spcPct val="125000"/>
              </a:lnSpc>
              <a:spcBef>
                <a:spcPts val="0"/>
              </a:spcBef>
              <a:spcAft>
                <a:spcPts val="0"/>
              </a:spcAft>
            </a:pPr>
            <a:r>
              <a:rPr sz="1400" b="0">
                <a:solidFill>
                  <a:srgbClr val="000000"/>
                </a:solidFill>
                <a:latin typeface="Microsoft YaHei"/>
              </a:rPr>
              <a:t>企业所得税分月或者分季预缴。</a:t>
            </a:r>
          </a:p>
          <a:p>
            <a:pPr algn="just">
              <a:lnSpc>
                <a:spcPct val="125000"/>
              </a:lnSpc>
              <a:spcBef>
                <a:spcPts val="0"/>
              </a:spcBef>
              <a:spcAft>
                <a:spcPts val="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just">
              <a:lnSpc>
                <a:spcPct val="125000"/>
              </a:lnSpc>
              <a:spcBef>
                <a:spcPts val="0"/>
              </a:spcBef>
              <a:spcAft>
                <a:spcPts val="0"/>
              </a:spcAft>
            </a:pPr>
            <a:r>
              <a:rPr sz="1400" b="0">
                <a:solidFill>
                  <a:srgbClr val="000000"/>
                </a:solidFill>
                <a:latin typeface="Microsoft YaHei"/>
              </a:rPr>
              <a:t>根据《国家税务总局关于落实小型微利企业所得税优惠政策征管问题的公告》（国家税务总局公告2023年第6号）第七条的规定，小型微利企业所得税统一实行按季度预缴。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未按规定在被投资方作出利润分配决定时确认股息、红利收入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存在未及时确认收入、未按照规定时间申报享受优惠的风险。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将持有时间不足12个月的股票投资收益作为免税收入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连续12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12个月取得的投资收益。</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使用不征税收入的研发费用加计扣除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a:t>
            </a:r>
          </a:p>
          <a:p>
            <a:pPr algn="just">
              <a:lnSpc>
                <a:spcPct val="125000"/>
              </a:lnSpc>
              <a:spcBef>
                <a:spcPts val="0"/>
              </a:spcBef>
              <a:spcAft>
                <a:spcPts val="0"/>
              </a:spcAft>
            </a:pPr>
            <a:r>
              <a:rPr sz="1400" b="0">
                <a:solidFill>
                  <a:srgbClr val="000000"/>
                </a:solidFill>
                <a:latin typeface="Microsoft YaHei"/>
              </a:rPr>
              <a:t>（一）财政拨款；</a:t>
            </a:r>
          </a:p>
          <a:p>
            <a:pPr algn="just">
              <a:lnSpc>
                <a:spcPct val="125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25000"/>
              </a:lnSpc>
              <a:spcBef>
                <a:spcPts val="0"/>
              </a:spcBef>
              <a:spcAft>
                <a:spcPts val="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2017年第40号）第七条第一项的规定：企业取得的政府补助，会计处理时采用直接冲减研发费用方法且税务处理时未将其确认为应税收入的，应按冲减后的余额计算加计扣除金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存在将政府补助既按照不征税收入处理，同时又将对应研发费用进行加计扣除，少缴企业所得税风险。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专用设备转让、出租未按规定补缴税款</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购置并实际投入使用、已开始享受税收优惠的环境保护、节能节水、安全生产专用设备，从购置之日起5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just">
              <a:lnSpc>
                <a:spcPct val="125000"/>
              </a:lnSpc>
              <a:spcBef>
                <a:spcPts val="0"/>
              </a:spcBef>
              <a:spcAft>
                <a:spcPts val="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a:t>
            </a:r>
          </a:p>
          <a:p>
            <a:pPr algn="just">
              <a:lnSpc>
                <a:spcPct val="125000"/>
              </a:lnSpc>
              <a:spcBef>
                <a:spcPts val="0"/>
              </a:spcBef>
              <a:spcAft>
                <a:spcPts val="0"/>
              </a:spcAft>
            </a:pPr>
            <a:r>
              <a:rPr sz="1400" b="0">
                <a:solidFill>
                  <a:srgbClr val="000000"/>
                </a:solidFill>
                <a:latin typeface="Microsoft YaHei"/>
              </a:rPr>
              <a:t>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25000"/>
              </a:lnSpc>
              <a:spcBef>
                <a:spcPts val="0"/>
              </a:spcBef>
              <a:spcAft>
                <a:spcPts val="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号）第五条的规定：企业购置并实际投入适用、已开始享受税收优惠的专用设备，如从购置之日起5个纳税年度内转让、出租的，应在该专用设备停止使用当月停止享受企业所得税优惠，并补缴已经抵免的企业所得税税款。转让的受让方可以按照该专用设备投资额的10％抵免当年企业所得税应纳税额；当年应纳税额不足抵免的，可以在以后5个纳税年度结转抵免。</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存在未在该专用设备停止使用当月停止享受企业所得税优惠，补缴已经抵免的企业所得税税款的风险。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固定资产”“固定资产清理”“其他业务收入”“营业外收入”等科目明细及固定资产卡片，核实是否有在购置5年内将专用设备转让、出租的情况；查看专用设备购置的合同、清单、发票、《税额抵免优惠明细表》等材料，核实享受税收抵免的环境保护、节能节水、安全生产专用设备的明细，在购置5年内转让、出租的，是否已停止享受优惠并补缴已抵免企业所得税税款。</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开发产品完工后未及时、准确结转收入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just">
              <a:lnSpc>
                <a:spcPct val="125000"/>
              </a:lnSpc>
              <a:spcBef>
                <a:spcPts val="0"/>
              </a:spcBef>
              <a:spcAft>
                <a:spcPts val="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just">
              <a:lnSpc>
                <a:spcPct val="125000"/>
              </a:lnSpc>
              <a:spcBef>
                <a:spcPts val="0"/>
              </a:spcBef>
              <a:spcAft>
                <a:spcPts val="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just">
              <a:lnSpc>
                <a:spcPct val="125000"/>
              </a:lnSpc>
              <a:spcBef>
                <a:spcPts val="0"/>
              </a:spcBef>
              <a:spcAft>
                <a:spcPts val="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1.采取支付手续费方式委托销售开发产品的，应按销售合同或协议中约定的价款于收到受托方已销开发产品清单之日确认收入的实现。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3.采取基价（保底价）</a:t>
            </a:r>
          </a:p>
          <a:p>
            <a:pPr algn="just">
              <a:lnSpc>
                <a:spcPct val="125000"/>
              </a:lnSpc>
              <a:spcBef>
                <a:spcPts val="0"/>
              </a:spcBef>
              <a:spcAft>
                <a:spcPts val="0"/>
              </a:spcAft>
            </a:pPr>
            <a:r>
              <a:rPr sz="1400" b="0">
                <a:solidFill>
                  <a:srgbClr val="000000"/>
                </a:solidFill>
                <a:latin typeface="Microsoft YaHei"/>
              </a:rPr>
              <a:t>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4.采取包销方式委托销售开发产品的，包销期内可根据包销合同的有关约定，参照上述1至3项规定确认收入的实现；包销期满后尚未出售的开发产品，企业应根据包销合同或协议约定的价款和付款方式确认收入的实现。</a:t>
            </a:r>
          </a:p>
          <a:p>
            <a:pPr algn="just">
              <a:lnSpc>
                <a:spcPct val="125000"/>
              </a:lnSpc>
              <a:spcBef>
                <a:spcPts val="0"/>
              </a:spcBef>
              <a:spcAft>
                <a:spcPts val="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25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25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（二）由主管税务机关参照当地同类开发产品市场公允价值确定；（三）按开发产品的成本利润率确定。开发产品的成本利润率不得低于15%，具体比例由主管税务机关确定。第八条 企业销售未完工开发产品的计税毛利率由各省、自治、直辖市税务局按下列规定进行确定：</a:t>
            </a:r>
          </a:p>
          <a:p>
            <a:pPr algn="just">
              <a:lnSpc>
                <a:spcPct val="125000"/>
              </a:lnSpc>
              <a:spcBef>
                <a:spcPts val="0"/>
              </a:spcBef>
              <a:spcAft>
                <a:spcPts val="0"/>
              </a:spcAft>
            </a:pPr>
            <a:r>
              <a:rPr sz="1400" b="0">
                <a:solidFill>
                  <a:srgbClr val="000000"/>
                </a:solidFill>
                <a:latin typeface="Microsoft YaHei"/>
              </a:rPr>
              <a:t>（一）开发项目位于省、自治区、直辖市和计划单列市人民政府所在地城市城区和郊区的，不得低于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just">
              <a:lnSpc>
                <a:spcPct val="125000"/>
              </a:lnSpc>
              <a:spcBef>
                <a:spcPts val="0"/>
              </a:spcBef>
              <a:spcAft>
                <a:spcPts val="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将配套设施移交或无偿赠与地方政府、公用事业单位以外的其他单位，未视同销售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根据《中华人民共和国企业所得税法实施条例》第二十五条的规定：</a:t>
            </a:r>
          </a:p>
          <a:p>
            <a:pPr algn="just">
              <a:lnSpc>
                <a:spcPct val="125000"/>
              </a:lnSpc>
              <a:spcBef>
                <a:spcPts val="0"/>
              </a:spcBef>
              <a:spcAft>
                <a:spcPts val="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25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25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25000"/>
              </a:lnSpc>
              <a:spcBef>
                <a:spcPts val="0"/>
              </a:spcBef>
              <a:spcAft>
                <a:spcPts val="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just">
              <a:lnSpc>
                <a:spcPct val="125000"/>
              </a:lnSpc>
              <a:spcBef>
                <a:spcPts val="0"/>
              </a:spcBef>
              <a:spcAft>
                <a:spcPts val="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just">
              <a:lnSpc>
                <a:spcPct val="125000"/>
              </a:lnSpc>
              <a:spcBef>
                <a:spcPts val="0"/>
              </a:spcBef>
              <a:spcAft>
                <a:spcPts val="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符合收入确认条件，未按规定申报缴纳企业所得税，存在少缴企业所得税风险。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回迁安置房未视同销售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25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25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取得土地使用权时签订的协议，向原居民无偿转让回迁安置房，未按视同销售缴纳企业所得税，存在少缴税款风险。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收到土地出让金返还未按规定确认收入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25000"/>
              </a:lnSpc>
              <a:spcBef>
                <a:spcPts val="0"/>
              </a:spcBef>
              <a:spcAft>
                <a:spcPts val="0"/>
              </a:spcAft>
            </a:pPr>
            <a:r>
              <a:rPr sz="1400" b="0">
                <a:solidFill>
                  <a:srgbClr val="000000"/>
                </a:solidFill>
                <a:latin typeface="Microsoft YaHei"/>
              </a:rPr>
              <a:t>（一）销售货物收入；</a:t>
            </a:r>
          </a:p>
          <a:p>
            <a:pPr algn="just">
              <a:lnSpc>
                <a:spcPct val="125000"/>
              </a:lnSpc>
              <a:spcBef>
                <a:spcPts val="0"/>
              </a:spcBef>
              <a:spcAft>
                <a:spcPts val="0"/>
              </a:spcAft>
            </a:pPr>
            <a:r>
              <a:rPr sz="1400" b="0">
                <a:solidFill>
                  <a:srgbClr val="000000"/>
                </a:solidFill>
                <a:latin typeface="Microsoft YaHei"/>
              </a:rPr>
              <a:t>（二）提供劳务收入；</a:t>
            </a:r>
          </a:p>
          <a:p>
            <a:pPr algn="just">
              <a:lnSpc>
                <a:spcPct val="125000"/>
              </a:lnSpc>
              <a:spcBef>
                <a:spcPts val="0"/>
              </a:spcBef>
              <a:spcAft>
                <a:spcPts val="0"/>
              </a:spcAft>
            </a:pPr>
            <a:r>
              <a:rPr sz="1400" b="0">
                <a:solidFill>
                  <a:srgbClr val="000000"/>
                </a:solidFill>
                <a:latin typeface="Microsoft YaHei"/>
              </a:rPr>
              <a:t>（三）转让财产收入；</a:t>
            </a:r>
          </a:p>
          <a:p>
            <a:pPr algn="just">
              <a:lnSpc>
                <a:spcPct val="125000"/>
              </a:lnSpc>
              <a:spcBef>
                <a:spcPts val="0"/>
              </a:spcBef>
              <a:spcAft>
                <a:spcPts val="0"/>
              </a:spcAft>
            </a:pPr>
            <a:r>
              <a:rPr sz="1400" b="0">
                <a:solidFill>
                  <a:srgbClr val="000000"/>
                </a:solidFill>
                <a:latin typeface="Microsoft YaHei"/>
              </a:rPr>
              <a:t>（四）股息、红利等权益性投资收益；（五）利息收入；</a:t>
            </a:r>
          </a:p>
          <a:p>
            <a:pPr algn="just">
              <a:lnSpc>
                <a:spcPct val="125000"/>
              </a:lnSpc>
              <a:spcBef>
                <a:spcPts val="0"/>
              </a:spcBef>
              <a:spcAft>
                <a:spcPts val="0"/>
              </a:spcAft>
            </a:pPr>
            <a:r>
              <a:rPr sz="1400" b="0">
                <a:solidFill>
                  <a:srgbClr val="000000"/>
                </a:solidFill>
                <a:latin typeface="Microsoft YaHei"/>
              </a:rPr>
              <a:t>（六）租金收入；</a:t>
            </a:r>
          </a:p>
          <a:p>
            <a:pPr algn="just">
              <a:lnSpc>
                <a:spcPct val="125000"/>
              </a:lnSpc>
              <a:spcBef>
                <a:spcPts val="0"/>
              </a:spcBef>
              <a:spcAft>
                <a:spcPts val="0"/>
              </a:spcAft>
            </a:pPr>
            <a:r>
              <a:rPr sz="1400" b="0">
                <a:solidFill>
                  <a:srgbClr val="000000"/>
                </a:solidFill>
                <a:latin typeface="Microsoft YaHei"/>
              </a:rPr>
              <a:t>（七）特许权使用费收入；</a:t>
            </a:r>
          </a:p>
          <a:p>
            <a:pPr algn="just">
              <a:lnSpc>
                <a:spcPct val="125000"/>
              </a:lnSpc>
              <a:spcBef>
                <a:spcPts val="0"/>
              </a:spcBef>
              <a:spcAft>
                <a:spcPts val="0"/>
              </a:spcAft>
            </a:pPr>
            <a:r>
              <a:rPr sz="1400" b="0">
                <a:solidFill>
                  <a:srgbClr val="000000"/>
                </a:solidFill>
                <a:latin typeface="Microsoft YaHei"/>
              </a:rPr>
              <a:t>（八）接受捐赠收入；</a:t>
            </a:r>
          </a:p>
          <a:p>
            <a:pPr algn="just">
              <a:lnSpc>
                <a:spcPct val="125000"/>
              </a:lnSpc>
              <a:spcBef>
                <a:spcPts val="0"/>
              </a:spcBef>
              <a:spcAft>
                <a:spcPts val="0"/>
              </a:spcAft>
            </a:pPr>
            <a:r>
              <a:rPr sz="1400" b="0">
                <a:solidFill>
                  <a:srgbClr val="000000"/>
                </a:solidFill>
                <a:latin typeface="Microsoft YaHei"/>
              </a:rPr>
              <a:t>（九）其他收入。</a:t>
            </a:r>
          </a:p>
          <a:p>
            <a:pPr algn="just">
              <a:lnSpc>
                <a:spcPct val="125000"/>
              </a:lnSpc>
              <a:spcBef>
                <a:spcPts val="0"/>
              </a:spcBef>
              <a:spcAft>
                <a:spcPts val="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just">
              <a:lnSpc>
                <a:spcPct val="125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25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收到土地出让金返还未按规定确认收入，存在少缴企业所得税的风险。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预提费用未按规定处理</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根据《中华人民共和国企业所得税法》第八条的规定：</a:t>
            </a:r>
          </a:p>
          <a:p>
            <a:pPr algn="just">
              <a:lnSpc>
                <a:spcPct val="125000"/>
              </a:lnSpc>
              <a:spcBef>
                <a:spcPts val="0"/>
              </a:spcBef>
              <a:spcAft>
                <a:spcPts val="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号）第三十二条的规定：第三十二条 除以下几项预提（应付）费用外，计税成本均应为实际发生的成本。</a:t>
            </a:r>
          </a:p>
          <a:p>
            <a:pPr algn="just">
              <a:lnSpc>
                <a:spcPct val="125000"/>
              </a:lnSpc>
              <a:spcBef>
                <a:spcPts val="0"/>
              </a:spcBef>
              <a:spcAft>
                <a:spcPts val="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（一）出包工程未最终办理结算而未取得全额发票的，在证明资料充分的前提下，其发票不足金额可以预提，但最高不得超过合同总金额的10％。</a:t>
            </a:r>
          </a:p>
          <a:p>
            <a:pPr algn="just">
              <a:lnSpc>
                <a:spcPct val="125000"/>
              </a:lnSpc>
              <a:spcBef>
                <a:spcPts val="0"/>
              </a:spcBef>
              <a:spcAft>
                <a:spcPts val="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just">
              <a:lnSpc>
                <a:spcPct val="125000"/>
              </a:lnSpc>
              <a:spcBef>
                <a:spcPts val="0"/>
              </a:spcBef>
              <a:spcAft>
                <a:spcPts val="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对不符合税法规定的预提费用未按照规定进行纳税调整，存在少缴税款风险。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重复享受涉农贷款和中小企业贷款损失准备金与一般贷款损失准备金税前扣除政策</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2019年第85号）的规定执行的，不再适用《财政部国家税务总局关于金融企业贷款损失准备金企业所得税税前扣除有关政策的公告》（财政部税务总局公告2019年第86号）第一条至第四条的规定。存在针对涉农贷款和中小企业贷款按照“关注类、次级类、可疑类、损失类”各自对应计提比例计提准予税前扣除贷款损失准备，同时对“正常类”比照一般贷款按照1%计提贷款损失准备金并税前扣除，少缴纳企业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根据《财政部税务总局关于金融企业涉农贷款和中小企业贷款损失准备金税前扣除有关政策的公告》（财政部税务总局公告2019年第85号）的规定：</a:t>
            </a:r>
          </a:p>
          <a:p>
            <a:pPr algn="just">
              <a:lnSpc>
                <a:spcPct val="125000"/>
              </a:lnSpc>
              <a:spcBef>
                <a:spcPts val="0"/>
              </a:spcBef>
              <a:spcAft>
                <a:spcPts val="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2%；（二）次级类贷款，计提比例为25%；</a:t>
            </a:r>
          </a:p>
          <a:p>
            <a:pPr algn="just">
              <a:lnSpc>
                <a:spcPct val="125000"/>
              </a:lnSpc>
              <a:spcBef>
                <a:spcPts val="0"/>
              </a:spcBef>
              <a:spcAft>
                <a:spcPts val="0"/>
              </a:spcAft>
            </a:pPr>
            <a:r>
              <a:rPr sz="1400" b="0">
                <a:solidFill>
                  <a:srgbClr val="000000"/>
                </a:solidFill>
                <a:latin typeface="Microsoft YaHei"/>
              </a:rPr>
              <a:t>（三）可疑类贷款，计提比例为50%；（四）损失类贷款，计提比例为100%。二、本公告所称涉农贷款，是指《涉农贷款专项统计制度》（银发〔2007〕246号）统计的以下贷款：</a:t>
            </a:r>
          </a:p>
          <a:p>
            <a:pPr algn="just">
              <a:lnSpc>
                <a:spcPct val="125000"/>
              </a:lnSpc>
              <a:spcBef>
                <a:spcPts val="0"/>
              </a:spcBef>
              <a:spcAft>
                <a:spcPts val="0"/>
              </a:spcAft>
            </a:pPr>
            <a:r>
              <a:rPr sz="1400" b="0">
                <a:solidFill>
                  <a:srgbClr val="000000"/>
                </a:solidFill>
                <a:latin typeface="Microsoft YaHei"/>
              </a:rPr>
              <a:t>（一）农户贷款；</a:t>
            </a:r>
          </a:p>
          <a:p>
            <a:pPr algn="just">
              <a:lnSpc>
                <a:spcPct val="125000"/>
              </a:lnSpc>
              <a:spcBef>
                <a:spcPts val="0"/>
              </a:spcBef>
              <a:spcAft>
                <a:spcPts val="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just">
              <a:lnSpc>
                <a:spcPct val="125000"/>
              </a:lnSpc>
              <a:spcBef>
                <a:spcPts val="0"/>
              </a:spcBef>
              <a:spcAft>
                <a:spcPts val="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2亿元的企业的贷款。</a:t>
            </a:r>
          </a:p>
          <a:p>
            <a:pPr algn="just">
              <a:lnSpc>
                <a:spcPct val="125000"/>
              </a:lnSpc>
              <a:spcBef>
                <a:spcPts val="0"/>
              </a:spcBef>
              <a:spcAft>
                <a:spcPts val="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just">
              <a:lnSpc>
                <a:spcPct val="125000"/>
              </a:lnSpc>
              <a:spcBef>
                <a:spcPts val="0"/>
              </a:spcBef>
              <a:spcAft>
                <a:spcPts val="0"/>
              </a:spcAft>
            </a:pPr>
            <a:r>
              <a:rPr sz="1400" b="0">
                <a:solidFill>
                  <a:srgbClr val="000000"/>
                </a:solidFill>
                <a:latin typeface="Microsoft YaHei"/>
              </a:rPr>
              <a:t>根据《财政部国家税务总局关于金融企业贷款损失准备金企业所得税税前扣除有关政策的公告》（财政部税务总局公告2019年第86号）的规定：</a:t>
            </a:r>
          </a:p>
          <a:p>
            <a:pPr algn="just">
              <a:lnSpc>
                <a:spcPct val="125000"/>
              </a:lnSpc>
              <a:spcBef>
                <a:spcPts val="0"/>
              </a:spcBef>
              <a:spcAft>
                <a:spcPts val="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just">
              <a:lnSpc>
                <a:spcPct val="125000"/>
              </a:lnSpc>
              <a:spcBef>
                <a:spcPts val="0"/>
              </a:spcBef>
              <a:spcAft>
                <a:spcPts val="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just">
              <a:lnSpc>
                <a:spcPct val="125000"/>
              </a:lnSpc>
              <a:spcBef>
                <a:spcPts val="0"/>
              </a:spcBef>
              <a:spcAft>
                <a:spcPts val="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just">
              <a:lnSpc>
                <a:spcPct val="125000"/>
              </a:lnSpc>
              <a:spcBef>
                <a:spcPts val="0"/>
              </a:spcBef>
              <a:spcAft>
                <a:spcPts val="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85号）的规定执行的，不再适用本公告第一条至第四条的规定。根据《财政部税务总局关于延长部分税收优惠政策执行期限的公告》（财政部税务总局公告2021年第6号）的规定：四、《财政部 国家税务总局关于保险公司准备金支出企业所得税税前扣除有关政策问题的通知》（财税〔2016〕114号）等6个文件规定的准备金企业所得税税前扣除政策到期后继续执行，详见附件2。</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未按照类别计提比例扣除贷款损失准备，存在少缴纳企业所得税的风险。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取得的各项补贴收入未确认当期收入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根据《中华人民共和国企业所得税法》第七条的规定：收入总额中的下列收入为不征税收入：（一）财政拨款；</a:t>
            </a:r>
          </a:p>
          <a:p>
            <a:pPr algn="just">
              <a:lnSpc>
                <a:spcPct val="125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just">
              <a:lnSpc>
                <a:spcPct val="125000"/>
              </a:lnSpc>
              <a:spcBef>
                <a:spcPts val="0"/>
              </a:spcBef>
              <a:spcAft>
                <a:spcPts val="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25000"/>
              </a:lnSpc>
              <a:spcBef>
                <a:spcPts val="0"/>
              </a:spcBef>
              <a:spcAft>
                <a:spcPts val="0"/>
              </a:spcAft>
            </a:pPr>
            <a:r>
              <a:rPr sz="1400" b="0">
                <a:solidFill>
                  <a:srgbClr val="000000"/>
                </a:solidFill>
                <a:latin typeface="Microsoft YaHei"/>
              </a:rPr>
              <a:t>根据《财政部国家税务总局关于专项用途财政性资金企业所得税处理问题的通知》（财税〔2011〕70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25000"/>
              </a:lnSpc>
              <a:spcBef>
                <a:spcPts val="0"/>
              </a:spcBef>
              <a:spcAft>
                <a:spcPts val="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25000"/>
              </a:lnSpc>
              <a:spcBef>
                <a:spcPts val="0"/>
              </a:spcBef>
              <a:spcAft>
                <a:spcPts val="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just">
              <a:lnSpc>
                <a:spcPct val="125000"/>
              </a:lnSpc>
              <a:spcBef>
                <a:spcPts val="0"/>
              </a:spcBef>
              <a:spcAft>
                <a:spcPts val="0"/>
              </a:spcAft>
            </a:pPr>
            <a:r>
              <a:rPr sz="1400" b="0">
                <a:solidFill>
                  <a:srgbClr val="000000"/>
                </a:solidFill>
                <a:latin typeface="Microsoft YaHei"/>
              </a:rPr>
              <a:t>对财政性资金、行政事业性收费、政府性基金有关企业所得税政策问题明确如下：</a:t>
            </a:r>
          </a:p>
          <a:p>
            <a:pPr algn="just">
              <a:lnSpc>
                <a:spcPct val="125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25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25000"/>
              </a:lnSpc>
              <a:spcBef>
                <a:spcPts val="0"/>
              </a:spcBef>
              <a:spcAft>
                <a:spcPts val="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just">
              <a:lnSpc>
                <a:spcPct val="125000"/>
              </a:lnSpc>
              <a:spcBef>
                <a:spcPts val="0"/>
              </a:spcBef>
              <a:spcAft>
                <a:spcPts val="0"/>
              </a:spcAft>
            </a:pPr>
            <a:r>
              <a:rPr sz="1400" b="0">
                <a:solidFill>
                  <a:srgbClr val="000000"/>
                </a:solidFill>
                <a:latin typeface="Microsoft YaHei"/>
              </a:rPr>
              <a:t>企业缴纳的不符合上述审批管理权限设立的基金、收费，不得在计算应纳税所得额时扣除。</a:t>
            </a:r>
          </a:p>
          <a:p>
            <a:pPr algn="just">
              <a:lnSpc>
                <a:spcPct val="125000"/>
              </a:lnSpc>
              <a:spcBef>
                <a:spcPts val="0"/>
              </a:spcBef>
              <a:spcAft>
                <a:spcPts val="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just">
              <a:lnSpc>
                <a:spcPct val="125000"/>
              </a:lnSpc>
              <a:spcBef>
                <a:spcPts val="0"/>
              </a:spcBef>
              <a:spcAft>
                <a:spcPts val="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资产处置未申报缴纳企业所得税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变卖处置自己使用过的固定资产或其他资产未确认收入。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just">
              <a:lnSpc>
                <a:spcPct val="125000"/>
              </a:lnSpc>
              <a:spcBef>
                <a:spcPts val="0"/>
              </a:spcBef>
              <a:spcAft>
                <a:spcPts val="0"/>
              </a:spcAft>
            </a:pPr>
            <a:r>
              <a:rPr sz="1400" b="0">
                <a:solidFill>
                  <a:srgbClr val="000000"/>
                </a:solidFill>
                <a:latin typeface="Microsoft YaHei"/>
              </a:rPr>
              <a:t>（一）销售货物收入；</a:t>
            </a:r>
          </a:p>
          <a:p>
            <a:pPr algn="just">
              <a:lnSpc>
                <a:spcPct val="125000"/>
              </a:lnSpc>
              <a:spcBef>
                <a:spcPts val="0"/>
              </a:spcBef>
              <a:spcAft>
                <a:spcPts val="0"/>
              </a:spcAft>
            </a:pPr>
            <a:r>
              <a:rPr sz="1400" b="0">
                <a:solidFill>
                  <a:srgbClr val="000000"/>
                </a:solidFill>
                <a:latin typeface="Microsoft YaHei"/>
              </a:rPr>
              <a:t>（二）提供劳务收入；</a:t>
            </a:r>
          </a:p>
          <a:p>
            <a:pPr algn="just">
              <a:lnSpc>
                <a:spcPct val="125000"/>
              </a:lnSpc>
              <a:spcBef>
                <a:spcPts val="0"/>
              </a:spcBef>
              <a:spcAft>
                <a:spcPts val="0"/>
              </a:spcAft>
            </a:pPr>
            <a:r>
              <a:rPr sz="1400" b="0">
                <a:solidFill>
                  <a:srgbClr val="000000"/>
                </a:solidFill>
                <a:latin typeface="Microsoft YaHei"/>
              </a:rPr>
              <a:t>（三）转让财产收入；</a:t>
            </a:r>
          </a:p>
          <a:p>
            <a:pPr algn="just">
              <a:lnSpc>
                <a:spcPct val="125000"/>
              </a:lnSpc>
              <a:spcBef>
                <a:spcPts val="0"/>
              </a:spcBef>
              <a:spcAft>
                <a:spcPts val="0"/>
              </a:spcAft>
            </a:pPr>
            <a:r>
              <a:rPr sz="1400" b="0">
                <a:solidFill>
                  <a:srgbClr val="000000"/>
                </a:solidFill>
                <a:latin typeface="Microsoft YaHei"/>
              </a:rPr>
              <a:t>（四）股息、红利等权益性投资收益；（五）利息收入；</a:t>
            </a:r>
          </a:p>
          <a:p>
            <a:pPr algn="just">
              <a:lnSpc>
                <a:spcPct val="125000"/>
              </a:lnSpc>
              <a:spcBef>
                <a:spcPts val="0"/>
              </a:spcBef>
              <a:spcAft>
                <a:spcPts val="0"/>
              </a:spcAft>
            </a:pPr>
            <a:r>
              <a:rPr sz="1400" b="0">
                <a:solidFill>
                  <a:srgbClr val="000000"/>
                </a:solidFill>
                <a:latin typeface="Microsoft YaHei"/>
              </a:rPr>
              <a:t>（六）租金收入；</a:t>
            </a:r>
          </a:p>
          <a:p>
            <a:pPr algn="just">
              <a:lnSpc>
                <a:spcPct val="125000"/>
              </a:lnSpc>
              <a:spcBef>
                <a:spcPts val="0"/>
              </a:spcBef>
              <a:spcAft>
                <a:spcPts val="0"/>
              </a:spcAft>
            </a:pPr>
            <a:r>
              <a:rPr sz="1400" b="0">
                <a:solidFill>
                  <a:srgbClr val="000000"/>
                </a:solidFill>
                <a:latin typeface="Microsoft YaHei"/>
              </a:rPr>
              <a:t>（七）特许权使用费收入；</a:t>
            </a:r>
          </a:p>
          <a:p>
            <a:pPr algn="just">
              <a:lnSpc>
                <a:spcPct val="125000"/>
              </a:lnSpc>
              <a:spcBef>
                <a:spcPts val="0"/>
              </a:spcBef>
              <a:spcAft>
                <a:spcPts val="0"/>
              </a:spcAft>
            </a:pPr>
            <a:r>
              <a:rPr sz="1400" b="0">
                <a:solidFill>
                  <a:srgbClr val="000000"/>
                </a:solidFill>
                <a:latin typeface="Microsoft YaHei"/>
              </a:rPr>
              <a:t>（八）接受捐赠收入；</a:t>
            </a:r>
          </a:p>
          <a:p>
            <a:pPr algn="just">
              <a:lnSpc>
                <a:spcPct val="125000"/>
              </a:lnSpc>
              <a:spcBef>
                <a:spcPts val="0"/>
              </a:spcBef>
              <a:spcAft>
                <a:spcPts val="0"/>
              </a:spcAft>
            </a:pPr>
            <a:r>
              <a:rPr sz="1400" b="0">
                <a:solidFill>
                  <a:srgbClr val="000000"/>
                </a:solidFill>
                <a:latin typeface="Microsoft YaHei"/>
              </a:rPr>
              <a:t>（九）其他收入。</a:t>
            </a:r>
          </a:p>
          <a:p>
            <a:pPr algn="just">
              <a:lnSpc>
                <a:spcPct val="125000"/>
              </a:lnSpc>
              <a:spcBef>
                <a:spcPts val="0"/>
              </a:spcBef>
              <a:spcAft>
                <a:spcPts val="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变卖处置自己使用过的固定资产或其他资产未确认收入，可能会产生补缴税款以及缴纳滞纳金罚款的风险。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不予返还的质保金、保证金未确认收入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25000"/>
              </a:lnSpc>
              <a:spcBef>
                <a:spcPts val="0"/>
              </a:spcBef>
              <a:spcAft>
                <a:spcPts val="0"/>
              </a:spcAft>
            </a:pPr>
            <a:r>
              <a:rPr sz="1400" b="0">
                <a:solidFill>
                  <a:srgbClr val="000000"/>
                </a:solidFill>
                <a:latin typeface="Microsoft YaHei"/>
              </a:rPr>
              <a:t>（一）销售货物收入；</a:t>
            </a:r>
          </a:p>
          <a:p>
            <a:pPr algn="just">
              <a:lnSpc>
                <a:spcPct val="125000"/>
              </a:lnSpc>
              <a:spcBef>
                <a:spcPts val="0"/>
              </a:spcBef>
              <a:spcAft>
                <a:spcPts val="0"/>
              </a:spcAft>
            </a:pPr>
            <a:r>
              <a:rPr sz="1400" b="0">
                <a:solidFill>
                  <a:srgbClr val="000000"/>
                </a:solidFill>
                <a:latin typeface="Microsoft YaHei"/>
              </a:rPr>
              <a:t>（二）提供劳务收入；</a:t>
            </a:r>
          </a:p>
          <a:p>
            <a:pPr algn="just">
              <a:lnSpc>
                <a:spcPct val="125000"/>
              </a:lnSpc>
              <a:spcBef>
                <a:spcPts val="0"/>
              </a:spcBef>
              <a:spcAft>
                <a:spcPts val="0"/>
              </a:spcAft>
            </a:pPr>
            <a:r>
              <a:rPr sz="1400" b="0">
                <a:solidFill>
                  <a:srgbClr val="000000"/>
                </a:solidFill>
                <a:latin typeface="Microsoft YaHei"/>
              </a:rPr>
              <a:t>（三）转让财产收入；</a:t>
            </a:r>
          </a:p>
          <a:p>
            <a:pPr algn="just">
              <a:lnSpc>
                <a:spcPct val="125000"/>
              </a:lnSpc>
              <a:spcBef>
                <a:spcPts val="0"/>
              </a:spcBef>
              <a:spcAft>
                <a:spcPts val="0"/>
              </a:spcAft>
            </a:pPr>
            <a:r>
              <a:rPr sz="1400" b="0">
                <a:solidFill>
                  <a:srgbClr val="000000"/>
                </a:solidFill>
                <a:latin typeface="Microsoft YaHei"/>
              </a:rPr>
              <a:t>（四）股息、红利等权益性投资收益；（五）利息收入；</a:t>
            </a:r>
          </a:p>
          <a:p>
            <a:pPr algn="just">
              <a:lnSpc>
                <a:spcPct val="125000"/>
              </a:lnSpc>
              <a:spcBef>
                <a:spcPts val="0"/>
              </a:spcBef>
              <a:spcAft>
                <a:spcPts val="0"/>
              </a:spcAft>
            </a:pPr>
            <a:r>
              <a:rPr sz="1400" b="0">
                <a:solidFill>
                  <a:srgbClr val="000000"/>
                </a:solidFill>
                <a:latin typeface="Microsoft YaHei"/>
              </a:rPr>
              <a:t>（六）租金收入；</a:t>
            </a:r>
          </a:p>
          <a:p>
            <a:pPr algn="just">
              <a:lnSpc>
                <a:spcPct val="125000"/>
              </a:lnSpc>
              <a:spcBef>
                <a:spcPts val="0"/>
              </a:spcBef>
              <a:spcAft>
                <a:spcPts val="0"/>
              </a:spcAft>
            </a:pPr>
            <a:r>
              <a:rPr sz="1400" b="0">
                <a:solidFill>
                  <a:srgbClr val="000000"/>
                </a:solidFill>
                <a:latin typeface="Microsoft YaHei"/>
              </a:rPr>
              <a:t>（七）特许权使用费收入；</a:t>
            </a:r>
          </a:p>
          <a:p>
            <a:pPr algn="just">
              <a:lnSpc>
                <a:spcPct val="125000"/>
              </a:lnSpc>
              <a:spcBef>
                <a:spcPts val="0"/>
              </a:spcBef>
              <a:spcAft>
                <a:spcPts val="0"/>
              </a:spcAft>
            </a:pPr>
            <a:r>
              <a:rPr sz="1400" b="0">
                <a:solidFill>
                  <a:srgbClr val="000000"/>
                </a:solidFill>
                <a:latin typeface="Microsoft YaHei"/>
              </a:rPr>
              <a:t>（八）接受捐赠收入；</a:t>
            </a:r>
          </a:p>
          <a:p>
            <a:pPr algn="just">
              <a:lnSpc>
                <a:spcPct val="125000"/>
              </a:lnSpc>
              <a:spcBef>
                <a:spcPts val="0"/>
              </a:spcBef>
              <a:spcAft>
                <a:spcPts val="0"/>
              </a:spcAft>
            </a:pPr>
            <a:r>
              <a:rPr sz="1400" b="0">
                <a:solidFill>
                  <a:srgbClr val="000000"/>
                </a:solidFill>
                <a:latin typeface="Microsoft YaHei"/>
              </a:rPr>
              <a:t>（九）其他收入。</a:t>
            </a:r>
          </a:p>
          <a:p>
            <a:pPr algn="just">
              <a:lnSpc>
                <a:spcPct val="125000"/>
              </a:lnSpc>
              <a:spcBef>
                <a:spcPts val="0"/>
              </a:spcBef>
              <a:spcAft>
                <a:spcPts val="0"/>
              </a:spcAft>
            </a:pPr>
            <a:r>
              <a:rPr sz="1400" b="0">
                <a:solidFill>
                  <a:srgbClr val="000000"/>
                </a:solidFill>
                <a:latin typeface="Microsoft YaHei"/>
              </a:rPr>
              <a:t>根据《中华人民共和国企业所得税法实施条例》第二十二条的规定：</a:t>
            </a:r>
          </a:p>
          <a:p>
            <a:pPr algn="just">
              <a:lnSpc>
                <a:spcPct val="125000"/>
              </a:lnSpc>
              <a:spcBef>
                <a:spcPts val="0"/>
              </a:spcBef>
              <a:spcAft>
                <a:spcPts val="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公允价值变动损益未按规定进行纳税调整。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以公允价值计量的金融资产、金融负债以及投资性房地产等，持有期间公允价值变动不计入应纳税所得额。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25000"/>
              </a:lnSpc>
              <a:spcBef>
                <a:spcPts val="0"/>
              </a:spcBef>
              <a:spcAft>
                <a:spcPts val="0"/>
              </a:spcAft>
            </a:pPr>
            <a:r>
              <a:rPr sz="1400" b="0">
                <a:solidFill>
                  <a:srgbClr val="000000"/>
                </a:solidFill>
                <a:latin typeface="Microsoft YaHei"/>
              </a:rPr>
              <a:t>（一）销售货物收入；</a:t>
            </a:r>
          </a:p>
          <a:p>
            <a:pPr algn="just">
              <a:lnSpc>
                <a:spcPct val="125000"/>
              </a:lnSpc>
              <a:spcBef>
                <a:spcPts val="0"/>
              </a:spcBef>
              <a:spcAft>
                <a:spcPts val="0"/>
              </a:spcAft>
            </a:pPr>
            <a:r>
              <a:rPr sz="1400" b="0">
                <a:solidFill>
                  <a:srgbClr val="000000"/>
                </a:solidFill>
                <a:latin typeface="Microsoft YaHei"/>
              </a:rPr>
              <a:t>（二）提供劳务收入；</a:t>
            </a:r>
          </a:p>
          <a:p>
            <a:pPr algn="just">
              <a:lnSpc>
                <a:spcPct val="125000"/>
              </a:lnSpc>
              <a:spcBef>
                <a:spcPts val="0"/>
              </a:spcBef>
              <a:spcAft>
                <a:spcPts val="0"/>
              </a:spcAft>
            </a:pPr>
            <a:r>
              <a:rPr sz="1400" b="0">
                <a:solidFill>
                  <a:srgbClr val="000000"/>
                </a:solidFill>
                <a:latin typeface="Microsoft YaHei"/>
              </a:rPr>
              <a:t>（三）转让财产收入；</a:t>
            </a:r>
          </a:p>
          <a:p>
            <a:pPr algn="just">
              <a:lnSpc>
                <a:spcPct val="125000"/>
              </a:lnSpc>
              <a:spcBef>
                <a:spcPts val="0"/>
              </a:spcBef>
              <a:spcAft>
                <a:spcPts val="0"/>
              </a:spcAft>
            </a:pPr>
            <a:r>
              <a:rPr sz="1400" b="0">
                <a:solidFill>
                  <a:srgbClr val="000000"/>
                </a:solidFill>
                <a:latin typeface="Microsoft YaHei"/>
              </a:rPr>
              <a:t>（四）股息、红利等权益性投资收益；（五）利息收入；</a:t>
            </a:r>
          </a:p>
          <a:p>
            <a:pPr algn="just">
              <a:lnSpc>
                <a:spcPct val="125000"/>
              </a:lnSpc>
              <a:spcBef>
                <a:spcPts val="0"/>
              </a:spcBef>
              <a:spcAft>
                <a:spcPts val="0"/>
              </a:spcAft>
            </a:pPr>
            <a:r>
              <a:rPr sz="1400" b="0">
                <a:solidFill>
                  <a:srgbClr val="000000"/>
                </a:solidFill>
                <a:latin typeface="Microsoft YaHei"/>
              </a:rPr>
              <a:t>（六）租金收入；</a:t>
            </a:r>
          </a:p>
          <a:p>
            <a:pPr algn="just">
              <a:lnSpc>
                <a:spcPct val="125000"/>
              </a:lnSpc>
              <a:spcBef>
                <a:spcPts val="0"/>
              </a:spcBef>
              <a:spcAft>
                <a:spcPts val="0"/>
              </a:spcAft>
            </a:pPr>
            <a:r>
              <a:rPr sz="1400" b="0">
                <a:solidFill>
                  <a:srgbClr val="000000"/>
                </a:solidFill>
                <a:latin typeface="Microsoft YaHei"/>
              </a:rPr>
              <a:t>（七）特许权使用费收入；</a:t>
            </a:r>
          </a:p>
          <a:p>
            <a:pPr algn="just">
              <a:lnSpc>
                <a:spcPct val="125000"/>
              </a:lnSpc>
              <a:spcBef>
                <a:spcPts val="0"/>
              </a:spcBef>
              <a:spcAft>
                <a:spcPts val="0"/>
              </a:spcAft>
            </a:pPr>
            <a:r>
              <a:rPr sz="1400" b="0">
                <a:solidFill>
                  <a:srgbClr val="000000"/>
                </a:solidFill>
                <a:latin typeface="Microsoft YaHei"/>
              </a:rPr>
              <a:t>（八）接受捐赠收入；</a:t>
            </a:r>
          </a:p>
          <a:p>
            <a:pPr algn="just">
              <a:lnSpc>
                <a:spcPct val="125000"/>
              </a:lnSpc>
              <a:spcBef>
                <a:spcPts val="0"/>
              </a:spcBef>
              <a:spcAft>
                <a:spcPts val="0"/>
              </a:spcAft>
            </a:pPr>
            <a:r>
              <a:rPr sz="1400" b="0">
                <a:solidFill>
                  <a:srgbClr val="000000"/>
                </a:solidFill>
                <a:latin typeface="Microsoft YaHei"/>
              </a:rPr>
              <a:t>（九）其他收入。</a:t>
            </a:r>
          </a:p>
          <a:p>
            <a:pPr algn="just">
              <a:lnSpc>
                <a:spcPct val="125000"/>
              </a:lnSpc>
              <a:spcBef>
                <a:spcPts val="0"/>
              </a:spcBef>
              <a:spcAft>
                <a:spcPts val="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just">
              <a:lnSpc>
                <a:spcPct val="125000"/>
              </a:lnSpc>
              <a:spcBef>
                <a:spcPts val="0"/>
              </a:spcBef>
              <a:spcAft>
                <a:spcPts val="0"/>
              </a:spcAft>
            </a:pPr>
            <a:r>
              <a:rPr sz="1400" b="0">
                <a:solidFill>
                  <a:srgbClr val="000000"/>
                </a:solidFill>
                <a:latin typeface="Microsoft YaHei"/>
              </a:rPr>
              <a:t>第三十条 企业的下列支出，可以在计算应纳税所得额时加计扣除：</a:t>
            </a:r>
          </a:p>
          <a:p>
            <a:pPr algn="just">
              <a:lnSpc>
                <a:spcPct val="125000"/>
              </a:lnSpc>
              <a:spcBef>
                <a:spcPts val="0"/>
              </a:spcBef>
              <a:spcAft>
                <a:spcPts val="0"/>
              </a:spcAft>
            </a:pPr>
            <a:r>
              <a:rPr sz="1400" b="0">
                <a:solidFill>
                  <a:srgbClr val="000000"/>
                </a:solidFill>
                <a:latin typeface="Microsoft YaHei"/>
              </a:rPr>
              <a:t>（一）开发新技术、新产品、新工艺发生的研究开发费用；（二）安置残疾人员及国家鼓励安置的其他就业人员所支付的工资。</a:t>
            </a:r>
          </a:p>
          <a:p>
            <a:pPr algn="just">
              <a:lnSpc>
                <a:spcPct val="125000"/>
              </a:lnSpc>
              <a:spcBef>
                <a:spcPts val="0"/>
              </a:spcBef>
              <a:spcAft>
                <a:spcPts val="0"/>
              </a:spcAft>
            </a:pPr>
            <a:r>
              <a:rPr sz="1400" b="0">
                <a:solidFill>
                  <a:srgbClr val="000000"/>
                </a:solidFill>
                <a:latin typeface="Microsoft YaHei"/>
              </a:rPr>
              <a:t>第三十二条 企业的固定资产由于技术进步等原因，确需加速折旧的，可以缩短折旧年限或者采取加速折旧的方法。</a:t>
            </a:r>
          </a:p>
          <a:p>
            <a:pPr algn="just">
              <a:lnSpc>
                <a:spcPct val="125000"/>
              </a:lnSpc>
              <a:spcBef>
                <a:spcPts val="0"/>
              </a:spcBef>
              <a:spcAft>
                <a:spcPts val="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法人合伙人未申报合伙企业当年留存收益</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合伙企业未分配留存收益，法人合伙人未按应分配比例申报留存收益。</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根据《财政部国家税务总局关于合伙企业合伙人所得税问题的通知》财税〔2008〕159号的规定：</a:t>
            </a:r>
          </a:p>
          <a:p>
            <a:pPr algn="just">
              <a:lnSpc>
                <a:spcPct val="125000"/>
              </a:lnSpc>
              <a:spcBef>
                <a:spcPts val="0"/>
              </a:spcBef>
              <a:spcAft>
                <a:spcPts val="0"/>
              </a:spcAft>
            </a:pPr>
            <a:r>
              <a:rPr sz="1400" b="0">
                <a:solidFill>
                  <a:srgbClr val="000000"/>
                </a:solidFill>
                <a:latin typeface="Microsoft YaHei"/>
              </a:rPr>
              <a:t>合伙企业合伙人的所得税问题通知如下：一、本通知所称合伙企业是指依照中国法律、行政法规成立的合伙企业。</a:t>
            </a:r>
          </a:p>
          <a:p>
            <a:pPr algn="just">
              <a:lnSpc>
                <a:spcPct val="125000"/>
              </a:lnSpc>
              <a:spcBef>
                <a:spcPts val="0"/>
              </a:spcBef>
              <a:spcAft>
                <a:spcPts val="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just">
              <a:lnSpc>
                <a:spcPct val="125000"/>
              </a:lnSpc>
              <a:spcBef>
                <a:spcPts val="0"/>
              </a:spcBef>
              <a:spcAft>
                <a:spcPts val="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号）及《财政部国家税务总局关于调整个体工商户个人独资企业和合伙企业个人所得税税前扣除标准有关问题的通知》（财税[2008]65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just">
              <a:lnSpc>
                <a:spcPct val="125000"/>
              </a:lnSpc>
              <a:spcBef>
                <a:spcPts val="0"/>
              </a:spcBef>
              <a:spcAft>
                <a:spcPts val="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法人合伙人对合伙企业当年的留存收益未进行纳税申报，导致少缴企业所得税。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利息收入未按照合同约定债务人应付利息日期确认收入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债权性投资取得利息收入，未按照合同约定的债务人应付利息的日期确认收入的实现的情况。</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25000"/>
              </a:lnSpc>
              <a:spcBef>
                <a:spcPts val="0"/>
              </a:spcBef>
              <a:spcAft>
                <a:spcPts val="0"/>
              </a:spcAft>
            </a:pPr>
            <a:r>
              <a:rPr sz="1400" b="0">
                <a:solidFill>
                  <a:srgbClr val="000000"/>
                </a:solidFill>
                <a:latin typeface="Microsoft YaHei"/>
              </a:rPr>
              <a:t>（一）销售货物收入；</a:t>
            </a:r>
          </a:p>
          <a:p>
            <a:pPr algn="just">
              <a:lnSpc>
                <a:spcPct val="125000"/>
              </a:lnSpc>
              <a:spcBef>
                <a:spcPts val="0"/>
              </a:spcBef>
              <a:spcAft>
                <a:spcPts val="0"/>
              </a:spcAft>
            </a:pPr>
            <a:r>
              <a:rPr sz="1400" b="0">
                <a:solidFill>
                  <a:srgbClr val="000000"/>
                </a:solidFill>
                <a:latin typeface="Microsoft YaHei"/>
              </a:rPr>
              <a:t>（二）提供劳务收入；</a:t>
            </a:r>
          </a:p>
          <a:p>
            <a:pPr algn="just">
              <a:lnSpc>
                <a:spcPct val="125000"/>
              </a:lnSpc>
              <a:spcBef>
                <a:spcPts val="0"/>
              </a:spcBef>
              <a:spcAft>
                <a:spcPts val="0"/>
              </a:spcAft>
            </a:pPr>
            <a:r>
              <a:rPr sz="1400" b="0">
                <a:solidFill>
                  <a:srgbClr val="000000"/>
                </a:solidFill>
                <a:latin typeface="Microsoft YaHei"/>
              </a:rPr>
              <a:t>（三）转让财产收入；</a:t>
            </a:r>
          </a:p>
          <a:p>
            <a:pPr algn="just">
              <a:lnSpc>
                <a:spcPct val="125000"/>
              </a:lnSpc>
              <a:spcBef>
                <a:spcPts val="0"/>
              </a:spcBef>
              <a:spcAft>
                <a:spcPts val="0"/>
              </a:spcAft>
            </a:pPr>
            <a:r>
              <a:rPr sz="1400" b="0">
                <a:solidFill>
                  <a:srgbClr val="000000"/>
                </a:solidFill>
                <a:latin typeface="Microsoft YaHei"/>
              </a:rPr>
              <a:t>（四）股息、红利等权益性投资收益；（五）利息收入；</a:t>
            </a:r>
          </a:p>
          <a:p>
            <a:pPr algn="just">
              <a:lnSpc>
                <a:spcPct val="125000"/>
              </a:lnSpc>
              <a:spcBef>
                <a:spcPts val="0"/>
              </a:spcBef>
              <a:spcAft>
                <a:spcPts val="0"/>
              </a:spcAft>
            </a:pPr>
            <a:r>
              <a:rPr sz="1400" b="0">
                <a:solidFill>
                  <a:srgbClr val="000000"/>
                </a:solidFill>
                <a:latin typeface="Microsoft YaHei"/>
              </a:rPr>
              <a:t>（六）租金收入；</a:t>
            </a:r>
          </a:p>
          <a:p>
            <a:pPr algn="just">
              <a:lnSpc>
                <a:spcPct val="125000"/>
              </a:lnSpc>
              <a:spcBef>
                <a:spcPts val="0"/>
              </a:spcBef>
              <a:spcAft>
                <a:spcPts val="0"/>
              </a:spcAft>
            </a:pPr>
            <a:r>
              <a:rPr sz="1400" b="0">
                <a:solidFill>
                  <a:srgbClr val="000000"/>
                </a:solidFill>
                <a:latin typeface="Microsoft YaHei"/>
              </a:rPr>
              <a:t>（七）特许权使用费收入；</a:t>
            </a:r>
          </a:p>
          <a:p>
            <a:pPr algn="just">
              <a:lnSpc>
                <a:spcPct val="125000"/>
              </a:lnSpc>
              <a:spcBef>
                <a:spcPts val="0"/>
              </a:spcBef>
              <a:spcAft>
                <a:spcPts val="0"/>
              </a:spcAft>
            </a:pPr>
            <a:r>
              <a:rPr sz="1400" b="0">
                <a:solidFill>
                  <a:srgbClr val="000000"/>
                </a:solidFill>
                <a:latin typeface="Microsoft YaHei"/>
              </a:rPr>
              <a:t>（八）接受捐赠收入；</a:t>
            </a:r>
          </a:p>
          <a:p>
            <a:pPr algn="just">
              <a:lnSpc>
                <a:spcPct val="125000"/>
              </a:lnSpc>
              <a:spcBef>
                <a:spcPts val="0"/>
              </a:spcBef>
              <a:spcAft>
                <a:spcPts val="0"/>
              </a:spcAft>
            </a:pPr>
            <a:r>
              <a:rPr sz="1400" b="0">
                <a:solidFill>
                  <a:srgbClr val="000000"/>
                </a:solidFill>
                <a:latin typeface="Microsoft YaHei"/>
              </a:rPr>
              <a:t>（九）其他收入。</a:t>
            </a:r>
          </a:p>
          <a:p>
            <a:pPr algn="just">
              <a:lnSpc>
                <a:spcPct val="125000"/>
              </a:lnSpc>
              <a:spcBef>
                <a:spcPts val="0"/>
              </a:spcBef>
              <a:spcAft>
                <a:spcPts val="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just">
              <a:lnSpc>
                <a:spcPct val="125000"/>
              </a:lnSpc>
              <a:spcBef>
                <a:spcPts val="0"/>
              </a:spcBef>
              <a:spcAft>
                <a:spcPts val="0"/>
              </a:spcAft>
            </a:pPr>
            <a:r>
              <a:rPr sz="1400" b="0">
                <a:solidFill>
                  <a:srgbClr val="000000"/>
                </a:solidFill>
                <a:latin typeface="Microsoft YaHei"/>
              </a:rPr>
              <a:t>利息收入，按照合同约定的债务人应付利息的日期确认收入的实现。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收取租金未按合同约定日期确认收入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取得的租金收入，可能存在未按照交易合同或协议规定的承租人应付租金的日期及金额确认收入的情况。</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25000"/>
              </a:lnSpc>
              <a:spcBef>
                <a:spcPts val="0"/>
              </a:spcBef>
              <a:spcAft>
                <a:spcPts val="0"/>
              </a:spcAft>
            </a:pPr>
            <a:r>
              <a:rPr sz="1400" b="0">
                <a:solidFill>
                  <a:srgbClr val="000000"/>
                </a:solidFill>
                <a:latin typeface="Microsoft YaHei"/>
              </a:rPr>
              <a:t>（一）销售货物收入；</a:t>
            </a:r>
          </a:p>
          <a:p>
            <a:pPr algn="just">
              <a:lnSpc>
                <a:spcPct val="125000"/>
              </a:lnSpc>
              <a:spcBef>
                <a:spcPts val="0"/>
              </a:spcBef>
              <a:spcAft>
                <a:spcPts val="0"/>
              </a:spcAft>
            </a:pPr>
            <a:r>
              <a:rPr sz="1400" b="0">
                <a:solidFill>
                  <a:srgbClr val="000000"/>
                </a:solidFill>
                <a:latin typeface="Microsoft YaHei"/>
              </a:rPr>
              <a:t>（二）提供劳务收入；</a:t>
            </a:r>
          </a:p>
          <a:p>
            <a:pPr algn="just">
              <a:lnSpc>
                <a:spcPct val="125000"/>
              </a:lnSpc>
              <a:spcBef>
                <a:spcPts val="0"/>
              </a:spcBef>
              <a:spcAft>
                <a:spcPts val="0"/>
              </a:spcAft>
            </a:pPr>
            <a:r>
              <a:rPr sz="1400" b="0">
                <a:solidFill>
                  <a:srgbClr val="000000"/>
                </a:solidFill>
                <a:latin typeface="Microsoft YaHei"/>
              </a:rPr>
              <a:t>（三）转让财产收入；</a:t>
            </a:r>
          </a:p>
          <a:p>
            <a:pPr algn="just">
              <a:lnSpc>
                <a:spcPct val="125000"/>
              </a:lnSpc>
              <a:spcBef>
                <a:spcPts val="0"/>
              </a:spcBef>
              <a:spcAft>
                <a:spcPts val="0"/>
              </a:spcAft>
            </a:pPr>
            <a:r>
              <a:rPr sz="1400" b="0">
                <a:solidFill>
                  <a:srgbClr val="000000"/>
                </a:solidFill>
                <a:latin typeface="Microsoft YaHei"/>
              </a:rPr>
              <a:t>（四）股息、红利等权益性投资收益；（五）利息收入；</a:t>
            </a:r>
          </a:p>
          <a:p>
            <a:pPr algn="just">
              <a:lnSpc>
                <a:spcPct val="125000"/>
              </a:lnSpc>
              <a:spcBef>
                <a:spcPts val="0"/>
              </a:spcBef>
              <a:spcAft>
                <a:spcPts val="0"/>
              </a:spcAft>
            </a:pPr>
            <a:r>
              <a:rPr sz="1400" b="0">
                <a:solidFill>
                  <a:srgbClr val="000000"/>
                </a:solidFill>
                <a:latin typeface="Microsoft YaHei"/>
              </a:rPr>
              <a:t>（六）租金收入；</a:t>
            </a:r>
          </a:p>
          <a:p>
            <a:pPr algn="just">
              <a:lnSpc>
                <a:spcPct val="125000"/>
              </a:lnSpc>
              <a:spcBef>
                <a:spcPts val="0"/>
              </a:spcBef>
              <a:spcAft>
                <a:spcPts val="0"/>
              </a:spcAft>
            </a:pPr>
            <a:r>
              <a:rPr sz="1400" b="0">
                <a:solidFill>
                  <a:srgbClr val="000000"/>
                </a:solidFill>
                <a:latin typeface="Microsoft YaHei"/>
              </a:rPr>
              <a:t>（七）特许权使用费收入；</a:t>
            </a:r>
          </a:p>
          <a:p>
            <a:pPr algn="just">
              <a:lnSpc>
                <a:spcPct val="125000"/>
              </a:lnSpc>
              <a:spcBef>
                <a:spcPts val="0"/>
              </a:spcBef>
              <a:spcAft>
                <a:spcPts val="0"/>
              </a:spcAft>
            </a:pPr>
            <a:r>
              <a:rPr sz="1400" b="0">
                <a:solidFill>
                  <a:srgbClr val="000000"/>
                </a:solidFill>
                <a:latin typeface="Microsoft YaHei"/>
              </a:rPr>
              <a:t>（八）接受捐赠收入；</a:t>
            </a:r>
          </a:p>
          <a:p>
            <a:pPr algn="just">
              <a:lnSpc>
                <a:spcPct val="125000"/>
              </a:lnSpc>
              <a:spcBef>
                <a:spcPts val="0"/>
              </a:spcBef>
              <a:spcAft>
                <a:spcPts val="0"/>
              </a:spcAft>
            </a:pPr>
            <a:r>
              <a:rPr sz="1400" b="0">
                <a:solidFill>
                  <a:srgbClr val="000000"/>
                </a:solidFill>
                <a:latin typeface="Microsoft YaHei"/>
              </a:rPr>
              <a:t>（九）其他收入。</a:t>
            </a:r>
          </a:p>
          <a:p>
            <a:pPr algn="just">
              <a:lnSpc>
                <a:spcPct val="125000"/>
              </a:lnSpc>
              <a:spcBef>
                <a:spcPts val="0"/>
              </a:spcBef>
              <a:spcAft>
                <a:spcPts val="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just">
              <a:lnSpc>
                <a:spcPct val="125000"/>
              </a:lnSpc>
              <a:spcBef>
                <a:spcPts val="0"/>
              </a:spcBef>
              <a:spcAft>
                <a:spcPts val="0"/>
              </a:spcAft>
            </a:pPr>
            <a:r>
              <a:rPr sz="1400" b="0">
                <a:solidFill>
                  <a:srgbClr val="000000"/>
                </a:solidFill>
                <a:latin typeface="Microsoft YaHei"/>
              </a:rPr>
              <a:t>特许权使用费收入，按照合同约定的特许权使用人应付特许权使用费的日期确认收入的实现。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企业取得的租金收入，可能存在未按规定确认收入，造成少缴企业所得税的情况。</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跨年工程未按完工进度或者完成的工作量确认收入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受托加工制造大型机械设备、船舶、飞机，以及从事建筑、安装、装配工程业务或者提供其他劳务等，持续时间超过12个月的，可能存在未按照纳税年度内完工进度或者完成的工作量确认收入的情况。</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根据《中华人民共和国企业所得税法实施条例》第二十三条第二项的规定：</a:t>
            </a:r>
          </a:p>
          <a:p>
            <a:pPr algn="just">
              <a:lnSpc>
                <a:spcPct val="125000"/>
              </a:lnSpc>
              <a:spcBef>
                <a:spcPts val="0"/>
              </a:spcBef>
              <a:spcAft>
                <a:spcPts val="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企业的跨年工程，可能存在未按照纳税年度内完工进度或者完成的工作量确认收入的情况。</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其他未按纳税义务发生时间确认收入的情况</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企业未按照合同约定的付款时间及金额确认收入，产生风险。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重复列支成本费用</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根据《中华人民共和国企业所得税法实施条例》第二十八条第三款的规定：</a:t>
            </a:r>
          </a:p>
          <a:p>
            <a:pPr algn="just">
              <a:lnSpc>
                <a:spcPct val="125000"/>
              </a:lnSpc>
              <a:spcBef>
                <a:spcPts val="0"/>
              </a:spcBef>
              <a:spcAft>
                <a:spcPts val="0"/>
              </a:spcAft>
            </a:pPr>
            <a:r>
              <a:rPr sz="1400" b="0">
                <a:solidFill>
                  <a:srgbClr val="000000"/>
                </a:solidFill>
                <a:latin typeface="Microsoft YaHei"/>
              </a:rPr>
              <a:t>除企业所得税法和本条例另有规定外，企业实际发生的成本、费用、税金、损失和其他支出，不得重复扣除。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同一张发票重复列支在总分机构的费用科目，产生多抵扣费用的风险。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预提费用税前扣除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2015年第34号）第二条的规定：</a:t>
            </a:r>
          </a:p>
          <a:p>
            <a:pPr algn="just">
              <a:lnSpc>
                <a:spcPct val="125000"/>
              </a:lnSpc>
              <a:spcBef>
                <a:spcPts val="0"/>
              </a:spcBef>
              <a:spcAft>
                <a:spcPts val="0"/>
              </a:spcAft>
            </a:pPr>
            <a:r>
              <a:rPr sz="1400" b="0">
                <a:solidFill>
                  <a:srgbClr val="000000"/>
                </a:solidFill>
                <a:latin typeface="Microsoft YaHei"/>
              </a:rPr>
              <a:t>企业在年度汇算清缴结束前向员工实际支付的已预提汇缴年度工资薪金，准予在汇缴年度按规定扣除。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税前列支计提但未实际发生的预提款项，未做纳税调增处理，可能存在少缴税款风险。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租赁费及相关税费未按规定税前扣除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just">
              <a:lnSpc>
                <a:spcPct val="125000"/>
              </a:lnSpc>
              <a:spcBef>
                <a:spcPts val="0"/>
              </a:spcBef>
              <a:spcAft>
                <a:spcPts val="0"/>
              </a:spcAft>
            </a:pPr>
            <a:r>
              <a:rPr sz="1400" b="0">
                <a:solidFill>
                  <a:srgbClr val="000000"/>
                </a:solidFill>
                <a:latin typeface="Microsoft YaHei"/>
              </a:rPr>
              <a:t>下列固定资产不得计算折旧扣除：（一）房屋、建筑物以外未投入使用的固定资产；（二）以经营租赁方式租入的固定资产；</a:t>
            </a:r>
          </a:p>
          <a:p>
            <a:pPr algn="just">
              <a:lnSpc>
                <a:spcPct val="125000"/>
              </a:lnSpc>
              <a:spcBef>
                <a:spcPts val="0"/>
              </a:spcBef>
              <a:spcAft>
                <a:spcPts val="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just">
              <a:lnSpc>
                <a:spcPct val="125000"/>
              </a:lnSpc>
              <a:spcBef>
                <a:spcPts val="0"/>
              </a:spcBef>
              <a:spcAft>
                <a:spcPts val="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just">
              <a:lnSpc>
                <a:spcPct val="125000"/>
              </a:lnSpc>
              <a:spcBef>
                <a:spcPts val="0"/>
              </a:spcBef>
              <a:spcAft>
                <a:spcPts val="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资产减值准备、风险准备金税前扣除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存在计提的不可税前列支的各类减值准备、风险准备金在税前列支，未做纳税调整的风险。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just">
              <a:lnSpc>
                <a:spcPct val="125000"/>
              </a:lnSpc>
              <a:spcBef>
                <a:spcPts val="0"/>
              </a:spcBef>
              <a:spcAft>
                <a:spcPts val="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企业将不可税前列支的各类减值准备在税前进行列支，未做纳税调整。</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查看“资产减值准备”科目，对当年计提的减值准备进行梳理，对不符合税前扣除的减值准备进行纳税调整。</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取得交易性金融资产的交易费用一次性税前扣除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just">
              <a:lnSpc>
                <a:spcPct val="125000"/>
              </a:lnSpc>
              <a:spcBef>
                <a:spcPts val="0"/>
              </a:spcBef>
              <a:spcAft>
                <a:spcPts val="0"/>
              </a:spcAft>
            </a:pPr>
            <a:r>
              <a:rPr sz="1400" b="0">
                <a:solidFill>
                  <a:srgbClr val="000000"/>
                </a:solidFill>
                <a:latin typeface="Microsoft YaHei"/>
              </a:rPr>
              <a:t>根据《中华人民共和国企业所得税法实施条例》第七十一条的规定：</a:t>
            </a:r>
          </a:p>
          <a:p>
            <a:pPr algn="just">
              <a:lnSpc>
                <a:spcPct val="125000"/>
              </a:lnSpc>
              <a:spcBef>
                <a:spcPts val="0"/>
              </a:spcBef>
              <a:spcAft>
                <a:spcPts val="0"/>
              </a:spcAft>
            </a:pPr>
            <a:r>
              <a:rPr sz="1400" b="0">
                <a:solidFill>
                  <a:srgbClr val="000000"/>
                </a:solidFill>
                <a:latin typeface="Microsoft YaHei"/>
              </a:rPr>
              <a:t>企业所得税法第十四条所称投资资产，是指企业对外进行权益性投资和债权性投资形成的资产。</a:t>
            </a:r>
          </a:p>
          <a:p>
            <a:pPr algn="just">
              <a:lnSpc>
                <a:spcPct val="125000"/>
              </a:lnSpc>
              <a:spcBef>
                <a:spcPts val="0"/>
              </a:spcBef>
              <a:spcAft>
                <a:spcPts val="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企业是否将交易费用计入资产初始成本。</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资产损失相关资料不合规</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2017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根据《中华人民共和国企业所得税法实施条例》第五十六条的规定：</a:t>
            </a:r>
          </a:p>
          <a:p>
            <a:pPr algn="just">
              <a:lnSpc>
                <a:spcPct val="125000"/>
              </a:lnSpc>
              <a:spcBef>
                <a:spcPts val="0"/>
              </a:spcBef>
              <a:spcAft>
                <a:spcPts val="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号）的规定：</a:t>
            </a:r>
          </a:p>
          <a:p>
            <a:pPr algn="just">
              <a:lnSpc>
                <a:spcPct val="125000"/>
              </a:lnSpc>
              <a:spcBef>
                <a:spcPts val="0"/>
              </a:spcBef>
              <a:spcAft>
                <a:spcPts val="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just">
              <a:lnSpc>
                <a:spcPct val="125000"/>
              </a:lnSpc>
              <a:spcBef>
                <a:spcPts val="0"/>
              </a:spcBef>
              <a:spcAft>
                <a:spcPts val="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just">
              <a:lnSpc>
                <a:spcPct val="125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25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25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25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just">
              <a:lnSpc>
                <a:spcPct val="125000"/>
              </a:lnSpc>
              <a:spcBef>
                <a:spcPts val="0"/>
              </a:spcBef>
              <a:spcAft>
                <a:spcPts val="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just">
              <a:lnSpc>
                <a:spcPct val="125000"/>
              </a:lnSpc>
              <a:spcBef>
                <a:spcPts val="0"/>
              </a:spcBef>
              <a:spcAft>
                <a:spcPts val="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just">
              <a:lnSpc>
                <a:spcPct val="125000"/>
              </a:lnSpc>
              <a:spcBef>
                <a:spcPts val="0"/>
              </a:spcBef>
              <a:spcAft>
                <a:spcPts val="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just">
              <a:lnSpc>
                <a:spcPct val="125000"/>
              </a:lnSpc>
              <a:spcBef>
                <a:spcPts val="0"/>
              </a:spcBef>
              <a:spcAft>
                <a:spcPts val="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just">
              <a:lnSpc>
                <a:spcPct val="125000"/>
              </a:lnSpc>
              <a:spcBef>
                <a:spcPts val="0"/>
              </a:spcBef>
              <a:spcAft>
                <a:spcPts val="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just">
              <a:lnSpc>
                <a:spcPct val="125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25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25000"/>
              </a:lnSpc>
              <a:spcBef>
                <a:spcPts val="0"/>
              </a:spcBef>
              <a:spcAft>
                <a:spcPts val="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just">
              <a:lnSpc>
                <a:spcPct val="125000"/>
              </a:lnSpc>
              <a:spcBef>
                <a:spcPts val="0"/>
              </a:spcBef>
              <a:spcAft>
                <a:spcPts val="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just">
              <a:lnSpc>
                <a:spcPct val="125000"/>
              </a:lnSpc>
              <a:spcBef>
                <a:spcPts val="0"/>
              </a:spcBef>
              <a:spcAft>
                <a:spcPts val="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just">
              <a:lnSpc>
                <a:spcPct val="125000"/>
              </a:lnSpc>
              <a:spcBef>
                <a:spcPts val="0"/>
              </a:spcBef>
              <a:spcAft>
                <a:spcPts val="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just">
              <a:lnSpc>
                <a:spcPct val="125000"/>
              </a:lnSpc>
              <a:spcBef>
                <a:spcPts val="0"/>
              </a:spcBef>
              <a:spcAft>
                <a:spcPts val="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just">
              <a:lnSpc>
                <a:spcPct val="125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根据《国家税务总局关于发布&lt;企业资产损失所得税税前扣除管理办法&gt;的公告》（国家税务总局公告2011第25号）的规定：第五条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just">
              <a:lnSpc>
                <a:spcPct val="125000"/>
              </a:lnSpc>
              <a:spcBef>
                <a:spcPts val="0"/>
              </a:spcBef>
              <a:spcAft>
                <a:spcPts val="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just">
              <a:lnSpc>
                <a:spcPct val="125000"/>
              </a:lnSpc>
              <a:spcBef>
                <a:spcPts val="0"/>
              </a:spcBef>
              <a:spcAft>
                <a:spcPts val="0"/>
              </a:spcAft>
            </a:pPr>
            <a:r>
              <a:rPr sz="1400" b="0">
                <a:solidFill>
                  <a:srgbClr val="000000"/>
                </a:solidFill>
                <a:latin typeface="Microsoft YaHei"/>
              </a:rPr>
              <a:t>（一）企业在正常经营管理活动中，按照公允价格销售、转让、变卖非货币资产的损失；</a:t>
            </a:r>
          </a:p>
          <a:p>
            <a:pPr algn="just">
              <a:lnSpc>
                <a:spcPct val="125000"/>
              </a:lnSpc>
              <a:spcBef>
                <a:spcPts val="0"/>
              </a:spcBef>
              <a:spcAft>
                <a:spcPts val="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just">
              <a:lnSpc>
                <a:spcPct val="125000"/>
              </a:lnSpc>
              <a:spcBef>
                <a:spcPts val="0"/>
              </a:spcBef>
              <a:spcAft>
                <a:spcPts val="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just">
              <a:lnSpc>
                <a:spcPct val="125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just">
              <a:lnSpc>
                <a:spcPct val="125000"/>
              </a:lnSpc>
              <a:spcBef>
                <a:spcPts val="0"/>
              </a:spcBef>
              <a:spcAft>
                <a:spcPts val="0"/>
              </a:spcAft>
            </a:pPr>
            <a:r>
              <a:rPr sz="1400" b="0">
                <a:solidFill>
                  <a:srgbClr val="000000"/>
                </a:solidFill>
                <a:latin typeface="Microsoft YaHei"/>
              </a:rPr>
              <a:t>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资产损失相关资料可能存在留存资料不完整、不规范，不符合税前扣除条件的风险。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