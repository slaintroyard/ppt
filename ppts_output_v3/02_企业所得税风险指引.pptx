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非货币性收入未计入应纳税所得额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未计收入减少应纳税所得额，税务机关会要求改正，补缴税款，缴纳罚款等。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非货币性资产投资收入的确认时点错误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企业非货币性资产转让收入的确认时点错误会减少企业当期的收入，收入未入账减少企业当期应纳税所得额。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跨年度租金收入未按收入与费用配比原则确认收入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根据《中华人民共和国企业所得税法实施条例》（中华人民共和国国务院令第512号）第九条规定：</a:t>
            </a:r>
          </a:p>
          <a:p>
            <a:pPr algn="just">
              <a:lnSpc>
                <a:spcPct val="110000"/>
              </a:lnSpc>
              <a:spcBef>
                <a:spcPts val="0"/>
              </a:spcBef>
              <a:spcAft>
                <a:spcPts val="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租金收入未分期均匀计入相关年度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合同约定租金付款日的，企业可能会不及时确认这笔收入，从而产生少计收入，少缴税款的风险。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股权转让所得的计算和时点的确认不符合规定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未确认收入的实现，违反法律、法规，减少了应纳税款，会面临补缴税款，缴纳罚款等风险。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企业处置资产未按照公允价值确定销售收入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视同销售不确认收入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企业在生产经营过程中对符合税法规定的视同销售未将其确认为收入，会产生少计收入，少缴税款的风险。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政策性搬迁收入挂往来账，未计入收入总额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just">
              <a:lnSpc>
                <a:spcPct val="110000"/>
              </a:lnSpc>
              <a:spcBef>
                <a:spcPts val="0"/>
              </a:spcBef>
              <a:spcAft>
                <a:spcPts val="0"/>
              </a:spcAft>
            </a:pPr>
            <a:r>
              <a:rPr sz="1400" b="0">
                <a:solidFill>
                  <a:srgbClr val="000000"/>
                </a:solidFill>
                <a:latin typeface="Microsoft YaHei"/>
              </a:rPr>
              <a:t>（一）从搬迁开始，5年内（包括搬迁当年度）任何一年完成搬迁的。</a:t>
            </a:r>
          </a:p>
          <a:p>
            <a:pPr algn="just">
              <a:lnSpc>
                <a:spcPct val="110000"/>
              </a:lnSpc>
              <a:spcBef>
                <a:spcPts val="0"/>
              </a:spcBef>
              <a:spcAft>
                <a:spcPts val="0"/>
              </a:spcAft>
            </a:pPr>
            <a:r>
              <a:rPr sz="1400" b="0">
                <a:solidFill>
                  <a:srgbClr val="000000"/>
                </a:solidFill>
                <a:latin typeface="Microsoft YaHei"/>
              </a:rPr>
              <a:t>（二）从搬迁开始，搬迁时间满5年（包括搬迁当年度）的年度。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少记提供劳务或服务收入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对于生产销售企业来说，提供劳务或者服务并不常见，但这部分收入也要及时完整入账，否则会有少缴税款的风险。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个税手续费收入未确认收入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just">
              <a:lnSpc>
                <a:spcPct val="110000"/>
              </a:lnSpc>
              <a:spcBef>
                <a:spcPts val="0"/>
              </a:spcBef>
              <a:spcAft>
                <a:spcPts val="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企业因代扣代缴个人所得税而取得的手续费返还，未并入企业当期收入，存在少缴所得税的风险。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企业未按规定确认销售商品收入实现时间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应收账款未及时计入收入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企业将收入长期挂往来账户而不及时入账。此类情况将要面临补缴税款，缴纳滞纳金和罚款的风险。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确实无法偿付的应付款项未确认收入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存在超账期应付款项未确认营业外收入，将面临补缴企业所得税、附加税、滞纳金及罚款等风险。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just">
              <a:lnSpc>
                <a:spcPct val="110000"/>
              </a:lnSpc>
              <a:spcBef>
                <a:spcPts val="0"/>
              </a:spcBef>
              <a:spcAft>
                <a:spcPts val="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收回已税前扣除的坏账损失未确认收入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对后续收回的已扣除部分资产损失未计收入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企业已经确认扣除的资产损失在以后纳税年度全部或部分收回，此时增加收入，需计入应纳税所得额中。</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收回损失，应计收入而未计收入，税务机关会要求调整，追缴税款。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逾期未退包装物押金未按税法规定确认收入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企业收取逾期包装物押金要及时确认收入，企业可能会不及时确认这笔收入，从而产生少计收入，少缴税款的风险。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处置低值易耗品的收入未及时入账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低值易耗品收入不入账这种行为有少记收入企图少缴税款的嫌疑，面临补缴税款，缴纳滞纳金和罚款的风险。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不符合不征税条件的政府补助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a:t>
            </a:r>
          </a:p>
          <a:p>
            <a:pPr algn="just">
              <a:lnSpc>
                <a:spcPct val="110000"/>
              </a:lnSpc>
              <a:spcBef>
                <a:spcPts val="0"/>
              </a:spcBef>
              <a:spcAft>
                <a:spcPts val="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just">
              <a:lnSpc>
                <a:spcPct val="110000"/>
              </a:lnSpc>
              <a:spcBef>
                <a:spcPts val="0"/>
              </a:spcBef>
              <a:spcAft>
                <a:spcPts val="0"/>
              </a:spcAft>
            </a:pPr>
            <a:r>
              <a:rPr sz="1400" b="0">
                <a:solidFill>
                  <a:srgbClr val="000000"/>
                </a:solidFill>
                <a:latin typeface="Microsoft YaHei"/>
              </a:rPr>
              <a:t>第一条、财政性资金。</a:t>
            </a:r>
          </a:p>
          <a:p>
            <a:pPr algn="just">
              <a:lnSpc>
                <a:spcPct val="110000"/>
              </a:lnSpc>
              <a:spcBef>
                <a:spcPts val="0"/>
              </a:spcBef>
              <a:spcAft>
                <a:spcPts val="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just">
              <a:lnSpc>
                <a:spcPct val="110000"/>
              </a:lnSpc>
              <a:spcBef>
                <a:spcPts val="0"/>
              </a:spcBef>
              <a:spcAft>
                <a:spcPts val="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将应税收入申报为免税收入核算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根据《中华人民共和国企业所得税法》（中华人民共和国主席令第六十三号）第二十七条的规定：</a:t>
            </a:r>
          </a:p>
          <a:p>
            <a:pPr algn="just">
              <a:lnSpc>
                <a:spcPct val="110000"/>
              </a:lnSpc>
              <a:spcBef>
                <a:spcPts val="0"/>
              </a:spcBef>
              <a:spcAft>
                <a:spcPts val="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企业虚增销售综合利用资源产品取得的收入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根据《中华人民共和国企业所得税法》（中华人民共和国主席令第六十三号）第三十三条的规定：</a:t>
            </a:r>
          </a:p>
          <a:p>
            <a:pPr algn="just">
              <a:lnSpc>
                <a:spcPct val="110000"/>
              </a:lnSpc>
              <a:spcBef>
                <a:spcPts val="0"/>
              </a:spcBef>
              <a:spcAft>
                <a:spcPts val="0"/>
              </a:spcAft>
            </a:pPr>
            <a:r>
              <a:rPr sz="1400" b="0">
                <a:solidFill>
                  <a:srgbClr val="000000"/>
                </a:solidFill>
                <a:latin typeface="Microsoft YaHei"/>
              </a:rPr>
              <a:t>企业综合利用资源，生产符合国家产业政策规定的产品所取得的收入，可以在计算应纳税所得额时减计收入。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企业未单独核算生产经营项目所得与享受优惠的公共基础设施项目经营所得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财政资金长期挂往来款未计入收入总额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企业存货计价方法前后不一致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企业将不符合规定的工资支出计入工资薪金支出总额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非货币性资产交换换入换出成本错误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根据《企业会计准则第7号——非货币性资产交换》（财会〔2019〕8号）第九条规定：</a:t>
            </a:r>
          </a:p>
          <a:p>
            <a:pPr algn="just">
              <a:lnSpc>
                <a:spcPct val="110000"/>
              </a:lnSpc>
              <a:spcBef>
                <a:spcPts val="0"/>
              </a:spcBef>
              <a:spcAft>
                <a:spcPts val="0"/>
              </a:spcAft>
            </a:pPr>
            <a:r>
              <a:rPr sz="1400" b="0">
                <a:solidFill>
                  <a:srgbClr val="000000"/>
                </a:solidFill>
                <a:latin typeface="Microsoft YaHei"/>
              </a:rPr>
              <a:t>第九条 以公允价值为基础计量的非货币性资产交换，涉及补价的，应当按照下列规定进行处理：</a:t>
            </a:r>
          </a:p>
          <a:p>
            <a:pPr algn="just">
              <a:lnSpc>
                <a:spcPct val="110000"/>
              </a:lnSpc>
              <a:spcBef>
                <a:spcPts val="0"/>
              </a:spcBef>
              <a:spcAft>
                <a:spcPts val="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离退休等三类人员费用税前扣除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just">
              <a:lnSpc>
                <a:spcPct val="110000"/>
              </a:lnSpc>
              <a:spcBef>
                <a:spcPts val="0"/>
              </a:spcBef>
              <a:spcAft>
                <a:spcPts val="0"/>
              </a:spcAft>
            </a:pPr>
            <a:r>
              <a:rPr sz="1400" b="0">
                <a:solidFill>
                  <a:srgbClr val="000000"/>
                </a:solidFill>
                <a:latin typeface="Microsoft YaHei"/>
              </a:rPr>
              <a:t>与企业取得收入不直接相关的离退休人员工资、福利费等支出，不得在企业所得税前扣除。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专项资金改变用途后继续进行税前扣除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不符合规定的劳动保护支出，未作纳税调整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利息扣除不符合规定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对向非金融机构的借款利息扣除不合规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不合规定的商业保险费误在税前扣除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just">
              <a:lnSpc>
                <a:spcPct val="110000"/>
              </a:lnSpc>
              <a:spcBef>
                <a:spcPts val="0"/>
              </a:spcBef>
              <a:spcAft>
                <a:spcPts val="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just">
              <a:lnSpc>
                <a:spcPct val="110000"/>
              </a:lnSpc>
              <a:spcBef>
                <a:spcPts val="0"/>
              </a:spcBef>
              <a:spcAft>
                <a:spcPts val="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其他不得列支项目在税前列支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just">
              <a:lnSpc>
                <a:spcPct val="110000"/>
              </a:lnSpc>
              <a:spcBef>
                <a:spcPts val="0"/>
              </a:spcBef>
              <a:spcAft>
                <a:spcPts val="0"/>
              </a:spcAft>
            </a:pPr>
            <a:r>
              <a:rPr sz="1400" b="0">
                <a:solidFill>
                  <a:srgbClr val="000000"/>
                </a:solidFill>
                <a:latin typeface="Microsoft YaHei"/>
              </a:rPr>
              <a:t>（三）税收滞纳金；</a:t>
            </a:r>
          </a:p>
          <a:p>
            <a:pPr algn="just">
              <a:lnSpc>
                <a:spcPct val="110000"/>
              </a:lnSpc>
              <a:spcBef>
                <a:spcPts val="0"/>
              </a:spcBef>
              <a:spcAft>
                <a:spcPts val="0"/>
              </a:spcAft>
            </a:pPr>
            <a:r>
              <a:rPr sz="1400" b="0">
                <a:solidFill>
                  <a:srgbClr val="000000"/>
                </a:solidFill>
                <a:latin typeface="Microsoft YaHei"/>
              </a:rPr>
              <a:t>（四）罚金、罚款和被没收财物的损失；（五）本法第九条规定以外的捐赠支出；（六）赞助支出；</a:t>
            </a:r>
          </a:p>
          <a:p>
            <a:pPr algn="just">
              <a:lnSpc>
                <a:spcPct val="110000"/>
              </a:lnSpc>
              <a:spcBef>
                <a:spcPts val="0"/>
              </a:spcBef>
              <a:spcAft>
                <a:spcPts val="0"/>
              </a:spcAft>
            </a:pPr>
            <a:r>
              <a:rPr sz="1400" b="0">
                <a:solidFill>
                  <a:srgbClr val="000000"/>
                </a:solidFill>
                <a:latin typeface="Microsoft YaHei"/>
              </a:rPr>
              <a:t>（七）未经核定的准备金支出；</a:t>
            </a:r>
          </a:p>
          <a:p>
            <a:pPr algn="just">
              <a:lnSpc>
                <a:spcPct val="110000"/>
              </a:lnSpc>
              <a:spcBef>
                <a:spcPts val="0"/>
              </a:spcBef>
              <a:spcAft>
                <a:spcPts val="0"/>
              </a:spcAft>
            </a:pPr>
            <a:r>
              <a:rPr sz="1400" b="0">
                <a:solidFill>
                  <a:srgbClr val="000000"/>
                </a:solidFill>
                <a:latin typeface="Microsoft YaHei"/>
              </a:rPr>
              <a:t>（八）与取得收入无关的其他支出。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企业虚增工资薪金总额作为限额扣除的基数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just">
              <a:lnSpc>
                <a:spcPct val="110000"/>
              </a:lnSpc>
              <a:spcBef>
                <a:spcPts val="0"/>
              </a:spcBef>
              <a:spcAft>
                <a:spcPts val="0"/>
              </a:spcAft>
            </a:pPr>
            <a:r>
              <a:rPr sz="1400" b="0">
                <a:solidFill>
                  <a:srgbClr val="000000"/>
                </a:solidFill>
                <a:latin typeface="Microsoft YaHei"/>
              </a:rPr>
              <a:t>不能同时符合上述条件的福利性补贴，应作为国税函〔2009〕3号文件第三条规定的职工福利费，按规定计算限额税前扣除。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劳务派遣人员工资记入工资薪金加大“三费”扣除基数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根据《中华人民共和国个人所得税法实施条例》（中华人民共和国国务院令第707号）第六条规定：</a:t>
            </a:r>
          </a:p>
          <a:p>
            <a:pPr algn="just">
              <a:lnSpc>
                <a:spcPct val="110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10000"/>
              </a:lnSpc>
              <a:spcBef>
                <a:spcPts val="0"/>
              </a:spcBef>
              <a:spcAft>
                <a:spcPts val="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职工教育经费扩大列支范围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根据《财政部 税务总局关于企业职工教育经费税前扣除政策的通知》（财税〔2018〕51号）规定：</a:t>
            </a:r>
          </a:p>
          <a:p>
            <a:pPr algn="just">
              <a:lnSpc>
                <a:spcPct val="110000"/>
              </a:lnSpc>
              <a:spcBef>
                <a:spcPts val="0"/>
              </a:spcBef>
              <a:spcAft>
                <a:spcPts val="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根据《关于印发关于企业职工教育经费提取与使用管理的意见的通知》（财建〔2006〕317号）规定：</a:t>
            </a:r>
          </a:p>
          <a:p>
            <a:pPr algn="just">
              <a:lnSpc>
                <a:spcPct val="110000"/>
              </a:lnSpc>
              <a:spcBef>
                <a:spcPts val="0"/>
              </a:spcBef>
              <a:spcAft>
                <a:spcPts val="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just">
              <a:lnSpc>
                <a:spcPct val="110000"/>
              </a:lnSpc>
              <a:spcBef>
                <a:spcPts val="0"/>
              </a:spcBef>
              <a:spcAft>
                <a:spcPts val="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just">
              <a:lnSpc>
                <a:spcPct val="110000"/>
              </a:lnSpc>
              <a:spcBef>
                <a:spcPts val="0"/>
              </a:spcBef>
              <a:spcAft>
                <a:spcPts val="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企业将职工教育经费超过工资薪金总额8%的部分进行税前列支，会产生多计支出，少缴税款的风险。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工会经费实际拨缴数小于计提数未做纳税调整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业务宣传费中列支与经营活动无关赞助费未做纳税调整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根据《中华人民共和国企业所得税法》（主席令第63号）第十条第六项的规定：</a:t>
            </a:r>
          </a:p>
          <a:p>
            <a:pPr algn="just">
              <a:lnSpc>
                <a:spcPct val="110000"/>
              </a:lnSpc>
              <a:spcBef>
                <a:spcPts val="0"/>
              </a:spcBef>
              <a:spcAft>
                <a:spcPts val="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just">
              <a:lnSpc>
                <a:spcPct val="110000"/>
              </a:lnSpc>
              <a:spcBef>
                <a:spcPts val="0"/>
              </a:spcBef>
              <a:spcAft>
                <a:spcPts val="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just">
              <a:lnSpc>
                <a:spcPct val="110000"/>
              </a:lnSpc>
              <a:spcBef>
                <a:spcPts val="0"/>
              </a:spcBef>
              <a:spcAft>
                <a:spcPts val="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业务招待费混同宣传费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企业将不符合规定的保险费在税前扣除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企业佣金及手续费支出不符合税法规定税前扣除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just">
              <a:lnSpc>
                <a:spcPct val="110000"/>
              </a:lnSpc>
              <a:spcBef>
                <a:spcPts val="0"/>
              </a:spcBef>
              <a:spcAft>
                <a:spcPts val="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委托境外研发费扣除不符合规定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just">
              <a:lnSpc>
                <a:spcPct val="110000"/>
              </a:lnSpc>
              <a:spcBef>
                <a:spcPts val="0"/>
              </a:spcBef>
              <a:spcAft>
                <a:spcPts val="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企业随意扩大适用加计扣除的适用范围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根据《中华人民共和国企业所得税法》（中华人民共和国主席令第六十三号）第三十条的规定：</a:t>
            </a:r>
          </a:p>
          <a:p>
            <a:pPr algn="just">
              <a:lnSpc>
                <a:spcPct val="110000"/>
              </a:lnSpc>
              <a:spcBef>
                <a:spcPts val="0"/>
              </a:spcBef>
              <a:spcAft>
                <a:spcPts val="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根据《关于完善研究开发费用税前加计扣除政策的通知》（财税〔2015〕119号）的规定：</a:t>
            </a:r>
          </a:p>
          <a:p>
            <a:pPr algn="just">
              <a:lnSpc>
                <a:spcPct val="110000"/>
              </a:lnSpc>
              <a:spcBef>
                <a:spcPts val="0"/>
              </a:spcBef>
              <a:spcAft>
                <a:spcPts val="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将形成无形资产的研究开发费用费用化计入当期损益在当期加计100%一次扣除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just">
              <a:lnSpc>
                <a:spcPct val="110000"/>
              </a:lnSpc>
              <a:spcBef>
                <a:spcPts val="0"/>
              </a:spcBef>
              <a:spcAft>
                <a:spcPts val="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just">
              <a:lnSpc>
                <a:spcPct val="110000"/>
              </a:lnSpc>
              <a:spcBef>
                <a:spcPts val="0"/>
              </a:spcBef>
              <a:spcAft>
                <a:spcPts val="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just">
              <a:lnSpc>
                <a:spcPct val="110000"/>
              </a:lnSpc>
              <a:spcBef>
                <a:spcPts val="0"/>
              </a:spcBef>
              <a:spcAft>
                <a:spcPts val="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研发费用和生产经营费用未分别核算导致无法进行所得税税前加计扣除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资本性支出直接税前扣除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企业在生产经营过程中对资本性支出直接进行税前扣除，会产生多计支出，少缴税款的风险。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企业安置残疾人未达到法定标准即享受企业所得税加计扣除政策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just">
              <a:lnSpc>
                <a:spcPct val="110000"/>
              </a:lnSpc>
              <a:spcBef>
                <a:spcPts val="0"/>
              </a:spcBef>
              <a:spcAft>
                <a:spcPts val="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just">
              <a:lnSpc>
                <a:spcPct val="110000"/>
              </a:lnSpc>
              <a:spcBef>
                <a:spcPts val="0"/>
              </a:spcBef>
              <a:spcAft>
                <a:spcPts val="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just">
              <a:lnSpc>
                <a:spcPct val="110000"/>
              </a:lnSpc>
              <a:spcBef>
                <a:spcPts val="0"/>
              </a:spcBef>
              <a:spcAft>
                <a:spcPts val="0"/>
              </a:spcAft>
            </a:pPr>
            <a:r>
              <a:rPr sz="1400" b="0">
                <a:solidFill>
                  <a:srgbClr val="000000"/>
                </a:solidFill>
                <a:latin typeface="Microsoft YaHei"/>
              </a:rPr>
              <a:t>（四）具备安置残疾人上岗工作的基本设施。</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固定资产大修理支出作为费用化支出在当期一次性扣除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长期待摊费用支出摊销期限低于三年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维简费支出属于资本性支出的作为当期费用扣除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just">
              <a:lnSpc>
                <a:spcPct val="110000"/>
              </a:lnSpc>
              <a:spcBef>
                <a:spcPts val="0"/>
              </a:spcBef>
              <a:spcAft>
                <a:spcPts val="0"/>
              </a:spcAft>
            </a:pPr>
            <a:r>
              <a:rPr sz="1400" b="0">
                <a:solidFill>
                  <a:srgbClr val="000000"/>
                </a:solidFill>
                <a:latin typeface="Microsoft YaHei"/>
              </a:rPr>
              <a:t>企业按照有关规定预提的维简费，不得在当期税前扣除。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作为资本性支出的维检费支出若在当期直接扣除则会减少当期应纳税额，产生补缴企业所得税的风险。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停止使用的固定资产继续计提折旧</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企业在停止使用固定资产后，还继续对其计提折旧，通过虚增费用成本来少缴纳企业所得税的风险。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企业对固定资产采取的加速折旧方法随意变更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企业固定资产折旧方法确认后不得变更，否则会导致纳税年度内折旧额的不准确，计算应纳税所得额出现错误。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不征税收入形成资产折旧在税前扣除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实际资产损失与法定资产损失申报扣除年度有误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未按照规定要求在合理年度进行申报税前扣除，影响纳税年度应纳税额。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股权投资损失不满足规定条件即在税前扣除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不符合股权投资不可收回条件进行税前扣除，面临风险，符合条件但未减除可收回金额，面临纳税调整的风险。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企业未能对权益性投资损失进行据实扣除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企业在生产经营过程中通过采取多扣损失从而达到少缴税款的目的，这在税法上是决不允许的。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将境外营业机构资产损失用于境内企业税前扣除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境内企业计算应纳税所得额时扣除境外经营机构资产损失，未分别核算资产损失。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境内企业应纳税所得额的计算不得扣除境外经营机构的资产损失，违反规定需要重新调整，补缴税款的风险。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企业需要核查境外经营机构和境内企业的申报表，不得统一核算资产损失。</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坏账损失不满足规定条件即在税前扣除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企业除贷款类债权外的应收账款和预付账款，预期无法收回的可能性较小或者不满足条件则不得扣除。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企业坏账损失的税前扣除并不满足规定，从而减少了应纳税所得额，错误适用税收政策，面临进行调整的风险。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母子公司之间按照内部交易价格核算收入与费用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just">
              <a:lnSpc>
                <a:spcPct val="110000"/>
              </a:lnSpc>
              <a:spcBef>
                <a:spcPts val="0"/>
              </a:spcBef>
              <a:spcAft>
                <a:spcPts val="0"/>
              </a:spcAft>
            </a:pPr>
            <a:r>
              <a:rPr sz="1400" b="0">
                <a:solidFill>
                  <a:srgbClr val="000000"/>
                </a:solidFill>
                <a:latin typeface="Microsoft YaHei"/>
              </a:rPr>
              <a:t>母子公司未按照独立企业之间的业务往来收取价款的，税务机关有权予以调整。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子公司对支付给母公司的管理费进行税前扣除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母公司向子公司提取费用，子公司支付的管理费用在税前扣除，使应纳税所得额低于实际值，少缴企业所得税税款。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母公司以管理费形式向子公司提取费用，子公司支付给母公司的管理费在税前扣除，导致少缴税款的风险。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错误核定接受关联方的债权性投资与其权益性投资比例，从而错误核算税前可扣除利息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just">
              <a:lnSpc>
                <a:spcPct val="110000"/>
              </a:lnSpc>
              <a:spcBef>
                <a:spcPts val="0"/>
              </a:spcBef>
              <a:spcAft>
                <a:spcPts val="0"/>
              </a:spcAft>
            </a:pPr>
            <a:r>
              <a:rPr sz="1400" b="0">
                <a:solidFill>
                  <a:srgbClr val="000000"/>
                </a:solidFill>
                <a:latin typeface="Microsoft YaHei"/>
              </a:rPr>
              <a:t>（二）其他企业，为2：1。</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企业错误核算债权性投资与权益性投资比例，导致扣除利息支出不合规，少缴税款的风险。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总部期间费用纳税申报时全部分摊到高税率的东部地区扣除，未在适用优惠税率的西部地区摊销</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企业购置并实际使用的环境保护、节能节水、安全生产等专用设备在5年内转让、出租的，错误享受税额抵免政策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企业未按照税法规定预缴税款。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根据《中华人民共和国企业所得税法》（中华人民共和国主席令第六十三号）第五十四条的规定：</a:t>
            </a:r>
          </a:p>
          <a:p>
            <a:pPr algn="just">
              <a:lnSpc>
                <a:spcPct val="110000"/>
              </a:lnSpc>
              <a:spcBef>
                <a:spcPts val="0"/>
              </a:spcBef>
              <a:spcAft>
                <a:spcPts val="0"/>
              </a:spcAft>
            </a:pPr>
            <a:r>
              <a:rPr sz="1400" b="0">
                <a:solidFill>
                  <a:srgbClr val="000000"/>
                </a:solidFill>
                <a:latin typeface="Microsoft YaHei"/>
              </a:rPr>
              <a:t>企业所得税分月或者分季预缴。</a:t>
            </a:r>
          </a:p>
          <a:p>
            <a:pPr algn="just">
              <a:lnSpc>
                <a:spcPct val="110000"/>
              </a:lnSpc>
              <a:spcBef>
                <a:spcPts val="0"/>
              </a:spcBef>
              <a:spcAft>
                <a:spcPts val="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just">
              <a:lnSpc>
                <a:spcPct val="110000"/>
              </a:lnSpc>
              <a:spcBef>
                <a:spcPts val="0"/>
              </a:spcBef>
              <a:spcAft>
                <a:spcPts val="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未按规定在被投资方作出利润分配决定时确认股息、红利收入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存在未及时确认收入、未按照规定时间申报享受优惠的风险。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将持有时间不足12个月的股票投资收益作为免税收入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使用不征税收入的研发费用加计扣除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a:t>
            </a:r>
          </a:p>
          <a:p>
            <a:pPr algn="just">
              <a:lnSpc>
                <a:spcPct val="110000"/>
              </a:lnSpc>
              <a:spcBef>
                <a:spcPts val="0"/>
              </a:spcBef>
              <a:spcAft>
                <a:spcPts val="0"/>
              </a:spcAft>
            </a:pPr>
            <a:r>
              <a:rPr sz="1400" b="0">
                <a:solidFill>
                  <a:srgbClr val="000000"/>
                </a:solidFill>
                <a:latin typeface="Microsoft YaHei"/>
              </a:rPr>
              <a:t>（一）财政拨款；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专用设备转让、出租未按规定补缴税款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just">
              <a:lnSpc>
                <a:spcPct val="110000"/>
              </a:lnSpc>
              <a:spcBef>
                <a:spcPts val="0"/>
              </a:spcBef>
              <a:spcAft>
                <a:spcPts val="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开发产品完工后未及时、准确结转收入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just">
              <a:lnSpc>
                <a:spcPct val="110000"/>
              </a:lnSpc>
              <a:spcBef>
                <a:spcPts val="0"/>
              </a:spcBef>
              <a:spcAft>
                <a:spcPts val="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just">
              <a:lnSpc>
                <a:spcPct val="110000"/>
              </a:lnSpc>
              <a:spcBef>
                <a:spcPts val="0"/>
              </a:spcBef>
              <a:spcAft>
                <a:spcPts val="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just">
              <a:lnSpc>
                <a:spcPct val="110000"/>
              </a:lnSpc>
              <a:spcBef>
                <a:spcPts val="0"/>
              </a:spcBef>
              <a:spcAft>
                <a:spcPts val="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just">
              <a:lnSpc>
                <a:spcPct val="110000"/>
              </a:lnSpc>
              <a:spcBef>
                <a:spcPts val="0"/>
              </a:spcBef>
              <a:spcAft>
                <a:spcPts val="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just">
              <a:lnSpc>
                <a:spcPct val="110000"/>
              </a:lnSpc>
              <a:spcBef>
                <a:spcPts val="0"/>
              </a:spcBef>
              <a:spcAft>
                <a:spcPts val="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just">
              <a:lnSpc>
                <a:spcPct val="110000"/>
              </a:lnSpc>
              <a:spcBef>
                <a:spcPts val="0"/>
              </a:spcBef>
              <a:spcAft>
                <a:spcPts val="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just">
              <a:lnSpc>
                <a:spcPct val="110000"/>
              </a:lnSpc>
              <a:spcBef>
                <a:spcPts val="0"/>
              </a:spcBef>
              <a:spcAft>
                <a:spcPts val="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将配套设施移交或无偿赠与地方政府、公用事业单位以外的其他单位，未视同销售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根据《中华人民共和国企业所得税法实施条例》第二十五条的规定：</a:t>
            </a:r>
          </a:p>
          <a:p>
            <a:pPr algn="just">
              <a:lnSpc>
                <a:spcPct val="110000"/>
              </a:lnSpc>
              <a:spcBef>
                <a:spcPts val="0"/>
              </a:spcBef>
              <a:spcAft>
                <a:spcPts val="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just">
              <a:lnSpc>
                <a:spcPct val="110000"/>
              </a:lnSpc>
              <a:spcBef>
                <a:spcPts val="0"/>
              </a:spcBef>
              <a:spcAft>
                <a:spcPts val="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just">
              <a:lnSpc>
                <a:spcPct val="110000"/>
              </a:lnSpc>
              <a:spcBef>
                <a:spcPts val="0"/>
              </a:spcBef>
              <a:spcAft>
                <a:spcPts val="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符合收入确认条件，未按规定申报缴纳企业所得税，存在少缴企业所得税风险。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回迁安置房未视同销售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取得土地使用权时签订的协议，向原居民无偿转让回迁安置房，未按视同销售缴纳企业所得税，存在少缴税款风险。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收到土地出让金返还未按规定确认收入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收到土地出让金返还未按规定确认收入，存在少缴企业所得税的风险。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预提费用未按规定处理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a:t>
            </a:r>
          </a:p>
          <a:p>
            <a:pPr algn="just">
              <a:lnSpc>
                <a:spcPct val="110000"/>
              </a:lnSpc>
              <a:spcBef>
                <a:spcPts val="0"/>
              </a:spcBef>
              <a:spcAft>
                <a:spcPts val="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just">
              <a:lnSpc>
                <a:spcPct val="110000"/>
              </a:lnSpc>
              <a:spcBef>
                <a:spcPts val="0"/>
              </a:spcBef>
              <a:spcAft>
                <a:spcPts val="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just">
              <a:lnSpc>
                <a:spcPct val="110000"/>
              </a:lnSpc>
              <a:spcBef>
                <a:spcPts val="0"/>
              </a:spcBef>
              <a:spcAft>
                <a:spcPts val="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just">
              <a:lnSpc>
                <a:spcPct val="110000"/>
              </a:lnSpc>
              <a:spcBef>
                <a:spcPts val="0"/>
              </a:spcBef>
              <a:spcAft>
                <a:spcPts val="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重复享受涉农贷款和中小企业贷款损失准备金与一般贷款损失准备金税前扣除政策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just">
              <a:lnSpc>
                <a:spcPct val="110000"/>
              </a:lnSpc>
              <a:spcBef>
                <a:spcPts val="0"/>
              </a:spcBef>
              <a:spcAft>
                <a:spcPts val="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just">
              <a:lnSpc>
                <a:spcPct val="110000"/>
              </a:lnSpc>
              <a:spcBef>
                <a:spcPts val="0"/>
              </a:spcBef>
              <a:spcAft>
                <a:spcPts val="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just">
              <a:lnSpc>
                <a:spcPct val="110000"/>
              </a:lnSpc>
              <a:spcBef>
                <a:spcPts val="0"/>
              </a:spcBef>
              <a:spcAft>
                <a:spcPts val="0"/>
              </a:spcAft>
            </a:pPr>
            <a:r>
              <a:rPr sz="1400" b="0">
                <a:solidFill>
                  <a:srgbClr val="000000"/>
                </a:solidFill>
                <a:latin typeface="Microsoft YaHei"/>
              </a:rPr>
              <a:t>（一）农户贷款；</a:t>
            </a:r>
          </a:p>
          <a:p>
            <a:pPr algn="just">
              <a:lnSpc>
                <a:spcPct val="110000"/>
              </a:lnSpc>
              <a:spcBef>
                <a:spcPts val="0"/>
              </a:spcBef>
              <a:spcAft>
                <a:spcPts val="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just">
              <a:lnSpc>
                <a:spcPct val="110000"/>
              </a:lnSpc>
              <a:spcBef>
                <a:spcPts val="0"/>
              </a:spcBef>
              <a:spcAft>
                <a:spcPts val="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just">
              <a:lnSpc>
                <a:spcPct val="110000"/>
              </a:lnSpc>
              <a:spcBef>
                <a:spcPts val="0"/>
              </a:spcBef>
              <a:spcAft>
                <a:spcPts val="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just">
              <a:lnSpc>
                <a:spcPct val="110000"/>
              </a:lnSpc>
              <a:spcBef>
                <a:spcPts val="0"/>
              </a:spcBef>
              <a:spcAft>
                <a:spcPts val="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just">
              <a:lnSpc>
                <a:spcPct val="110000"/>
              </a:lnSpc>
              <a:spcBef>
                <a:spcPts val="0"/>
              </a:spcBef>
              <a:spcAft>
                <a:spcPts val="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just">
              <a:lnSpc>
                <a:spcPct val="110000"/>
              </a:lnSpc>
              <a:spcBef>
                <a:spcPts val="0"/>
              </a:spcBef>
              <a:spcAft>
                <a:spcPts val="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just">
              <a:lnSpc>
                <a:spcPct val="110000"/>
              </a:lnSpc>
              <a:spcBef>
                <a:spcPts val="0"/>
              </a:spcBef>
              <a:spcAft>
                <a:spcPts val="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未按照类别计提比例扣除贷款损失准备，存在少缴纳企业所得税的风险。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取得的各项补贴收入未确认当期收入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just">
              <a:lnSpc>
                <a:spcPct val="110000"/>
              </a:lnSpc>
              <a:spcBef>
                <a:spcPts val="0"/>
              </a:spcBef>
              <a:spcAft>
                <a:spcPts val="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just">
              <a:lnSpc>
                <a:spcPct val="110000"/>
              </a:lnSpc>
              <a:spcBef>
                <a:spcPts val="0"/>
              </a:spcBef>
              <a:spcAft>
                <a:spcPts val="0"/>
              </a:spcAft>
            </a:pPr>
            <a:r>
              <a:rPr sz="1400" b="0">
                <a:solidFill>
                  <a:srgbClr val="000000"/>
                </a:solidFill>
                <a:latin typeface="Microsoft YaHei"/>
              </a:rPr>
              <a:t>对财政性资金、行政事业性收费、政府性基金有关企业所得税政策问题明确如下：</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just">
              <a:lnSpc>
                <a:spcPct val="110000"/>
              </a:lnSpc>
              <a:spcBef>
                <a:spcPts val="0"/>
              </a:spcBef>
              <a:spcAft>
                <a:spcPts val="0"/>
              </a:spcAft>
            </a:pPr>
            <a:r>
              <a:rPr sz="1400" b="0">
                <a:solidFill>
                  <a:srgbClr val="000000"/>
                </a:solidFill>
                <a:latin typeface="Microsoft YaHei"/>
              </a:rPr>
              <a:t>企业缴纳的不符合上述审批管理权限设立的基金、收费，不得在计算应纳税所得额时扣除。</a:t>
            </a:r>
          </a:p>
          <a:p>
            <a:pPr algn="just">
              <a:lnSpc>
                <a:spcPct val="110000"/>
              </a:lnSpc>
              <a:spcBef>
                <a:spcPts val="0"/>
              </a:spcBef>
              <a:spcAft>
                <a:spcPts val="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just">
              <a:lnSpc>
                <a:spcPct val="110000"/>
              </a:lnSpc>
              <a:spcBef>
                <a:spcPts val="0"/>
              </a:spcBef>
              <a:spcAft>
                <a:spcPts val="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资产处置未申报缴纳企业所得税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不予返还的质保金、保证金未确认收入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根据《中华人民共和国企业所得税法实施条例》第二十二条的规定：</a:t>
            </a:r>
          </a:p>
          <a:p>
            <a:pPr algn="just">
              <a:lnSpc>
                <a:spcPct val="110000"/>
              </a:lnSpc>
              <a:spcBef>
                <a:spcPts val="0"/>
              </a:spcBef>
              <a:spcAft>
                <a:spcPts val="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公允价值变动损益未按规定进行纳税调整。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以公允价值计量的金融资产、金融负债以及投资性房地产等，持有期间公允价值变动不计入应纳税所得额。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just">
              <a:lnSpc>
                <a:spcPct val="110000"/>
              </a:lnSpc>
              <a:spcBef>
                <a:spcPts val="0"/>
              </a:spcBef>
              <a:spcAft>
                <a:spcPts val="0"/>
              </a:spcAft>
            </a:pPr>
            <a:r>
              <a:rPr sz="1400" b="0">
                <a:solidFill>
                  <a:srgbClr val="000000"/>
                </a:solidFill>
                <a:latin typeface="Microsoft YaHei"/>
              </a:rPr>
              <a:t>第三十条 企业的下列支出，可以在计算应纳税所得额时加计扣除：</a:t>
            </a:r>
          </a:p>
          <a:p>
            <a:pPr algn="just">
              <a:lnSpc>
                <a:spcPct val="110000"/>
              </a:lnSpc>
              <a:spcBef>
                <a:spcPts val="0"/>
              </a:spcBef>
              <a:spcAft>
                <a:spcPts val="0"/>
              </a:spcAft>
            </a:pPr>
            <a:r>
              <a:rPr sz="1400" b="0">
                <a:solidFill>
                  <a:srgbClr val="000000"/>
                </a:solidFill>
                <a:latin typeface="Microsoft YaHei"/>
              </a:rPr>
              <a:t>（一）开发新技术、新产品、新工艺发生的研究开发费用；（二）安置残疾人员及国家鼓励安置的其他就业人员所支付的工资。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第三十二条 企业的固定资产由于技术进步等原因，确需加速折旧的，可以缩短折旧年限或者采取加速折旧的方法。</a:t>
            </a:r>
          </a:p>
          <a:p>
            <a:pPr algn="just">
              <a:lnSpc>
                <a:spcPct val="110000"/>
              </a:lnSpc>
              <a:spcBef>
                <a:spcPts val="0"/>
              </a:spcBef>
              <a:spcAft>
                <a:spcPts val="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法人合伙人未申报合伙企业当年留存收益</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合伙企业未分配留存收益，法人合伙人未按应分配比例申报留存收益。</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根据《财政部国家税务总局关于合伙企业合伙人所得税问题的通知》财税〔2008〕159号的规定：</a:t>
            </a:r>
          </a:p>
          <a:p>
            <a:pPr algn="just">
              <a:lnSpc>
                <a:spcPct val="110000"/>
              </a:lnSpc>
              <a:spcBef>
                <a:spcPts val="0"/>
              </a:spcBef>
              <a:spcAft>
                <a:spcPts val="0"/>
              </a:spcAft>
            </a:pPr>
            <a:r>
              <a:rPr sz="1400" b="0">
                <a:solidFill>
                  <a:srgbClr val="000000"/>
                </a:solidFill>
                <a:latin typeface="Microsoft YaHei"/>
              </a:rPr>
              <a:t>合伙企业合伙人的所得税问题通知如下：一、本通知所称合伙企业是指依照中国法律、行政法规成立的合伙企业。</a:t>
            </a:r>
          </a:p>
          <a:p>
            <a:pPr algn="just">
              <a:lnSpc>
                <a:spcPct val="110000"/>
              </a:lnSpc>
              <a:spcBef>
                <a:spcPts val="0"/>
              </a:spcBef>
              <a:spcAft>
                <a:spcPts val="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just">
              <a:lnSpc>
                <a:spcPct val="110000"/>
              </a:lnSpc>
              <a:spcBef>
                <a:spcPts val="0"/>
              </a:spcBef>
              <a:spcAft>
                <a:spcPts val="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just">
              <a:lnSpc>
                <a:spcPct val="110000"/>
              </a:lnSpc>
              <a:spcBef>
                <a:spcPts val="0"/>
              </a:spcBef>
              <a:spcAft>
                <a:spcPts val="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法人合伙人对合伙企业当年的留存收益未进行纳税申报，导致少缴企业所得税。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利息收入未按照合同约定债务人应付利息日期确认收入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债权性投资取得利息收入，未按照合同约定的债务人应付利息的日期确认收入的实现的情况。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just">
              <a:lnSpc>
                <a:spcPct val="110000"/>
              </a:lnSpc>
              <a:spcBef>
                <a:spcPts val="0"/>
              </a:spcBef>
              <a:spcAft>
                <a:spcPts val="0"/>
              </a:spcAft>
            </a:pPr>
            <a:r>
              <a:rPr sz="1400" b="0">
                <a:solidFill>
                  <a:srgbClr val="000000"/>
                </a:solidFill>
                <a:latin typeface="Microsoft YaHei"/>
              </a:rPr>
              <a:t>利息收入，按照合同约定的债务人应付利息的日期确认收入的实现。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收取租金未按合同约定日期确认收入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取得的租金收入，可能存在未按照交易合同或协议规定的承租人应付租金的日期及金额确认收入的情况。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just">
              <a:lnSpc>
                <a:spcPct val="110000"/>
              </a:lnSpc>
              <a:spcBef>
                <a:spcPts val="0"/>
              </a:spcBef>
              <a:spcAft>
                <a:spcPts val="0"/>
              </a:spcAft>
            </a:pPr>
            <a:r>
              <a:rPr sz="1400" b="0">
                <a:solidFill>
                  <a:srgbClr val="000000"/>
                </a:solidFill>
                <a:latin typeface="Microsoft YaHei"/>
              </a:rPr>
              <a:t>特许权使用费收入，按照合同约定的特许权使用人应付特许权使用费的日期确认收入的实现。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企业取得的租金收入，可能存在未按规定确认收入，造成少缴企业所得税的情况。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跨年工程未按完工进度或者完成的工作量确认收入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根据《中华人民共和国企业所得税法实施条例》第二十三条第二项的规定：</a:t>
            </a:r>
          </a:p>
          <a:p>
            <a:pPr algn="just">
              <a:lnSpc>
                <a:spcPct val="110000"/>
              </a:lnSpc>
              <a:spcBef>
                <a:spcPts val="0"/>
              </a:spcBef>
              <a:spcAft>
                <a:spcPts val="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企业的跨年工程，可能存在未按照纳税年度内完工进度或者完成的工作量确认收入的情况。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其他未按纳税义务发生时间确认收入的情况</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企业未按照合同约定的付款时间及金额确认收入，产生风险。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重复列支成本费用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根据《中华人民共和国企业所得税法实施条例》第二十八条第三款的规定：</a:t>
            </a:r>
          </a:p>
          <a:p>
            <a:pPr algn="just">
              <a:lnSpc>
                <a:spcPct val="110000"/>
              </a:lnSpc>
              <a:spcBef>
                <a:spcPts val="0"/>
              </a:spcBef>
              <a:spcAft>
                <a:spcPts val="0"/>
              </a:spcAft>
            </a:pPr>
            <a:r>
              <a:rPr sz="1400" b="0">
                <a:solidFill>
                  <a:srgbClr val="000000"/>
                </a:solidFill>
                <a:latin typeface="Microsoft YaHei"/>
              </a:rPr>
              <a:t>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同一张发票重复列支在总分机构的费用科目，产生多抵扣费用的风险。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预提费用税前扣除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just">
              <a:lnSpc>
                <a:spcPct val="110000"/>
              </a:lnSpc>
              <a:spcBef>
                <a:spcPts val="0"/>
              </a:spcBef>
              <a:spcAft>
                <a:spcPts val="0"/>
              </a:spcAft>
            </a:pPr>
            <a:r>
              <a:rPr sz="1400" b="0">
                <a:solidFill>
                  <a:srgbClr val="000000"/>
                </a:solidFill>
                <a:latin typeface="Microsoft YaHei"/>
              </a:rPr>
              <a:t>企业在年度汇算清缴结束前向员工实际支付的已预提汇缴年度工资薪金，准予在汇缴年度按规定扣除。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税前列支计提但未实际发生的预提款项，未做纳税调增处理，可能存在少缴税款风险。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租赁费及相关税费未按规定税前扣除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just">
              <a:lnSpc>
                <a:spcPct val="110000"/>
              </a:lnSpc>
              <a:spcBef>
                <a:spcPts val="0"/>
              </a:spcBef>
              <a:spcAft>
                <a:spcPts val="0"/>
              </a:spcAft>
            </a:pPr>
            <a:r>
              <a:rPr sz="1400" b="0">
                <a:solidFill>
                  <a:srgbClr val="000000"/>
                </a:solidFill>
                <a:latin typeface="Microsoft YaHei"/>
              </a:rPr>
              <a:t>下列固定资产不得计算折旧扣除：（一）房屋、建筑物以外未投入使用的固定资产；（二）以经营租赁方式租入的固定资产；</a:t>
            </a:r>
          </a:p>
          <a:p>
            <a:pPr algn="just">
              <a:lnSpc>
                <a:spcPct val="110000"/>
              </a:lnSpc>
              <a:spcBef>
                <a:spcPts val="0"/>
              </a:spcBef>
              <a:spcAft>
                <a:spcPts val="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just">
              <a:lnSpc>
                <a:spcPct val="110000"/>
              </a:lnSpc>
              <a:spcBef>
                <a:spcPts val="0"/>
              </a:spcBef>
              <a:spcAft>
                <a:spcPts val="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just">
              <a:lnSpc>
                <a:spcPct val="110000"/>
              </a:lnSpc>
              <a:spcBef>
                <a:spcPts val="0"/>
              </a:spcBef>
              <a:spcAft>
                <a:spcPts val="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资产减值准备、风险准备金税前扣除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存在计提的不可税前列支的各类减值准备、风险准备金在税前列支，未做纳税调整的风险。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just">
              <a:lnSpc>
                <a:spcPct val="110000"/>
              </a:lnSpc>
              <a:spcBef>
                <a:spcPts val="0"/>
              </a:spcBef>
              <a:spcAft>
                <a:spcPts val="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企业将不可税前列支的各类减值准备在税前进行列支，未做纳税调整。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取得交易性金融资产的交易费用一次性税前扣除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根据《中华人民共和国企业所得税法实施条例》第七十一条的规定：</a:t>
            </a:r>
          </a:p>
          <a:p>
            <a:pPr algn="just">
              <a:lnSpc>
                <a:spcPct val="110000"/>
              </a:lnSpc>
              <a:spcBef>
                <a:spcPts val="0"/>
              </a:spcBef>
              <a:spcAft>
                <a:spcPts val="0"/>
              </a:spcAft>
            </a:pPr>
            <a:r>
              <a:rPr sz="1400" b="0">
                <a:solidFill>
                  <a:srgbClr val="000000"/>
                </a:solidFill>
                <a:latin typeface="Microsoft YaHei"/>
              </a:rPr>
              <a:t>企业所得税法第十四条所称投资资产，是指企业对外进行权益性投资和债权性投资形成的资产。</a:t>
            </a:r>
          </a:p>
          <a:p>
            <a:pPr algn="just">
              <a:lnSpc>
                <a:spcPct val="110000"/>
              </a:lnSpc>
              <a:spcBef>
                <a:spcPts val="0"/>
              </a:spcBef>
              <a:spcAft>
                <a:spcPts val="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企业是否将交易费用计入资产初始成本。</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资产损失相关资料不合规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根据《中华人民共和国企业所得税法实施条例》第五十六条的规定：</a:t>
            </a:r>
          </a:p>
          <a:p>
            <a:pPr algn="just">
              <a:lnSpc>
                <a:spcPct val="110000"/>
              </a:lnSpc>
              <a:spcBef>
                <a:spcPts val="0"/>
              </a:spcBef>
              <a:spcAft>
                <a:spcPts val="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just">
              <a:lnSpc>
                <a:spcPct val="110000"/>
              </a:lnSpc>
              <a:spcBef>
                <a:spcPts val="0"/>
              </a:spcBef>
              <a:spcAft>
                <a:spcPts val="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just">
              <a:lnSpc>
                <a:spcPct val="110000"/>
              </a:lnSpc>
              <a:spcBef>
                <a:spcPts val="0"/>
              </a:spcBef>
              <a:spcAft>
                <a:spcPts val="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just">
              <a:lnSpc>
                <a:spcPct val="110000"/>
              </a:lnSpc>
              <a:spcBef>
                <a:spcPts val="0"/>
              </a:spcBef>
              <a:spcAft>
                <a:spcPts val="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just">
              <a:lnSpc>
                <a:spcPct val="110000"/>
              </a:lnSpc>
              <a:spcBef>
                <a:spcPts val="0"/>
              </a:spcBef>
              <a:spcAft>
                <a:spcPts val="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just">
              <a:lnSpc>
                <a:spcPct val="110000"/>
              </a:lnSpc>
              <a:spcBef>
                <a:spcPts val="0"/>
              </a:spcBef>
              <a:spcAft>
                <a:spcPts val="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just">
              <a:lnSpc>
                <a:spcPct val="110000"/>
              </a:lnSpc>
              <a:spcBef>
                <a:spcPts val="0"/>
              </a:spcBef>
              <a:spcAft>
                <a:spcPts val="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just">
              <a:lnSpc>
                <a:spcPct val="110000"/>
              </a:lnSpc>
              <a:spcBef>
                <a:spcPts val="0"/>
              </a:spcBef>
              <a:spcAft>
                <a:spcPts val="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just">
              <a:lnSpc>
                <a:spcPct val="110000"/>
              </a:lnSpc>
              <a:spcBef>
                <a:spcPts val="0"/>
              </a:spcBef>
              <a:spcAft>
                <a:spcPts val="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just">
              <a:lnSpc>
                <a:spcPct val="110000"/>
              </a:lnSpc>
              <a:spcBef>
                <a:spcPts val="0"/>
              </a:spcBef>
              <a:spcAft>
                <a:spcPts val="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just">
              <a:lnSpc>
                <a:spcPct val="110000"/>
              </a:lnSpc>
              <a:spcBef>
                <a:spcPts val="0"/>
              </a:spcBef>
              <a:spcAft>
                <a:spcPts val="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just">
              <a:lnSpc>
                <a:spcPct val="110000"/>
              </a:lnSpc>
              <a:spcBef>
                <a:spcPts val="0"/>
              </a:spcBef>
              <a:spcAft>
                <a:spcPts val="0"/>
              </a:spcAft>
            </a:pPr>
            <a:r>
              <a:rPr sz="1400" b="0">
                <a:solidFill>
                  <a:srgbClr val="000000"/>
                </a:solidFill>
                <a:latin typeface="Microsoft YaHei"/>
              </a:rPr>
              <a:t>（一）企业在正常经营管理活动中，按照公允价格销售、转让、变卖非货币资产的损失；</a:t>
            </a:r>
          </a:p>
          <a:p>
            <a:pPr algn="just">
              <a:lnSpc>
                <a:spcPct val="110000"/>
              </a:lnSpc>
              <a:spcBef>
                <a:spcPts val="0"/>
              </a:spcBef>
              <a:spcAft>
                <a:spcPts val="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just">
              <a:lnSpc>
                <a:spcPct val="110000"/>
              </a:lnSpc>
              <a:spcBef>
                <a:spcPts val="0"/>
              </a:spcBef>
              <a:spcAft>
                <a:spcPts val="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just">
              <a:lnSpc>
                <a:spcPct val="110000"/>
              </a:lnSpc>
              <a:spcBef>
                <a:spcPts val="0"/>
              </a:spcBef>
              <a:spcAft>
                <a:spcPts val="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资产损失相关资料可能存在留存资料不完整、不规范，不符合税前扣除条件的风险。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