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TextBox 1"/>
          <p:cNvSpPr txBox="1"/>
          <p:nvPr/>
        </p:nvSpPr>
        <p:spPr>
          <a:xfrm>
            <a:off x="731520" y="1371600"/>
            <a:ext cx="10728655" cy="2286000"/>
          </a:xfrm>
          <a:prstGeom prst="rect">
            <a:avLst/>
          </a:prstGeom>
          <a:noFill/>
        </p:spPr>
        <p:txBody>
          <a:bodyPr wrap="square">
            <a:spAutoFit/>
          </a:bodyPr>
          <a:lstStyle/>
          <a:p>
            <a:pPr algn="ctr">
              <a:defRPr sz="4000" b="1">
                <a:solidFill>
                  <a:srgbClr val="FFFFFF"/>
                </a:solidFill>
              </a:defRPr>
            </a:pPr>
            <a:r>
              <a:t>社会保险费风险指引</a:t>
            </a:r>
          </a:p>
        </p:txBody>
      </p:sp>
      <p:sp>
        <p:nvSpPr>
          <p:cNvPr id="3" name="TextBox 2"/>
          <p:cNvSpPr txBox="1"/>
          <p:nvPr/>
        </p:nvSpPr>
        <p:spPr>
          <a:xfrm>
            <a:off x="731520" y="3840480"/>
            <a:ext cx="10728655" cy="731520"/>
          </a:xfrm>
          <a:prstGeom prst="rect">
            <a:avLst/>
          </a:prstGeom>
          <a:noFill/>
        </p:spPr>
        <p:txBody>
          <a:bodyPr wrap="none">
            <a:spAutoFit/>
          </a:bodyPr>
          <a:lstStyle/>
          <a:p>
            <a:pPr algn="ctr">
              <a:defRPr sz="2200">
                <a:solidFill>
                  <a:srgbClr val="AABBCC"/>
                </a:solidFill>
              </a:defRPr>
            </a:pPr>
            <a:r>
              <a:t>共 5 个风险点</a:t>
            </a:r>
          </a:p>
        </p:txBody>
      </p:sp>
      <p:sp>
        <p:nvSpPr>
          <p:cNvPr id="4" name="TextBox 3"/>
          <p:cNvSpPr txBox="1"/>
          <p:nvPr/>
        </p:nvSpPr>
        <p:spPr>
          <a:xfrm>
            <a:off x="731520" y="4572000"/>
            <a:ext cx="10728655" cy="731520"/>
          </a:xfrm>
          <a:prstGeom prst="rect">
            <a:avLst/>
          </a:prstGeom>
          <a:noFill/>
        </p:spPr>
        <p:txBody>
          <a:bodyPr wrap="none">
            <a:spAutoFit/>
          </a:bodyPr>
          <a:lstStyle/>
          <a:p>
            <a:pPr algn="ctr">
              <a:defRPr sz="1600">
                <a:solidFill>
                  <a:srgbClr val="8899AA"/>
                </a:solidFill>
              </a:defRPr>
            </a:pPr>
            <a:r>
              <a:t>税费合规指引 (2.0版)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rPr>
              <a:t>社会保险费风险指引  |  风险点 1</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25000"/>
              </a:lnSpc>
              <a:spcBef>
                <a:spcPts val="0"/>
              </a:spcBef>
              <a:spcAft>
                <a:spcPts val="0"/>
              </a:spcAft>
            </a:pPr>
            <a:r>
              <a:rPr sz="1600" b="1">
                <a:solidFill>
                  <a:srgbClr val="1B3A5C"/>
                </a:solidFill>
                <a:latin typeface="Microsoft YaHei"/>
              </a:rPr>
              <a:t>未规范办理职工参保登记</a:t>
            </a:r>
          </a:p>
          <a:p>
            <a:pPr algn="just">
              <a:lnSpc>
                <a:spcPct val="125000"/>
              </a:lnSpc>
              <a:spcBef>
                <a:spcPts val="0"/>
              </a:spcBef>
              <a:spcAft>
                <a:spcPts val="0"/>
              </a:spcAft>
            </a:pPr>
            <a:r>
              <a:rPr sz="1600" b="1">
                <a:solidFill>
                  <a:srgbClr val="333333"/>
                </a:solidFill>
                <a:latin typeface="Microsoft YaHei"/>
              </a:rPr>
              <a:t>【风险描述】</a:t>
            </a:r>
          </a:p>
          <a:p>
            <a:pPr algn="just">
              <a:lnSpc>
                <a:spcPct val="125000"/>
              </a:lnSpc>
              <a:spcBef>
                <a:spcPts val="0"/>
              </a:spcBef>
              <a:spcAft>
                <a:spcPts val="0"/>
              </a:spcAft>
            </a:pPr>
            <a:r>
              <a:rPr sz="1400" b="0">
                <a:solidFill>
                  <a:srgbClr val="000000"/>
                </a:solidFill>
                <a:latin typeface="Microsoft YaHei"/>
              </a:rPr>
              <a:t>用人单位用工后不为职工办理参保登记，或只为部分职工办理参保登记，或只为职工办理部分险种参保登记。</a:t>
            </a:r>
          </a:p>
          <a:p>
            <a:pPr algn="just">
              <a:lnSpc>
                <a:spcPct val="125000"/>
              </a:lnSpc>
              <a:spcBef>
                <a:spcPts val="0"/>
              </a:spcBef>
              <a:spcAft>
                <a:spcPts val="0"/>
              </a:spcAft>
            </a:pPr>
            <a:r>
              <a:rPr sz="1600" b="1">
                <a:solidFill>
                  <a:srgbClr val="1B5C9E"/>
                </a:solidFill>
                <a:latin typeface="Microsoft YaHei"/>
              </a:rPr>
              <a:t>【政策依据】</a:t>
            </a:r>
          </a:p>
          <a:p>
            <a:pPr algn="just">
              <a:lnSpc>
                <a:spcPct val="125000"/>
              </a:lnSpc>
              <a:spcBef>
                <a:spcPts val="0"/>
              </a:spcBef>
              <a:spcAft>
                <a:spcPts val="0"/>
              </a:spcAft>
            </a:pPr>
            <a:r>
              <a:rPr sz="1400" b="0">
                <a:solidFill>
                  <a:srgbClr val="000000"/>
                </a:solidFill>
                <a:latin typeface="Microsoft YaHei"/>
              </a:rPr>
              <a:t>根据《中华人民共和国社会保险法》第五十八条：用人单位应当自用工之日起三十日内为其职工向社会保险经办机构申请办理社会保险登记。未办理社会保险登记的，由社会保险经办机构核定其应当缴纳的社会保险费。</a:t>
            </a:r>
          </a:p>
          <a:p>
            <a:pPr algn="just">
              <a:lnSpc>
                <a:spcPct val="125000"/>
              </a:lnSpc>
              <a:spcBef>
                <a:spcPts val="0"/>
              </a:spcBef>
              <a:spcAft>
                <a:spcPts val="0"/>
              </a:spcAft>
            </a:pPr>
            <a:r>
              <a:rPr sz="1400" b="0">
                <a:solidFill>
                  <a:srgbClr val="000000"/>
                </a:solidFill>
                <a:latin typeface="Microsoft YaHei"/>
              </a:rPr>
              <a:t>根据《社会保险经办条例》第六条规定：用人单位在登记管理机关办理登记时同步办理社会保险登记。个人申请办理社会保险登记，以公民身份号码作为社会保障号码，取得社会保障卡和医保电子凭证。社会保险经办机构应当自收到申请之日起10个工作日内办理完毕。</a:t>
            </a:r>
          </a:p>
          <a:p>
            <a:pPr algn="just">
              <a:lnSpc>
                <a:spcPct val="125000"/>
              </a:lnSpc>
              <a:spcBef>
                <a:spcPts val="0"/>
              </a:spcBef>
              <a:spcAft>
                <a:spcPts val="0"/>
              </a:spcAft>
            </a:pPr>
            <a:r>
              <a:rPr sz="1600" b="1">
                <a:solidFill>
                  <a:srgbClr val="CC3333"/>
                </a:solidFill>
                <a:latin typeface="Microsoft YaHei"/>
              </a:rPr>
              <a:t>【预计风险】</a:t>
            </a:r>
          </a:p>
          <a:p>
            <a:pPr algn="just">
              <a:lnSpc>
                <a:spcPct val="125000"/>
              </a:lnSpc>
              <a:spcBef>
                <a:spcPts val="0"/>
              </a:spcBef>
              <a:spcAft>
                <a:spcPts val="0"/>
              </a:spcAft>
            </a:pPr>
            <a:r>
              <a:rPr sz="1400" b="0">
                <a:solidFill>
                  <a:srgbClr val="000000"/>
                </a:solidFill>
                <a:latin typeface="Microsoft YaHei"/>
              </a:rPr>
              <a:t>用人单位未按照规定办理社会保险登记、变更登记或者注销登记，可能产生行政处罚、加收滞纳金、法定赔偿等风险。</a:t>
            </a:r>
          </a:p>
          <a:p>
            <a:pPr algn="just">
              <a:lnSpc>
                <a:spcPct val="125000"/>
              </a:lnSpc>
              <a:spcBef>
                <a:spcPts val="0"/>
              </a:spcBef>
              <a:spcAft>
                <a:spcPts val="0"/>
              </a:spcAft>
            </a:pPr>
            <a:r>
              <a:rPr sz="1600" b="1">
                <a:solidFill>
                  <a:srgbClr val="008040"/>
                </a:solidFill>
                <a:latin typeface="Microsoft YaHei"/>
              </a:rPr>
              <a:t>【解决方法】</a:t>
            </a:r>
          </a:p>
          <a:p>
            <a:pPr algn="just">
              <a:lnSpc>
                <a:spcPct val="125000"/>
              </a:lnSpc>
              <a:spcBef>
                <a:spcPts val="0"/>
              </a:spcBef>
              <a:spcAft>
                <a:spcPts val="0"/>
              </a:spcAft>
            </a:pPr>
            <a:r>
              <a:rPr sz="1400" b="0">
                <a:solidFill>
                  <a:srgbClr val="000000"/>
                </a:solidFill>
                <a:latin typeface="Microsoft YaHei"/>
              </a:rPr>
              <a:t>用人单位在登记管理机关办理登记时同步办理社会保险登记；用人单位应当自用工之日起30日内，到社保经办机构办理职工参保登记。</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rPr>
              <a:t>社会保险费风险指引  |  风险点 2</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25000"/>
              </a:lnSpc>
              <a:spcBef>
                <a:spcPts val="0"/>
              </a:spcBef>
              <a:spcAft>
                <a:spcPts val="0"/>
              </a:spcAft>
            </a:pPr>
            <a:r>
              <a:rPr sz="1600" b="1">
                <a:solidFill>
                  <a:srgbClr val="1B3A5C"/>
                </a:solidFill>
                <a:latin typeface="Microsoft YaHei"/>
              </a:rPr>
              <a:t>不计、少计、漏计职工缴费工资。</a:t>
            </a:r>
          </a:p>
          <a:p>
            <a:pPr algn="just">
              <a:lnSpc>
                <a:spcPct val="125000"/>
              </a:lnSpc>
              <a:spcBef>
                <a:spcPts val="0"/>
              </a:spcBef>
              <a:spcAft>
                <a:spcPts val="0"/>
              </a:spcAft>
            </a:pPr>
            <a:r>
              <a:rPr sz="1600" b="1">
                <a:solidFill>
                  <a:srgbClr val="333333"/>
                </a:solidFill>
                <a:latin typeface="Microsoft YaHei"/>
              </a:rPr>
              <a:t>【风险描述】</a:t>
            </a:r>
          </a:p>
          <a:p>
            <a:pPr algn="just">
              <a:lnSpc>
                <a:spcPct val="125000"/>
              </a:lnSpc>
              <a:spcBef>
                <a:spcPts val="0"/>
              </a:spcBef>
              <a:spcAft>
                <a:spcPts val="0"/>
              </a:spcAft>
            </a:pPr>
            <a:r>
              <a:rPr sz="1400" b="0">
                <a:solidFill>
                  <a:srgbClr val="000000"/>
                </a:solidFill>
                <a:latin typeface="Microsoft YaHei"/>
              </a:rPr>
              <a:t>企业未按规定规范计算缴费工资，职工缴费工资与其实际工资明显不符。</a:t>
            </a:r>
          </a:p>
          <a:p>
            <a:pPr algn="just">
              <a:lnSpc>
                <a:spcPct val="125000"/>
              </a:lnSpc>
              <a:spcBef>
                <a:spcPts val="0"/>
              </a:spcBef>
              <a:spcAft>
                <a:spcPts val="0"/>
              </a:spcAft>
            </a:pPr>
            <a:r>
              <a:rPr sz="1600" b="1">
                <a:solidFill>
                  <a:srgbClr val="1B5C9E"/>
                </a:solidFill>
                <a:latin typeface="Microsoft YaHei"/>
              </a:rPr>
              <a:t>【政策依据】</a:t>
            </a:r>
          </a:p>
          <a:p>
            <a:pPr algn="just">
              <a:lnSpc>
                <a:spcPct val="125000"/>
              </a:lnSpc>
              <a:spcBef>
                <a:spcPts val="0"/>
              </a:spcBef>
              <a:spcAft>
                <a:spcPts val="0"/>
              </a:spcAft>
            </a:pPr>
            <a:r>
              <a:rPr sz="1400" b="0">
                <a:solidFill>
                  <a:srgbClr val="000000"/>
                </a:solidFill>
                <a:latin typeface="Microsoft YaHei"/>
              </a:rPr>
              <a:t>根据《国家统计局关于工资总额组成的规定》（1990年1月1日国家统计局令第1号）第四条：工资总额由下列六个部分组成：一、计时工资；二、计件工资；三、奖金；四、津贴和补贴；五、加班加点工资；六、特殊情况下支付的工资。根据《劳动和社会保障部社会保险事业管理中心关于规范社会保险缴费基数有关问题的通知》（劳社险中心函〔2006〕60号）第三条：根据国家统计局的规定，下列项目作为工资总额统计，在计算缴费基数时作为依据：1．计时工资；2．计件工资；3．奖金；4．津贴；5．补贴；6．加班加点工资；7．其他工资；8．特殊项目构成的工资。第五条：单位职工本人缴纳基本养老保险费的基数原则上以上一年度本人月平均工资为基础，在当地职工平均工资的60%—300%的范围内进行核定。参保单位缴纳基本医疗保险、失业保险、工伤保险、生育保险费的基数为职工工资总额，基本医疗保险、失业保险职工个人缴费基数为本人工资，为便于征缴可以以上一年度个人月平均工资为缴费基数。</a:t>
            </a:r>
          </a:p>
          <a:p>
            <a:pPr algn="just">
              <a:lnSpc>
                <a:spcPct val="125000"/>
              </a:lnSpc>
              <a:spcBef>
                <a:spcPts val="0"/>
              </a:spcBef>
              <a:spcAft>
                <a:spcPts val="0"/>
              </a:spcAft>
            </a:pPr>
            <a:r>
              <a:rPr sz="1600" b="1">
                <a:solidFill>
                  <a:srgbClr val="CC3333"/>
                </a:solidFill>
                <a:latin typeface="Microsoft YaHei"/>
              </a:rPr>
              <a:t>【预计风险】</a:t>
            </a:r>
          </a:p>
          <a:p>
            <a:pPr algn="just">
              <a:lnSpc>
                <a:spcPct val="125000"/>
              </a:lnSpc>
              <a:spcBef>
                <a:spcPts val="0"/>
              </a:spcBef>
              <a:spcAft>
                <a:spcPts val="0"/>
              </a:spcAft>
            </a:pPr>
            <a:r>
              <a:rPr sz="1400" b="0">
                <a:solidFill>
                  <a:srgbClr val="000000"/>
                </a:solidFill>
                <a:latin typeface="Microsoft YaHei"/>
              </a:rPr>
              <a:t>用人单位未按时足额缴纳社会保险费的，可能产生行政处罚、加收滞纳金、法定赔偿、举报投诉等风险。</a:t>
            </a:r>
          </a:p>
          <a:p>
            <a:pPr algn="just">
              <a:lnSpc>
                <a:spcPct val="125000"/>
              </a:lnSpc>
              <a:spcBef>
                <a:spcPts val="0"/>
              </a:spcBef>
              <a:spcAft>
                <a:spcPts val="0"/>
              </a:spcAft>
            </a:pPr>
            <a:r>
              <a:rPr sz="1600" b="1">
                <a:solidFill>
                  <a:srgbClr val="008040"/>
                </a:solidFill>
                <a:latin typeface="Microsoft YaHei"/>
              </a:rPr>
              <a:t>【解决方法】</a:t>
            </a:r>
          </a:p>
          <a:p>
            <a:pPr algn="just">
              <a:lnSpc>
                <a:spcPct val="125000"/>
              </a:lnSpc>
              <a:spcBef>
                <a:spcPts val="0"/>
              </a:spcBef>
              <a:spcAft>
                <a:spcPts val="0"/>
              </a:spcAft>
            </a:pPr>
            <a:r>
              <a:rPr sz="1400" b="0">
                <a:solidFill>
                  <a:srgbClr val="000000"/>
                </a:solidFill>
                <a:latin typeface="Microsoft YaHei"/>
              </a:rPr>
              <a:t>足额计算职工缴费工资，企业按照国家及各省规定的工资项目等计算职工缴费工资，不少计、不漏计缴费工资。不同险种的缴费工资计算口径一致，企业按照国家及各省规定，按统一口径计算各险种缴费工资。</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rPr>
              <a:t>社会保险费风险指引  |  风险点 3</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25000"/>
              </a:lnSpc>
              <a:spcBef>
                <a:spcPts val="0"/>
              </a:spcBef>
              <a:spcAft>
                <a:spcPts val="0"/>
              </a:spcAft>
            </a:pPr>
            <a:r>
              <a:rPr sz="1600" b="1">
                <a:solidFill>
                  <a:srgbClr val="1B3A5C"/>
                </a:solidFill>
                <a:latin typeface="Microsoft YaHei"/>
              </a:rPr>
              <a:t>未及时申报新参保职工缴费工资</a:t>
            </a:r>
          </a:p>
          <a:p>
            <a:pPr algn="just">
              <a:lnSpc>
                <a:spcPct val="125000"/>
              </a:lnSpc>
              <a:spcBef>
                <a:spcPts val="0"/>
              </a:spcBef>
              <a:spcAft>
                <a:spcPts val="0"/>
              </a:spcAft>
            </a:pPr>
            <a:r>
              <a:rPr sz="1600" b="1">
                <a:solidFill>
                  <a:srgbClr val="333333"/>
                </a:solidFill>
                <a:latin typeface="Microsoft YaHei"/>
              </a:rPr>
              <a:t>【风险描述】</a:t>
            </a:r>
          </a:p>
          <a:p>
            <a:pPr algn="just">
              <a:lnSpc>
                <a:spcPct val="125000"/>
              </a:lnSpc>
              <a:spcBef>
                <a:spcPts val="0"/>
              </a:spcBef>
              <a:spcAft>
                <a:spcPts val="0"/>
              </a:spcAft>
            </a:pPr>
            <a:r>
              <a:rPr sz="1400" b="0">
                <a:solidFill>
                  <a:srgbClr val="000000"/>
                </a:solidFill>
                <a:latin typeface="Microsoft YaHei"/>
              </a:rPr>
              <a:t>用人单位为新参保职工办理参保登记后，未及时按照政策规定及有关要求为新参保职工申报缴费工资；用人单位不规范核算新参保职工工资，企业未按《劳动合同法》确定试用期职工工资，不计、少计、漏计缴费工资。</a:t>
            </a:r>
          </a:p>
          <a:p>
            <a:pPr algn="just">
              <a:lnSpc>
                <a:spcPct val="125000"/>
              </a:lnSpc>
              <a:spcBef>
                <a:spcPts val="0"/>
              </a:spcBef>
              <a:spcAft>
                <a:spcPts val="0"/>
              </a:spcAft>
            </a:pPr>
            <a:r>
              <a:rPr sz="1600" b="1">
                <a:solidFill>
                  <a:srgbClr val="1B5C9E"/>
                </a:solidFill>
                <a:latin typeface="Microsoft YaHei"/>
              </a:rPr>
              <a:t>【政策依据】</a:t>
            </a:r>
          </a:p>
          <a:p>
            <a:pPr algn="just">
              <a:lnSpc>
                <a:spcPct val="125000"/>
              </a:lnSpc>
              <a:spcBef>
                <a:spcPts val="0"/>
              </a:spcBef>
              <a:spcAft>
                <a:spcPts val="0"/>
              </a:spcAft>
            </a:pPr>
            <a:r>
              <a:rPr sz="1400" b="0">
                <a:solidFill>
                  <a:srgbClr val="000000"/>
                </a:solidFill>
                <a:latin typeface="Microsoft YaHei"/>
              </a:rPr>
              <a:t>根据《中华人民共和国社会保险法》第五十八条：用人单位应当自用工之日起三十日内为其职工向社会保险经办机构申请办理社会保险登记。第六十条：用人单位应当自行申报、按时足额缴纳社会保险费，非因不可抗力等法定事由不得缓缴、减免。职工应当缴纳的社会保险费由企业代扣代缴，用人单位应当按月将缴纳社会保险费的明细情况告知本人。</a:t>
            </a:r>
          </a:p>
          <a:p>
            <a:pPr algn="just">
              <a:lnSpc>
                <a:spcPct val="125000"/>
              </a:lnSpc>
              <a:spcBef>
                <a:spcPts val="0"/>
              </a:spcBef>
              <a:spcAft>
                <a:spcPts val="0"/>
              </a:spcAft>
            </a:pPr>
            <a:r>
              <a:rPr sz="1400" b="0">
                <a:solidFill>
                  <a:srgbClr val="000000"/>
                </a:solidFill>
                <a:latin typeface="Microsoft YaHei"/>
              </a:rPr>
              <a:t>根据《职工基本养老保险个人账户管理暂行办法》（劳办发〔1997〕116号）第八条：新招职工（包括研究生、大学生、大中专毕业生等）以起薪当月工资收入作为缴费工资基数；从第二年起，按上一年实发工资的月平均工资作为缴费工资基数。</a:t>
            </a:r>
          </a:p>
          <a:p>
            <a:pPr algn="just">
              <a:lnSpc>
                <a:spcPct val="125000"/>
              </a:lnSpc>
              <a:spcBef>
                <a:spcPts val="0"/>
              </a:spcBef>
              <a:spcAft>
                <a:spcPts val="0"/>
              </a:spcAft>
            </a:pPr>
            <a:r>
              <a:rPr sz="1600" b="1">
                <a:solidFill>
                  <a:srgbClr val="CC3333"/>
                </a:solidFill>
                <a:latin typeface="Microsoft YaHei"/>
              </a:rPr>
              <a:t>【预计风险】</a:t>
            </a:r>
          </a:p>
          <a:p>
            <a:pPr algn="just">
              <a:lnSpc>
                <a:spcPct val="125000"/>
              </a:lnSpc>
              <a:spcBef>
                <a:spcPts val="0"/>
              </a:spcBef>
              <a:spcAft>
                <a:spcPts val="0"/>
              </a:spcAft>
            </a:pPr>
            <a:r>
              <a:rPr sz="1400" b="0">
                <a:solidFill>
                  <a:srgbClr val="000000"/>
                </a:solidFill>
                <a:latin typeface="Microsoft YaHei"/>
              </a:rPr>
              <a:t>用人单位未及时申报新参保职工缴费工资，可能产生行政处罚、加收滞纳金、法定赔偿等风险。</a:t>
            </a:r>
          </a:p>
          <a:p>
            <a:pPr algn="just">
              <a:lnSpc>
                <a:spcPct val="125000"/>
              </a:lnSpc>
              <a:spcBef>
                <a:spcPts val="0"/>
              </a:spcBef>
              <a:spcAft>
                <a:spcPts val="0"/>
              </a:spcAft>
            </a:pPr>
            <a:r>
              <a:rPr sz="1600" b="1">
                <a:solidFill>
                  <a:srgbClr val="008040"/>
                </a:solidFill>
                <a:latin typeface="Microsoft YaHei"/>
              </a:rPr>
              <a:t>【解决方法】</a:t>
            </a:r>
          </a:p>
          <a:p>
            <a:pPr algn="just">
              <a:lnSpc>
                <a:spcPct val="125000"/>
              </a:lnSpc>
              <a:spcBef>
                <a:spcPts val="0"/>
              </a:spcBef>
              <a:spcAft>
                <a:spcPts val="0"/>
              </a:spcAft>
            </a:pPr>
            <a:r>
              <a:rPr sz="1400" b="0">
                <a:solidFill>
                  <a:srgbClr val="000000"/>
                </a:solidFill>
                <a:latin typeface="Microsoft YaHei"/>
              </a:rPr>
              <a:t>用人单位按照国家及各省有关规定确定社会保险缴费工资组成项目，核算新参保职工缴费工资。用人单位应当自用工之日起30日内为其职工申请办理社会保险登记、申报缴纳社会保险费。自用工之日起30日内办理新增参保登记，且及时申报缴纳入职当月的社保费的，不认定为欠费，不加收滞纳金。</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rPr>
              <a:t>社会保险费风险指引  |  风险点 4</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25000"/>
              </a:lnSpc>
              <a:spcBef>
                <a:spcPts val="0"/>
              </a:spcBef>
              <a:spcAft>
                <a:spcPts val="0"/>
              </a:spcAft>
            </a:pPr>
            <a:r>
              <a:rPr sz="1600" b="1">
                <a:solidFill>
                  <a:srgbClr val="1B3A5C"/>
                </a:solidFill>
                <a:latin typeface="Microsoft YaHei"/>
              </a:rPr>
              <a:t>未规范核算职工月平均工资</a:t>
            </a:r>
          </a:p>
          <a:p>
            <a:pPr algn="just">
              <a:lnSpc>
                <a:spcPct val="125000"/>
              </a:lnSpc>
              <a:spcBef>
                <a:spcPts val="0"/>
              </a:spcBef>
              <a:spcAft>
                <a:spcPts val="0"/>
              </a:spcAft>
            </a:pPr>
            <a:r>
              <a:rPr sz="1600" b="1">
                <a:solidFill>
                  <a:srgbClr val="333333"/>
                </a:solidFill>
                <a:latin typeface="Microsoft YaHei"/>
              </a:rPr>
              <a:t>【风险描述】</a:t>
            </a:r>
          </a:p>
          <a:p>
            <a:pPr algn="just">
              <a:lnSpc>
                <a:spcPct val="125000"/>
              </a:lnSpc>
              <a:spcBef>
                <a:spcPts val="0"/>
              </a:spcBef>
              <a:spcAft>
                <a:spcPts val="0"/>
              </a:spcAft>
            </a:pPr>
            <a:r>
              <a:rPr sz="1400" b="0">
                <a:solidFill>
                  <a:srgbClr val="000000"/>
                </a:solidFill>
                <a:latin typeface="Microsoft YaHei"/>
              </a:rPr>
              <a:t>未按国家规定的缴费工资项目和职工实际在岗时间，准确核算职工缴费工资。</a:t>
            </a:r>
          </a:p>
          <a:p>
            <a:pPr algn="just">
              <a:lnSpc>
                <a:spcPct val="125000"/>
              </a:lnSpc>
              <a:spcBef>
                <a:spcPts val="0"/>
              </a:spcBef>
              <a:spcAft>
                <a:spcPts val="0"/>
              </a:spcAft>
            </a:pPr>
            <a:r>
              <a:rPr sz="1600" b="1">
                <a:solidFill>
                  <a:srgbClr val="1B5C9E"/>
                </a:solidFill>
                <a:latin typeface="Microsoft YaHei"/>
              </a:rPr>
              <a:t>【政策依据】</a:t>
            </a:r>
          </a:p>
          <a:p>
            <a:pPr algn="just">
              <a:lnSpc>
                <a:spcPct val="125000"/>
              </a:lnSpc>
              <a:spcBef>
                <a:spcPts val="0"/>
              </a:spcBef>
              <a:spcAft>
                <a:spcPts val="0"/>
              </a:spcAft>
            </a:pPr>
            <a:r>
              <a:rPr sz="1400" b="0">
                <a:solidFill>
                  <a:srgbClr val="000000"/>
                </a:solidFill>
                <a:latin typeface="Microsoft YaHei"/>
              </a:rPr>
              <a:t>根据《中华人民共和国社会保险法》第六十条：用人单位应当自行申报、按时足额缴纳社会保险费，非因不可抗力等法定事由不得缓缴、减免。职工应当缴纳的社会保险费由企业代扣代缴，用人单位应当按月将缴纳社会保险费的明细情况告知本人。《劳动和社会保障部社会保险事业管理中心关于规范社会保险缴费基数有关问题的通知》（劳社险中心函〔2006〕60号）第五条：单位职工本人缴纳基本养老保险费的基数原则上以上一年度本人月平均工资为基础，在当地职工平均工资的60%—300%的范围内进行核定。参保单位缴纳基本医疗保险、失业保险、工伤保险、生育保险费的基数为职工工资总额，基本医疗保险、失业保险职工个人缴费基数为本人工资，为便于征缴可以以上一年度个人月平均工资为缴费基数。</a:t>
            </a:r>
          </a:p>
          <a:p>
            <a:pPr algn="just">
              <a:lnSpc>
                <a:spcPct val="125000"/>
              </a:lnSpc>
              <a:spcBef>
                <a:spcPts val="0"/>
              </a:spcBef>
              <a:spcAft>
                <a:spcPts val="0"/>
              </a:spcAft>
            </a:pPr>
            <a:r>
              <a:rPr sz="1600" b="1">
                <a:solidFill>
                  <a:srgbClr val="CC3333"/>
                </a:solidFill>
                <a:latin typeface="Microsoft YaHei"/>
              </a:rPr>
              <a:t>【预计风险】</a:t>
            </a:r>
          </a:p>
          <a:p>
            <a:pPr algn="just">
              <a:lnSpc>
                <a:spcPct val="125000"/>
              </a:lnSpc>
              <a:spcBef>
                <a:spcPts val="0"/>
              </a:spcBef>
              <a:spcAft>
                <a:spcPts val="0"/>
              </a:spcAft>
            </a:pPr>
            <a:r>
              <a:rPr sz="1400" b="0">
                <a:solidFill>
                  <a:srgbClr val="000000"/>
                </a:solidFill>
                <a:latin typeface="Microsoft YaHei"/>
              </a:rPr>
              <a:t>用人单位未规范核算职工月平均工资，可能产生行政处罚、加收滞纳金、法定赔偿等风险。</a:t>
            </a:r>
          </a:p>
          <a:p>
            <a:pPr algn="just">
              <a:lnSpc>
                <a:spcPct val="125000"/>
              </a:lnSpc>
              <a:spcBef>
                <a:spcPts val="0"/>
              </a:spcBef>
              <a:spcAft>
                <a:spcPts val="0"/>
              </a:spcAft>
            </a:pPr>
            <a:r>
              <a:rPr sz="1600" b="1">
                <a:solidFill>
                  <a:srgbClr val="008040"/>
                </a:solidFill>
                <a:latin typeface="Microsoft YaHei"/>
              </a:rPr>
              <a:t>【解决方法】</a:t>
            </a:r>
          </a:p>
          <a:p>
            <a:pPr algn="just">
              <a:lnSpc>
                <a:spcPct val="125000"/>
              </a:lnSpc>
              <a:spcBef>
                <a:spcPts val="0"/>
              </a:spcBef>
              <a:spcAft>
                <a:spcPts val="0"/>
              </a:spcAft>
            </a:pPr>
            <a:r>
              <a:rPr sz="1400" b="0">
                <a:solidFill>
                  <a:srgbClr val="000000"/>
                </a:solidFill>
                <a:latin typeface="Microsoft YaHei"/>
              </a:rPr>
              <a:t>准确核算职工缴费工资。用人单位按照国家规定的缴费工资项目和职工实际在岗时间，准确核算全体职工缴费工资。企业核算的职工缴费工资应由职工本人签字确认。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rPr>
              <a:t>社会保险费风险指引  |  风险点 5</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25000"/>
              </a:lnSpc>
              <a:spcBef>
                <a:spcPts val="0"/>
              </a:spcBef>
              <a:spcAft>
                <a:spcPts val="0"/>
              </a:spcAft>
            </a:pPr>
            <a:r>
              <a:rPr sz="1600" b="1">
                <a:solidFill>
                  <a:srgbClr val="1B3A5C"/>
                </a:solidFill>
                <a:latin typeface="Microsoft YaHei"/>
              </a:rPr>
              <a:t>未按期申报缴纳应缴社保费</a:t>
            </a:r>
          </a:p>
          <a:p>
            <a:pPr algn="just">
              <a:lnSpc>
                <a:spcPct val="125000"/>
              </a:lnSpc>
              <a:spcBef>
                <a:spcPts val="0"/>
              </a:spcBef>
              <a:spcAft>
                <a:spcPts val="0"/>
              </a:spcAft>
            </a:pPr>
            <a:r>
              <a:rPr sz="1600" b="1">
                <a:solidFill>
                  <a:srgbClr val="333333"/>
                </a:solidFill>
                <a:latin typeface="Microsoft YaHei"/>
              </a:rPr>
              <a:t>【风险描述】</a:t>
            </a:r>
          </a:p>
          <a:p>
            <a:pPr algn="just">
              <a:lnSpc>
                <a:spcPct val="125000"/>
              </a:lnSpc>
              <a:spcBef>
                <a:spcPts val="0"/>
              </a:spcBef>
              <a:spcAft>
                <a:spcPts val="0"/>
              </a:spcAft>
            </a:pPr>
            <a:r>
              <a:rPr sz="1400" b="0">
                <a:solidFill>
                  <a:srgbClr val="000000"/>
                </a:solidFill>
                <a:latin typeface="Microsoft YaHei"/>
              </a:rPr>
              <a:t>申报、调整职工缴费工资后，未在每月征期内申报缴纳应缴社保费。</a:t>
            </a:r>
          </a:p>
          <a:p>
            <a:pPr algn="just">
              <a:lnSpc>
                <a:spcPct val="125000"/>
              </a:lnSpc>
              <a:spcBef>
                <a:spcPts val="0"/>
              </a:spcBef>
              <a:spcAft>
                <a:spcPts val="0"/>
              </a:spcAft>
            </a:pPr>
            <a:r>
              <a:rPr sz="1600" b="1">
                <a:solidFill>
                  <a:srgbClr val="1B5C9E"/>
                </a:solidFill>
                <a:latin typeface="Microsoft YaHei"/>
              </a:rPr>
              <a:t>【政策依据】</a:t>
            </a:r>
          </a:p>
          <a:p>
            <a:pPr algn="just">
              <a:lnSpc>
                <a:spcPct val="125000"/>
              </a:lnSpc>
              <a:spcBef>
                <a:spcPts val="0"/>
              </a:spcBef>
              <a:spcAft>
                <a:spcPts val="0"/>
              </a:spcAft>
            </a:pPr>
            <a:r>
              <a:rPr sz="1400" b="0">
                <a:solidFill>
                  <a:srgbClr val="000000"/>
                </a:solidFill>
                <a:latin typeface="Microsoft YaHei"/>
              </a:rPr>
              <a:t>根据《中华人民共和国社会保险法》第六十条：用人单位应当自行申报、按时足额缴纳社会保险费，非因不可抗力等法定事由不得缓缴、减免。职工应当缴纳的社会保险费由企业代扣代缴，用人单位应当按月将缴纳社会保险费的明细情况告知本人。《社会保险费征缴暂行条例》第十条：缴费单位必须按月申报应缴纳的社会保险费数额，在规定的期限内缴纳社会保险费。《国家税务总局黑龙江省税务局 黑龙江省财政厅黑龙江省人力资源和社会保障厅 黑龙江省医疗保障局中国人民银行黑龙江省分行关于优化调整社会保险费申报缴纳流程的公告》（2024年第1号）第二项：用人单位应当每月自行向税务部门申报应缴费额并缴纳社会保险费。</a:t>
            </a:r>
          </a:p>
          <a:p>
            <a:pPr algn="just">
              <a:lnSpc>
                <a:spcPct val="125000"/>
              </a:lnSpc>
              <a:spcBef>
                <a:spcPts val="0"/>
              </a:spcBef>
              <a:spcAft>
                <a:spcPts val="0"/>
              </a:spcAft>
            </a:pPr>
            <a:r>
              <a:rPr sz="1600" b="1">
                <a:solidFill>
                  <a:srgbClr val="CC3333"/>
                </a:solidFill>
                <a:latin typeface="Microsoft YaHei"/>
              </a:rPr>
              <a:t>【预计风险】</a:t>
            </a:r>
          </a:p>
          <a:p>
            <a:pPr algn="just">
              <a:lnSpc>
                <a:spcPct val="125000"/>
              </a:lnSpc>
              <a:spcBef>
                <a:spcPts val="0"/>
              </a:spcBef>
              <a:spcAft>
                <a:spcPts val="0"/>
              </a:spcAft>
            </a:pPr>
            <a:r>
              <a:rPr sz="1400" b="0">
                <a:solidFill>
                  <a:srgbClr val="000000"/>
                </a:solidFill>
                <a:latin typeface="Microsoft YaHei"/>
              </a:rPr>
              <a:t>用人单位未按期申报缴纳应缴社保费，可能产生加收滞纳金、罚款、强制执行、影响纳税缴费信用评价等风险。</a:t>
            </a:r>
          </a:p>
          <a:p>
            <a:pPr algn="just">
              <a:lnSpc>
                <a:spcPct val="125000"/>
              </a:lnSpc>
              <a:spcBef>
                <a:spcPts val="0"/>
              </a:spcBef>
              <a:spcAft>
                <a:spcPts val="0"/>
              </a:spcAft>
            </a:pPr>
            <a:r>
              <a:rPr sz="1600" b="1">
                <a:solidFill>
                  <a:srgbClr val="008040"/>
                </a:solidFill>
                <a:latin typeface="Microsoft YaHei"/>
              </a:rPr>
              <a:t>【解决方法】</a:t>
            </a:r>
          </a:p>
          <a:p>
            <a:pPr algn="just">
              <a:lnSpc>
                <a:spcPct val="125000"/>
              </a:lnSpc>
              <a:spcBef>
                <a:spcPts val="0"/>
              </a:spcBef>
              <a:spcAft>
                <a:spcPts val="0"/>
              </a:spcAft>
            </a:pPr>
            <a:r>
              <a:rPr sz="1400" b="0">
                <a:solidFill>
                  <a:srgbClr val="000000"/>
                </a:solidFill>
                <a:latin typeface="Microsoft YaHei"/>
              </a:rPr>
              <a:t>按期申报缴纳社保费。申报、调整职工缴费工资后，在每月征期内申报缴纳的社保费。</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