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混淆普通标准住宅界定</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房地产开发企业建造高级公寓按普通标准住宅申报增值额未超过扣除项目金额20%的免征土地增值税。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根据《中华人民共和国土地增值税暂行条例》（国务院令第138号）第八条的规定：</a:t>
            </a:r>
          </a:p>
          <a:p>
            <a:pPr algn="l">
              <a:lnSpc>
                <a:spcPct val="125000"/>
              </a:lnSpc>
              <a:spcBef>
                <a:spcPts val="0"/>
              </a:spcBef>
              <a:spcAft>
                <a:spcPts val="0"/>
              </a:spcAft>
            </a:pPr>
            <a:r>
              <a:rPr sz="1400" b="0">
                <a:solidFill>
                  <a:srgbClr val="000000"/>
                </a:solidFill>
                <a:latin typeface="Microsoft YaHei"/>
              </a:rPr>
              <a:t>有下列情形之一的，免征土地增值税：（一）纳税人建造普通标准住宅出售，增值额未超过扣除项目金额20%的。</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预收款未按预征率预交土地增值税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房企未按照项目所在地规定预征率交土地增值税。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根据《土地增值税暂行条例实施细则》（财法字〔1995〕6号）第十六条的规定：</a:t>
            </a:r>
          </a:p>
          <a:p>
            <a:pPr algn="l">
              <a:lnSpc>
                <a:spcPct val="125000"/>
              </a:lnSpc>
              <a:spcBef>
                <a:spcPts val="0"/>
              </a:spcBef>
              <a:spcAft>
                <a:spcPts val="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号）第三条第一款规定：“土地增值税纳税人转让房地产取得的收入为不含增值税收入。” 《国家税务总局关于营改增后土地增值税若干征管规定的公告》（国家税务总局公告2016年第70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ct val="125000"/>
              </a:lnSpc>
              <a:spcBef>
                <a:spcPts val="0"/>
              </a:spcBef>
              <a:spcAft>
                <a:spcPts val="0"/>
              </a:spcAft>
            </a:pPr>
            <a:r>
              <a:rPr sz="1400" b="0">
                <a:solidFill>
                  <a:srgbClr val="000000"/>
                </a:solidFill>
                <a:latin typeface="Microsoft YaHei"/>
              </a:rPr>
              <a:t>土地增值税预征的计征依据=预收款-应预缴增值税税款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房地产开发企业未按项目所在地规定预征交土地增值税产生罚款、滞纳金的风险。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隐瞒、虚报房地产成交价格</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房地产开发企业通过签订阴阳合同等方式，隐瞒、虚报房地产实际成交价格。</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土地增值税暂行条例》第九条的规定：纳税人有下列情形之一的，按照房地产评估价格计算征收：（一）隐瞒、虚报房地产成交价格的；（二）提供扣除项目金额不实的；（三）转让房地产的成交价格低于房地产评估价格，又无正当理由的。</a:t>
            </a:r>
          </a:p>
          <a:p>
            <a:pPr algn="l">
              <a:lnSpc>
                <a:spcPct val="125000"/>
              </a:lnSpc>
              <a:spcBef>
                <a:spcPts val="0"/>
              </a:spcBef>
              <a:spcAft>
                <a:spcPts val="0"/>
              </a:spcAft>
            </a:pPr>
            <a:r>
              <a:rPr sz="1400" b="0">
                <a:solidFill>
                  <a:srgbClr val="000000"/>
                </a:solidFill>
                <a:latin typeface="Microsoft YaHei"/>
              </a:rPr>
              <a:t>《土地增值税暂行条例实施细则》法字〔1995〕6号第十四条 条例第九条（一）项所称的隐瞒、虚报房地产成交价格，是指纳税人不报或有意低报转让土地使用权、地上建筑物及其附着物价款的行为。</a:t>
            </a:r>
          </a:p>
          <a:p>
            <a:pPr algn="l">
              <a:lnSpc>
                <a:spcPct val="125000"/>
              </a:lnSpc>
              <a:spcBef>
                <a:spcPts val="0"/>
              </a:spcBef>
              <a:spcAft>
                <a:spcPts val="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房地产开发企业通过隐瞒、虚报房地产成交价格，存在少计收入，产生少交土地增值额的风险。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提供扣除项目不实</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房地产开发企业在土地增值税清算申报时，不据实提供扣除项目金额。</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l">
              <a:lnSpc>
                <a:spcPct val="125000"/>
              </a:lnSpc>
              <a:spcBef>
                <a:spcPts val="0"/>
              </a:spcBef>
              <a:spcAft>
                <a:spcPts val="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四）房地产开发企业销售已装修的房屋，其装修费用可以计入房地产开发成本。</a:t>
            </a:r>
          </a:p>
          <a:p>
            <a:pPr algn="l">
              <a:lnSpc>
                <a:spcPct val="125000"/>
              </a:lnSpc>
              <a:spcBef>
                <a:spcPts val="0"/>
              </a:spcBef>
              <a:spcAft>
                <a:spcPts val="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房地产开发企业通过不实申报扣除项目，减少增值额，产生少缴土地增值税的风险。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推迟收款入账时间以不含增值税收入计账</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房地产开发企业利用营改增计税方法不同，为降低土地增值税的收入金额，人为推迟老项目收入入账时间，少计收入。</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开发产品用于职工福利、奖励、对外投资、分配给股东等行为未申报土地增值税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利息支出据实扣除超过同类同期贷款利率</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房地产开发企业据实扣除的利息支出超过商业银行同类同期贷款利率。</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根据《中华人民共和国土地增值税暂行条例实施细则》（财法字〔1995〕6号）第七条第三款的规定：</a:t>
            </a:r>
          </a:p>
          <a:p>
            <a:pPr algn="l">
              <a:lnSpc>
                <a:spcPct val="125000"/>
              </a:lnSpc>
              <a:spcBef>
                <a:spcPts val="0"/>
              </a:spcBef>
              <a:spcAft>
                <a:spcPts val="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房地产开发企业据实扣除的利息支出超过商业银行同类同期贷款利率，减少增值额，产生少缴土地增值税的风险。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营改增后取得的发票不合规申报扣除项</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房地产开发企业取得营改增后建安发票，备注栏未注明建筑服务发生地县（市、区）名称及项目名称。</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根据《国家税务总局关于全面推开营业税改征增值税试点有关税收征收管理事项的公告》（国家税务总局公告2016年第23号）的规定：</a:t>
            </a:r>
          </a:p>
          <a:p>
            <a:pPr algn="l">
              <a:lnSpc>
                <a:spcPct val="125000"/>
              </a:lnSpc>
              <a:spcBef>
                <a:spcPts val="0"/>
              </a:spcBef>
              <a:spcAft>
                <a:spcPts val="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l">
              <a:lnSpc>
                <a:spcPct val="125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年第23号）规定，在发票的备注栏注明建筑服务发生地县（市、区）名称及项目名称，否则不得计入土地增值税扣除项目金额。</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将不符合规定的评估费列入扣除项</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取得固定收益未申报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号）第二十四条规定：合作开发房地产合同约定提供土地使用权的当事人不承担经营风险，只收取固定利益的，应当认定为土地使用权转让合同。</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多计施工水、电费增加成本</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根据《中华人民共和国土地增值税暂行条例》（国务院令第138号）第六条 的规定：</a:t>
            </a:r>
          </a:p>
          <a:p>
            <a:pPr algn="l">
              <a:lnSpc>
                <a:spcPct val="125000"/>
              </a:lnSpc>
              <a:spcBef>
                <a:spcPts val="0"/>
              </a:spcBef>
              <a:spcAft>
                <a:spcPts val="0"/>
              </a:spcAft>
            </a:pPr>
            <a:r>
              <a:rPr sz="1400" b="0">
                <a:solidFill>
                  <a:srgbClr val="000000"/>
                </a:solidFill>
                <a:latin typeface="Microsoft YaHei"/>
              </a:rPr>
              <a:t>计算增值额的扣除项目：</a:t>
            </a:r>
          </a:p>
          <a:p>
            <a:pPr algn="l">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房地产开发企业垫付施工单位水电费计入开发间接费，通过多计成本的方式，减少增值额，少缴土地增值税的风险。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将逾期开发的土地闲置费用申报扣除</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房地产开发企业将逾期开发缴纳的土地闲置费用申报扣除，多计扣除项。</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根据《国家税务总局关于土地增值税清算有关问题的通知》（国税函〔2010〕220号）第四条的规定：</a:t>
            </a:r>
          </a:p>
          <a:p>
            <a:pPr algn="l">
              <a:lnSpc>
                <a:spcPct val="125000"/>
              </a:lnSpc>
              <a:spcBef>
                <a:spcPts val="0"/>
              </a:spcBef>
              <a:spcAft>
                <a:spcPts val="0"/>
              </a:spcAft>
            </a:pPr>
            <a:r>
              <a:rPr sz="1400" b="0">
                <a:solidFill>
                  <a:srgbClr val="000000"/>
                </a:solidFill>
                <a:latin typeface="Microsoft YaHei"/>
              </a:rPr>
              <a:t>房地产开发企业逾期开发缴纳的土地闲置费不得税前扣除。</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将未取得发票的质保金申报扣除</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房地产开发企业将未取得对应发票的质保金作为成本申报扣除。</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根据《国家税务总局关于土地增值税清算有关问题的通知》（国税函〔2010〕220号）第二条的规定：</a:t>
            </a:r>
          </a:p>
          <a:p>
            <a:pPr algn="l">
              <a:lnSpc>
                <a:spcPct val="125000"/>
              </a:lnSpc>
              <a:spcBef>
                <a:spcPts val="0"/>
              </a:spcBef>
              <a:spcAft>
                <a:spcPts val="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将开发的商品转为自用或出租等，产权没有发生转移的，不征收土地增值税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根据《关于房地产开发企业土地增值税清算管理有关问题的通知》（国税发〔2006〕187号）第三条第二款的规定：</a:t>
            </a:r>
          </a:p>
          <a:p>
            <a:pPr algn="l">
              <a:lnSpc>
                <a:spcPct val="125000"/>
              </a:lnSpc>
              <a:spcBef>
                <a:spcPts val="0"/>
              </a:spcBef>
              <a:spcAft>
                <a:spcPts val="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已清算项目但有未售产品的后续土地增值税缴纳</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l">
              <a:lnSpc>
                <a:spcPct val="125000"/>
              </a:lnSpc>
              <a:spcBef>
                <a:spcPts val="0"/>
              </a:spcBef>
              <a:spcAft>
                <a:spcPts val="0"/>
              </a:spcAft>
            </a:pPr>
            <a:r>
              <a:rPr sz="1400" b="0">
                <a:solidFill>
                  <a:srgbClr val="000000"/>
                </a:solidFill>
                <a:latin typeface="Microsoft YaHei"/>
              </a:rPr>
              <a:t>单位建筑面积成本费用=清算时的扣除项目总金额÷清算的总建筑面积</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转让房屋、在建工程、土地使用权未申报缴纳土地增值税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转让房屋、在建工程、土地使用权时因收入、成本、税金等核算不准确，存在未按规定申报土地增值税的风险。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l">
              <a:lnSpc>
                <a:spcPct val="125000"/>
              </a:lnSpc>
              <a:spcBef>
                <a:spcPts val="0"/>
              </a:spcBef>
              <a:spcAft>
                <a:spcPts val="0"/>
              </a:spcAft>
            </a:pPr>
            <a:r>
              <a:rPr sz="1400" b="0">
                <a:solidFill>
                  <a:srgbClr val="000000"/>
                </a:solidFill>
                <a:latin typeface="Microsoft YaHei"/>
              </a:rPr>
              <a:t>第四条 纳税人转让房地产所取得的收入减除本条例第六条规定扣除项目金额后的余额，为增值额。</a:t>
            </a:r>
          </a:p>
          <a:p>
            <a:pPr algn="l">
              <a:lnSpc>
                <a:spcPct val="125000"/>
              </a:lnSpc>
              <a:spcBef>
                <a:spcPts val="0"/>
              </a:spcBef>
              <a:spcAft>
                <a:spcPts val="0"/>
              </a:spcAft>
            </a:pPr>
            <a:r>
              <a:rPr sz="1400" b="0">
                <a:solidFill>
                  <a:srgbClr val="000000"/>
                </a:solidFill>
                <a:latin typeface="Microsoft YaHei"/>
              </a:rPr>
              <a:t>第五条 纳税人转让房地产所取得的收入，包括货币收入、实物收入和其他收入。</a:t>
            </a:r>
          </a:p>
          <a:p>
            <a:pPr algn="l">
              <a:lnSpc>
                <a:spcPct val="125000"/>
              </a:lnSpc>
              <a:spcBef>
                <a:spcPts val="0"/>
              </a:spcBef>
              <a:spcAft>
                <a:spcPts val="0"/>
              </a:spcAft>
            </a:pPr>
            <a:r>
              <a:rPr sz="1400" b="0">
                <a:solidFill>
                  <a:srgbClr val="000000"/>
                </a:solidFill>
                <a:latin typeface="Microsoft YaHei"/>
              </a:rPr>
              <a:t>第六条 计算增值额的扣除项目：</a:t>
            </a:r>
          </a:p>
          <a:p>
            <a:pPr algn="l">
              <a:lnSpc>
                <a:spcPct val="125000"/>
              </a:lnSpc>
              <a:spcBef>
                <a:spcPts val="0"/>
              </a:spcBef>
              <a:spcAft>
                <a:spcPts val="0"/>
              </a:spcAft>
            </a:pPr>
            <a:r>
              <a:rPr sz="1400" b="0">
                <a:solidFill>
                  <a:srgbClr val="000000"/>
                </a:solidFill>
                <a:latin typeface="Microsoft YaHei"/>
              </a:rPr>
              <a:t>（一）取得土地使用权所支付的金额；（二）开发土地的成本、费用；</a:t>
            </a:r>
          </a:p>
          <a:p>
            <a:pPr algn="l">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l">
              <a:lnSpc>
                <a:spcPct val="125000"/>
              </a:lnSpc>
              <a:spcBef>
                <a:spcPts val="0"/>
              </a:spcBef>
              <a:spcAft>
                <a:spcPts val="0"/>
              </a:spcAft>
            </a:pPr>
            <a:r>
              <a:rPr sz="1400" b="0">
                <a:solidFill>
                  <a:srgbClr val="000000"/>
                </a:solidFill>
                <a:latin typeface="Microsoft YaHei"/>
              </a:rPr>
              <a:t>（四）与转让房地产有关的税金；（五）财政部规定的其他扣除项目。第七条 土地增值税实行四级超率累进税率：增值额未超过扣除项目金额50%的部分，税率为30%。增值额超过扣除项目金额50%、未超过扣除项目金额100%的部分，税率为40%。</a:t>
            </a:r>
          </a:p>
          <a:p>
            <a:pPr algn="l">
              <a:lnSpc>
                <a:spcPct val="125000"/>
              </a:lnSpc>
              <a:spcBef>
                <a:spcPts val="0"/>
              </a:spcBef>
              <a:spcAft>
                <a:spcPts val="0"/>
              </a:spcAft>
            </a:pPr>
            <a:r>
              <a:rPr sz="1400" b="0">
                <a:solidFill>
                  <a:srgbClr val="000000"/>
                </a:solidFill>
                <a:latin typeface="Microsoft YaHei"/>
              </a:rPr>
              <a:t>增值额超过扣除项目金额100%、未超过扣除项目金额200%的部分，税率为50%。</a:t>
            </a:r>
          </a:p>
          <a:p>
            <a:pPr algn="l">
              <a:lnSpc>
                <a:spcPct val="125000"/>
              </a:lnSpc>
              <a:spcBef>
                <a:spcPts val="0"/>
              </a:spcBef>
              <a:spcAft>
                <a:spcPts val="0"/>
              </a:spcAft>
            </a:pPr>
            <a:r>
              <a:rPr sz="1400" b="0">
                <a:solidFill>
                  <a:srgbClr val="000000"/>
                </a:solidFill>
                <a:latin typeface="Microsoft YaHei"/>
              </a:rPr>
              <a:t>增值额超过扣除项目金额200%的部分，税率为60%。根据《中华人民共和国土地增值税暂行条例实施细则》有关规定：第二条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l">
              <a:lnSpc>
                <a:spcPct val="125000"/>
              </a:lnSpc>
              <a:spcBef>
                <a:spcPts val="0"/>
              </a:spcBef>
              <a:spcAft>
                <a:spcPts val="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l">
              <a:lnSpc>
                <a:spcPct val="125000"/>
              </a:lnSpc>
              <a:spcBef>
                <a:spcPts val="0"/>
              </a:spcBef>
              <a:spcAft>
                <a:spcPts val="0"/>
              </a:spcAft>
            </a:pPr>
            <a:r>
              <a:rPr sz="1400" b="0">
                <a:solidFill>
                  <a:srgbClr val="000000"/>
                </a:solidFill>
                <a:latin typeface="Microsoft YaHei"/>
              </a:rPr>
              <a:t>第五条 条例第二条所称的收入，包括转让房地产的全部价款及有关的经济收益。</a:t>
            </a:r>
          </a:p>
          <a:p>
            <a:pPr algn="l">
              <a:lnSpc>
                <a:spcPct val="125000"/>
              </a:lnSpc>
              <a:spcBef>
                <a:spcPts val="0"/>
              </a:spcBef>
              <a:spcAft>
                <a:spcPts val="0"/>
              </a:spcAft>
            </a:pPr>
            <a:r>
              <a:rPr sz="1400" b="0">
                <a:solidFill>
                  <a:srgbClr val="000000"/>
                </a:solidFill>
                <a:latin typeface="Microsoft YaHei"/>
              </a:rPr>
              <a:t>第六条 条例第二条所称的单位，是指各类企业单位、事业单位、国家机关和社会团体及其他组织。</a:t>
            </a:r>
          </a:p>
          <a:p>
            <a:pPr algn="l">
              <a:lnSpc>
                <a:spcPct val="125000"/>
              </a:lnSpc>
              <a:spcBef>
                <a:spcPts val="0"/>
              </a:spcBef>
              <a:spcAft>
                <a:spcPts val="0"/>
              </a:spcAft>
            </a:pPr>
            <a:r>
              <a:rPr sz="1400" b="0">
                <a:solidFill>
                  <a:srgbClr val="000000"/>
                </a:solidFill>
                <a:latin typeface="Microsoft YaHei"/>
              </a:rPr>
              <a:t>条例第二条所称个人，包括个体经营者。</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转让房屋、在建工程、土地使用权未申报缴纳土地增值税。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收到银行按揭款未及时确认收入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ct val="125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ct val="125000"/>
              </a:lnSpc>
              <a:spcBef>
                <a:spcPts val="0"/>
              </a:spcBef>
              <a:spcAft>
                <a:spcPts val="0"/>
              </a:spcAft>
            </a:pPr>
            <a:r>
              <a:rPr sz="1400" b="0">
                <a:solidFill>
                  <a:srgbClr val="000000"/>
                </a:solidFill>
                <a:latin typeface="Microsoft YaHei"/>
              </a:rPr>
              <a:t>土地增值税预征的计征依据=预收款-应预缴增值税税款。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将公共配套设施移交或无偿赠与地方政府、公用事业单位以外其他单位未按规定申报缴纳土地增值税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将公共配套设施移交或无偿赠与地方政府、公用事业单位以外其他单位未按规定申报缴纳土地增值税。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未移交公共配套设施的建造支出计入可售房屋开发成本</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根据《中华人民共和国土地增值税暂行条例》第六条的规定：</a:t>
            </a:r>
          </a:p>
          <a:p>
            <a:pPr algn="l">
              <a:lnSpc>
                <a:spcPct val="125000"/>
              </a:lnSpc>
              <a:spcBef>
                <a:spcPts val="0"/>
              </a:spcBef>
              <a:spcAft>
                <a:spcPts val="0"/>
              </a:spcAft>
            </a:pPr>
            <a:r>
              <a:rPr sz="1400" b="0">
                <a:solidFill>
                  <a:srgbClr val="000000"/>
                </a:solidFill>
                <a:latin typeface="Microsoft YaHei"/>
              </a:rPr>
              <a:t>计算增值额的扣除项目：</a:t>
            </a:r>
          </a:p>
          <a:p>
            <a:pPr algn="l">
              <a:lnSpc>
                <a:spcPct val="125000"/>
              </a:lnSpc>
              <a:spcBef>
                <a:spcPts val="0"/>
              </a:spcBef>
              <a:spcAft>
                <a:spcPts val="0"/>
              </a:spcAft>
            </a:pPr>
            <a:r>
              <a:rPr sz="1400" b="0">
                <a:solidFill>
                  <a:srgbClr val="000000"/>
                </a:solidFill>
                <a:latin typeface="Microsoft YaHei"/>
              </a:rPr>
              <a:t>（一）取得土地使用权所支付的金额；（二）开发土地的成本、费用；</a:t>
            </a:r>
          </a:p>
          <a:p>
            <a:pPr algn="l">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l">
              <a:lnSpc>
                <a:spcPct val="125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存在未移交公共配套设施的建造支出计入可售房屋开发成本，少缴土地增值税风险。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自用配套设施成本分摊有误</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根据《中华人民共和国土地增值税暂行条例》第六条的规定：计算增值额的扣除项目：</a:t>
            </a:r>
          </a:p>
          <a:p>
            <a:pPr algn="l">
              <a:lnSpc>
                <a:spcPct val="125000"/>
              </a:lnSpc>
              <a:spcBef>
                <a:spcPts val="0"/>
              </a:spcBef>
              <a:spcAft>
                <a:spcPts val="0"/>
              </a:spcAft>
            </a:pPr>
            <a:r>
              <a:rPr sz="1400" b="0">
                <a:solidFill>
                  <a:srgbClr val="000000"/>
                </a:solidFill>
                <a:latin typeface="Microsoft YaHei"/>
              </a:rPr>
              <a:t>（一）取得土地使用权所支付的金额；（二）开发土地的成本、费用；</a:t>
            </a:r>
          </a:p>
          <a:p>
            <a:pPr algn="l">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l">
              <a:lnSpc>
                <a:spcPct val="125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存在自用配套设施成本分摊有误的风险。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无偿转让回迁安置房未按规定申报缴纳土地增值税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ct val="125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号）第三条规定执行。纳税人安置回迁户，其拆迁安置用房应税收入和扣除项目的确认，应按照《国家税务总局关于土地增值税清算有关问题的通知》（国税函〔2010〕220号）第六条规定执行。《国家税务总局关于土地增值税清算有关问题的通知》（国税函〔2010〕220号）第六条规定：</a:t>
            </a:r>
          </a:p>
          <a:p>
            <a:pPr algn="l">
              <a:lnSpc>
                <a:spcPct val="125000"/>
              </a:lnSpc>
              <a:spcBef>
                <a:spcPts val="0"/>
              </a:spcBef>
              <a:spcAft>
                <a:spcPts val="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号第三条第（一）款的规定计算，计入本项目的拆迁补偿费；异地安置的房屋属于购入的，以实际支付的购房支出计入拆迁补偿费。</a:t>
            </a:r>
          </a:p>
          <a:p>
            <a:pPr algn="l">
              <a:lnSpc>
                <a:spcPct val="125000"/>
              </a:lnSpc>
              <a:spcBef>
                <a:spcPts val="0"/>
              </a:spcBef>
              <a:spcAft>
                <a:spcPts val="0"/>
              </a:spcAft>
            </a:pPr>
            <a:r>
              <a:rPr sz="1400" b="0">
                <a:solidFill>
                  <a:srgbClr val="000000"/>
                </a:solidFill>
                <a:latin typeface="Microsoft YaHei"/>
              </a:rPr>
              <a:t>（三）货币安置拆迁的，房地产开发企业凭合法有效凭据计入拆迁补偿费。</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无偿转让回迁安置房未按规定申报缴纳土地增值税，存在未按视同销售，存在少缴税款的风险。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