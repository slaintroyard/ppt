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企业未按月履行预扣预缴义务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l">
              <a:lnSpc>
                <a:spcPts val="1820"/>
              </a:lnSpc>
              <a:spcBef>
                <a:spcPts val="200"/>
              </a:spcBef>
              <a:spcAft>
                <a:spcPts val="200"/>
              </a:spcAft>
            </a:pPr>
            <a:r>
              <a:rPr sz="1400" b="0">
                <a:solidFill>
                  <a:srgbClr val="000000"/>
                </a:solidFill>
                <a:latin typeface="Microsoft YaHei"/>
              </a:rPr>
              <a:t>将第九条改为四条，分别作为第十一条、第十二条、第十三条、第十四条，修改为：</a:t>
            </a:r>
          </a:p>
          <a:p>
            <a:pPr algn="l">
              <a:lnSpc>
                <a:spcPts val="1820"/>
              </a:lnSpc>
              <a:spcBef>
                <a:spcPts val="200"/>
              </a:spcBef>
              <a:spcAft>
                <a:spcPts val="20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 57 号）第五条的规定，纳税人应当在取得综合所得的纳税年度的次年三月一日至六月三十日内办理汇算清缴。在中国境内无住所的纳税人在汇算清缴开始前离境的，可以在离境前办理。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如果企业存在未能及时准确扣缴税款的情形，可能会加大企业的查账风险，给企业的长期发展带来不利影响。</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企业员工工资薪金所得总额计算不符合规定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根据《中华人民共和国个人所得税法实施条例》（中华人民共和国国务院令 第 707 号）第六条：</a:t>
            </a:r>
          </a:p>
          <a:p>
            <a:pPr algn="l">
              <a:lnSpc>
                <a:spcPts val="182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扣缴义务人没有在规定的时间履行代扣税款的义务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根据国家税务总局关于发布《个人所得税扣缴申报管理办法（试行）》的公告（国家税务总局公告 2018 年第61 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实施股票期权计划扣缴税款时混淆税目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国家税务总局关于个人股票期权所得征收个人所得税问题的通知》（财税〔2005〕35 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企业对向投资者转让财产未履行扣缴义务</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 号）第一条规定：根据《中华人民共和国个人所得税法》和《财政部国家税务总局关于规范个人投资者个人所得税征收管理的通知》（财税〔2003〕158 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无税优识别码的商业保险在个税前扣除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l">
              <a:lnSpc>
                <a:spcPts val="1820"/>
              </a:lnSpc>
              <a:spcBef>
                <a:spcPts val="200"/>
              </a:spcBef>
              <a:spcAft>
                <a:spcPts val="200"/>
              </a:spcAft>
            </a:pPr>
            <a:r>
              <a:rPr sz="1400" b="0">
                <a:solidFill>
                  <a:srgbClr val="000000"/>
                </a:solidFill>
                <a:latin typeface="Microsoft YaHei"/>
              </a:rPr>
              <a:t>对个人购买符合规定的商业健康保险产品的支出，允许在当年（月）计算应纳税所得额时予以税前扣除，扣除限额为2400 元/年（200元/月）。单位统一为员工购买符合规定的商业健康保险产品的支出，应分别计入员工个人工资薪金，视同个人购买，按上述限额予以扣除。</a:t>
            </a:r>
          </a:p>
          <a:p>
            <a:pPr algn="l">
              <a:lnSpc>
                <a:spcPts val="1820"/>
              </a:lnSpc>
              <a:spcBef>
                <a:spcPts val="200"/>
              </a:spcBef>
              <a:spcAft>
                <a:spcPts val="200"/>
              </a:spcAft>
            </a:pPr>
            <a:r>
              <a:rPr sz="1400" b="0">
                <a:solidFill>
                  <a:srgbClr val="000000"/>
                </a:solidFill>
                <a:latin typeface="Microsoft YaHei"/>
              </a:rPr>
              <a:t>根据《国家税务总局关于推广实施商业健康保险个人所得税政策有关征管问题的公告》（国家税务总局公告2017 年第17 号）规定：五、保险公司销售符合规定的商业健康保险产品，及时为购买保险的个人开具发票和保单凭证，并在保单凭证上注明税优识别码。个人购买商业健康保险未获得税优识别码的，其支出金额不得税前扣除。</a:t>
            </a:r>
          </a:p>
          <a:p>
            <a:pPr algn="l">
              <a:lnSpc>
                <a:spcPts val="1820"/>
              </a:lnSpc>
              <a:spcBef>
                <a:spcPts val="200"/>
              </a:spcBef>
              <a:spcAft>
                <a:spcPts val="20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员工个人借款长期挂账未扣个税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国家税务总局关于企业为个人购买房屋或其他财产征收个人所得税问题的批复》（财税〔2008〕83 号）批复江苏省地税局《关于以企业资金为个人购房是否征收个人所得税问题的请示》中明确规定：</a:t>
            </a:r>
          </a:p>
          <a:p>
            <a:pPr algn="l">
              <a:lnSpc>
                <a:spcPts val="1820"/>
              </a:lnSpc>
              <a:spcBef>
                <a:spcPts val="200"/>
              </a:spcBef>
              <a:spcAft>
                <a:spcPts val="200"/>
              </a:spcAft>
            </a:pPr>
            <a:r>
              <a:rPr sz="1400" b="0">
                <a:solidFill>
                  <a:srgbClr val="000000"/>
                </a:solidFill>
                <a:latin typeface="Microsoft YaHei"/>
              </a:rPr>
              <a:t>一、根据《中华人民共和国个人所得税法》和《财政部国家税务总局关于规范个人投资者个人所得税征收管理的通知》（财税〔2003〕158 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l">
              <a:lnSpc>
                <a:spcPts val="1820"/>
              </a:lnSpc>
              <a:spcBef>
                <a:spcPts val="200"/>
              </a:spcBef>
              <a:spcAft>
                <a:spcPts val="200"/>
              </a:spcAft>
            </a:pPr>
            <a:r>
              <a:rPr sz="1400" b="0">
                <a:solidFill>
                  <a:srgbClr val="000000"/>
                </a:solidFill>
                <a:latin typeface="Microsoft YaHei"/>
              </a:rPr>
              <a:t>根据《个人所得税法》（主席令第48 号）第八条规定：个人所得税，以所得人为纳税义务人，以支付所得的单位或者个人为扣缴义务人。</a:t>
            </a:r>
          </a:p>
          <a:p>
            <a:pPr algn="l">
              <a:lnSpc>
                <a:spcPts val="1820"/>
              </a:lnSpc>
              <a:spcBef>
                <a:spcPts val="200"/>
              </a:spcBef>
              <a:spcAft>
                <a:spcPts val="200"/>
              </a:spcAft>
            </a:pPr>
            <a:r>
              <a:rPr sz="1400" b="0">
                <a:solidFill>
                  <a:srgbClr val="000000"/>
                </a:solidFill>
                <a:latin typeface="Microsoft YaHei"/>
              </a:rPr>
              <a:t>根据《税收征收管理法》（主席令第49 号）第四条规定：纳税人、扣缴义务人必须依照法律、行政法规的规定缴纳税款、代扣代缴、代收代缴税款。</a:t>
            </a:r>
          </a:p>
          <a:p>
            <a:pPr algn="l">
              <a:lnSpc>
                <a:spcPts val="1820"/>
              </a:lnSpc>
              <a:spcBef>
                <a:spcPts val="200"/>
              </a:spcBef>
              <a:spcAft>
                <a:spcPts val="200"/>
              </a:spcAft>
            </a:pPr>
            <a:r>
              <a:rPr sz="1400" b="0">
                <a:solidFill>
                  <a:srgbClr val="000000"/>
                </a:solidFill>
                <a:latin typeface="Microsoft YaHei"/>
              </a:rPr>
              <a:t>根据《税收征收管理法》（主席令第49 号）第六十九条规定：扣缴义务人应扣未扣税款的，由税务机关向纳税人追缴税款，对扣缴义务人处应扣未扣税款百分之五十以上三倍以下的罚款。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股东借款跨年未收回未扣个税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国家税务总局关于规范个人投资者个人所得税征收管理的通知》（财税〔2003〕158 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 20%税率扣缴个人所得税。企业未代扣代缴股东个税的，存在股东个人补缴个税、滞纳金的风险，同时企业未履行扣缴义务人职责面临罚款风险。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全年一次性奖金拆分，部分以费用报销形式发放规避个税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2023 年 12 月 31 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根据《财政部关于个人所得税法修改后有关优惠政策衔接问题的通知》（财税〔2018〕164 号文）第一条规定：对居民个人取得全年一次性奖金，符合《国家税务总局关于调整个人取得全年一次性奖金等计算征收个人所得税方法问题的通知》，在 2021 年 12 月 31 日前，不并入当年综合所得，以全年一次性奖金收入除以 12 个月得到的数额，按照本通知所附按月换算后的综合所得税率表，单独计算纳税。自 2022 年 1 月1 日起，居民个人取得全年一次性奖金，则应并入当年综合所得计算缴纳个人所得税。《关于延续实施全年一次性奖金等个人所得税优惠政策的公告》（财政部 税务总局公告 2021 年第 42 号）规定：一、《财政部 税务总局关于个人所得税法修改后有关优惠政策衔接问题的通知》（财税〔2018〕164 号）规定的全年一次性奖金单独计税优惠政策，执行期限延长至 2023 年12 月31 日;上市公司股权激励单独计税优惠政策，执行期限延长至2022 年12 月31 日。《财政部 税务总局关于延续实施全年一次性奖金个人所得税政策的公告》（财政部 税务总局公告 2023 年第30 号）</a:t>
            </a:r>
          </a:p>
          <a:p>
            <a:pPr algn="l">
              <a:lnSpc>
                <a:spcPts val="1820"/>
              </a:lnSpc>
              <a:spcBef>
                <a:spcPts val="200"/>
              </a:spcBef>
              <a:spcAft>
                <a:spcPts val="200"/>
              </a:spcAft>
            </a:pPr>
            <a:r>
              <a:rPr sz="1400" b="0">
                <a:solidFill>
                  <a:srgbClr val="000000"/>
                </a:solidFill>
                <a:latin typeface="Microsoft YaHei"/>
              </a:rPr>
              <a:t>规定：为进一步减轻纳税人负担，现将全年一次性奖金个人所得税政策公告如下：</a:t>
            </a:r>
          </a:p>
          <a:p>
            <a:pPr algn="l">
              <a:lnSpc>
                <a:spcPts val="1820"/>
              </a:lnSpc>
              <a:spcBef>
                <a:spcPts val="200"/>
              </a:spcBef>
              <a:spcAft>
                <a:spcPts val="20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 号）规定的，不并入当年综合所得，以全年一次性奖金收入除以 12 个月得到的数额，按照本公告所附按月换算后的综合所得税率表，确定适用税率和速算扣除数，单独计算纳税。计算公式为：</a:t>
            </a:r>
          </a:p>
          <a:p>
            <a:pPr algn="l">
              <a:lnSpc>
                <a:spcPts val="1820"/>
              </a:lnSpc>
              <a:spcBef>
                <a:spcPts val="200"/>
              </a:spcBef>
              <a:spcAft>
                <a:spcPts val="20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l">
              <a:lnSpc>
                <a:spcPts val="1820"/>
              </a:lnSpc>
              <a:spcBef>
                <a:spcPts val="200"/>
              </a:spcBef>
              <a:spcAft>
                <a:spcPts val="200"/>
              </a:spcAft>
            </a:pPr>
            <a:r>
              <a:rPr sz="1400" b="0">
                <a:solidFill>
                  <a:srgbClr val="000000"/>
                </a:solidFill>
                <a:latin typeface="Microsoft YaHei"/>
              </a:rPr>
              <a:t>三、本公告执行至 2027 年 12 月 31 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2027 年 12 月 31 日前，居民个人取得的全年一次性奖金可以不并入当年综合所得，以全年一次性奖金收入除以12 个月得到的数额，按照本通知所附按月换算后的综合所得税率表单独计算纳税，自2028年 1 月 1 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发放员工福利未扣个税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国家税务总局所得税司 2012 年 4 月11 日在国家税务总局网站就所得税相关政策中答复，集体享受的、不可分割的、非现金方式的福利不需缴纳个人所得税。国家税务总局在官方网站进行2018 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l">
              <a:lnSpc>
                <a:spcPts val="1820"/>
              </a:lnSpc>
              <a:spcBef>
                <a:spcPts val="200"/>
              </a:spcBef>
              <a:spcAft>
                <a:spcPts val="200"/>
              </a:spcAft>
            </a:pPr>
            <a:r>
              <a:rPr sz="1400" b="0">
                <a:solidFill>
                  <a:srgbClr val="000000"/>
                </a:solidFill>
                <a:latin typeface="Microsoft YaHei"/>
              </a:rPr>
              <a:t>根据《国务院关于修改&lt;中华人民共和国个人所得税法实施条例&gt;的决定》（中华人民共和国国务院令第600 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从超比例计提的福利费、工会经费中支付给个人的福利、补助未计征个税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根据《中华人民共和国个人所得税法》（中华人民共和国主席令第 9 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 号）规定：</a:t>
            </a:r>
          </a:p>
          <a:p>
            <a:pPr algn="l">
              <a:lnSpc>
                <a:spcPts val="1820"/>
              </a:lnSpc>
              <a:spcBef>
                <a:spcPts val="200"/>
              </a:spcBef>
              <a:spcAft>
                <a:spcPts val="20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为企业员工购买汽车、住房等消费性支出未计入工资薪金计算个税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根据《国家税务总局关于生活补助费范围确定问题的通知》（国税发〔1998〕155 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单位向员工低价售房未按规定计算缴纳个人所得税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a:t>
            </a:r>
          </a:p>
          <a:p>
            <a:pPr algn="l">
              <a:lnSpc>
                <a:spcPts val="1820"/>
              </a:lnSpc>
              <a:spcBef>
                <a:spcPts val="200"/>
              </a:spcBef>
              <a:spcAft>
                <a:spcPts val="200"/>
              </a:spcAft>
            </a:pPr>
            <a:r>
              <a:rPr sz="1400" b="0">
                <a:solidFill>
                  <a:srgbClr val="000000"/>
                </a:solidFill>
                <a:latin typeface="Microsoft YaHei"/>
              </a:rPr>
              <a:t>1.房改房免税情形：住房制度改革期间，按县级以上政府规定的房改成本价格出售公有住房，差价收益免征个人所得税。2.一般情形：除上述情形外，单位低价售房，职工取得的差价部分应按规定缴纳个人所得税。</a:t>
            </a:r>
          </a:p>
          <a:p>
            <a:pPr algn="l">
              <a:lnSpc>
                <a:spcPts val="1820"/>
              </a:lnSpc>
              <a:spcBef>
                <a:spcPts val="200"/>
              </a:spcBef>
              <a:spcAft>
                <a:spcPts val="200"/>
              </a:spcAft>
            </a:pPr>
            <a:r>
              <a:rPr sz="1400" b="0">
                <a:solidFill>
                  <a:srgbClr val="000000"/>
                </a:solidFill>
                <a:latin typeface="Microsoft YaHei"/>
              </a:rPr>
              <a:t>企业可能将应免税的情形错误申报纳税，或将应税情形错误处理（如未代扣代缴、错误并入综合所得等），存在税务风险。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一、《财政部 国家税务总局关于单位低价向职工售房有关个人所得税问题的通知》（财税〔2007〕13 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l">
              <a:lnSpc>
                <a:spcPts val="1820"/>
              </a:lnSpc>
              <a:spcBef>
                <a:spcPts val="200"/>
              </a:spcBef>
              <a:spcAft>
                <a:spcPts val="20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l">
              <a:lnSpc>
                <a:spcPts val="1820"/>
              </a:lnSpc>
              <a:spcBef>
                <a:spcPts val="200"/>
              </a:spcBef>
              <a:spcAft>
                <a:spcPts val="200"/>
              </a:spcAft>
            </a:pPr>
            <a:r>
              <a:rPr sz="1400" b="0">
                <a:solidFill>
                  <a:srgbClr val="000000"/>
                </a:solidFill>
                <a:latin typeface="Microsoft YaHei"/>
              </a:rPr>
              <a:t>注：本文件第三条（原计税方法）已随财税〔2018〕164号发布而废止。</a:t>
            </a:r>
          </a:p>
          <a:p>
            <a:pPr algn="l">
              <a:lnSpc>
                <a:spcPts val="1820"/>
              </a:lnSpc>
              <a:spcBef>
                <a:spcPts val="200"/>
              </a:spcBef>
              <a:spcAft>
                <a:spcPts val="200"/>
              </a:spcAft>
            </a:pPr>
            <a:r>
              <a:rPr sz="1400" b="0">
                <a:solidFill>
                  <a:srgbClr val="000000"/>
                </a:solidFill>
                <a:latin typeface="Microsoft YaHei"/>
              </a:rPr>
              <a:t>二、《财政部 税务总局关于个人所得税法修改后有关优惠政策衔接问题的通知》（财税〔2018〕164 号）第六条单位按低于购置或建造成本价格出售住房给职工，职工因此而少支出的差价部分，符合《财政部 国家税务总局关于单位低价向职工售房有关个人所得税问题的通知》（财税〔2007〕13 号）第二条规定的，不并入当年综合所得，以差价收入除以12 个月得到的数额，按照月度税率表确定适用税率和速算扣除数，单独计算纳税。</a:t>
            </a:r>
          </a:p>
          <a:p>
            <a:pPr algn="l">
              <a:lnSpc>
                <a:spcPts val="1820"/>
              </a:lnSpc>
              <a:spcBef>
                <a:spcPts val="200"/>
              </a:spcBef>
              <a:spcAft>
                <a:spcPts val="200"/>
              </a:spcAft>
            </a:pPr>
            <a:r>
              <a:rPr sz="1400" b="0">
                <a:solidFill>
                  <a:srgbClr val="000000"/>
                </a:solidFill>
                <a:latin typeface="Microsoft YaHei"/>
              </a:rPr>
              <a:t>计算公式为：</a:t>
            </a:r>
          </a:p>
          <a:p>
            <a:pPr algn="l">
              <a:lnSpc>
                <a:spcPts val="1820"/>
              </a:lnSpc>
              <a:spcBef>
                <a:spcPts val="200"/>
              </a:spcBef>
              <a:spcAft>
                <a:spcPts val="200"/>
              </a:spcAft>
            </a:pPr>
            <a:r>
              <a:rPr sz="1400" b="0">
                <a:solidFill>
                  <a:srgbClr val="000000"/>
                </a:solidFill>
                <a:latin typeface="Microsoft YaHei"/>
              </a:rPr>
              <a:t>应纳税额 = 职工实际支付的购房价款低于该房屋的购置或建造成本价格的差额 × 适用税率- 速算扣除数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1.属于房改房免税情形的，企业错误申报纳税，导致职工多缴税款，可能引发纠纷。</a:t>
            </a:r>
          </a:p>
          <a:p>
            <a:pPr algn="l">
              <a:lnSpc>
                <a:spcPts val="1820"/>
              </a:lnSpc>
              <a:spcBef>
                <a:spcPts val="200"/>
              </a:spcBef>
              <a:spcAft>
                <a:spcPts val="200"/>
              </a:spcAft>
            </a:pPr>
            <a:r>
              <a:rPr sz="1400" b="0">
                <a:solidFill>
                  <a:srgbClr val="000000"/>
                </a:solidFill>
                <a:latin typeface="Microsoft YaHei"/>
              </a:rPr>
              <a:t>2.属于应税情形的，企业未依法代扣代缴，或错误将差价并入综合所得计算纳税，可能导致职工少缴或多缴税款，企业因未正确履行扣缴义务面临被税务机关责令补缴税款、加收滞纳金及罚款的风险。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准确区分两类情形：</a:t>
            </a:r>
          </a:p>
          <a:p>
            <a:pPr algn="l">
              <a:lnSpc>
                <a:spcPts val="1820"/>
              </a:lnSpc>
              <a:spcBef>
                <a:spcPts val="200"/>
              </a:spcBef>
              <a:spcAft>
                <a:spcPts val="200"/>
              </a:spcAft>
            </a:pPr>
            <a:r>
              <a:rPr sz="1400" b="0">
                <a:solidFill>
                  <a:srgbClr val="000000"/>
                </a:solidFill>
                <a:latin typeface="Microsoft YaHei"/>
              </a:rPr>
              <a:t>1.查看售房是否发生在住房制度改革期间2.查看是否按照县级以上政府规定的房改成本价格出售3.查看出售的是否为公有住房符合上述条件的，差价部分免征个人所得税应税情形的计税处理：</a:t>
            </a:r>
          </a:p>
          <a:p>
            <a:pPr algn="l">
              <a:lnSpc>
                <a:spcPts val="1820"/>
              </a:lnSpc>
              <a:spcBef>
                <a:spcPts val="200"/>
              </a:spcBef>
              <a:spcAft>
                <a:spcPts val="200"/>
              </a:spcAft>
            </a:pPr>
            <a:r>
              <a:rPr sz="1400" b="0">
                <a:solidFill>
                  <a:srgbClr val="000000"/>
                </a:solidFill>
                <a:latin typeface="Microsoft YaHei"/>
              </a:rPr>
              <a:t>1.将差价收入除以 12 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对企业员工的业绩奖励未并入工资、薪金所得缴纳个人所得税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l">
              <a:lnSpc>
                <a:spcPts val="1820"/>
              </a:lnSpc>
              <a:spcBef>
                <a:spcPts val="200"/>
              </a:spcBef>
              <a:spcAft>
                <a:spcPts val="20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超标准电话费、交通费未扣个税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根据财政部《关于企业加强职工福利费财务管理的通知》（财企〔2009〕242 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l">
              <a:lnSpc>
                <a:spcPts val="1820"/>
              </a:lnSpc>
              <a:spcBef>
                <a:spcPts val="200"/>
              </a:spcBef>
              <a:spcAft>
                <a:spcPts val="200"/>
              </a:spcAft>
            </a:pPr>
            <a:r>
              <a:rPr sz="1400" b="0">
                <a:solidFill>
                  <a:srgbClr val="000000"/>
                </a:solidFill>
                <a:latin typeface="Microsoft YaHei"/>
              </a:rPr>
              <a:t>根据《国家税务总局关于个人所得税有关政策问题的通知》（国税发〔1999〕58 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l">
              <a:lnSpc>
                <a:spcPts val="1820"/>
              </a:lnSpc>
              <a:spcBef>
                <a:spcPts val="200"/>
              </a:spcBef>
              <a:spcAft>
                <a:spcPts val="20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l">
              <a:lnSpc>
                <a:spcPts val="1820"/>
              </a:lnSpc>
              <a:spcBef>
                <a:spcPts val="200"/>
              </a:spcBef>
              <a:spcAft>
                <a:spcPts val="200"/>
              </a:spcAft>
            </a:pPr>
            <a:r>
              <a:rPr sz="1400" b="0">
                <a:solidFill>
                  <a:srgbClr val="000000"/>
                </a:solidFill>
                <a:latin typeface="Microsoft YaHei"/>
              </a:rPr>
              <a:t>第一条 实行公务用车改革的党政机关和企事业单位交通费用补贴每人每月扣除 1000 元，超出部分计征个人所得税。其他形式的交通费补贴一律计征个人所得税。</a:t>
            </a:r>
          </a:p>
          <a:p>
            <a:pPr algn="l">
              <a:lnSpc>
                <a:spcPts val="1820"/>
              </a:lnSpc>
              <a:spcBef>
                <a:spcPts val="200"/>
              </a:spcBef>
              <a:spcAft>
                <a:spcPts val="20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 400 元，超出部分计征个人所得税；特殊岗位人员两项合计每人每月最高扣除 300 元，超出部分计征个人所得税。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住房租金专项附加扣除不正确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纳税人本人及其配偶在纳税人的主要工作城市有住房的，住房租金的专项支出每月 1500 元/每月 1100 元/每月800 元不得扣除。一个纳税年度内，纳税人本人及其配偶已选择了住房租金扣除，其发生的每月 1000 元住房贷款利息专项支出，不得扣除。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号）的规定：</a:t>
            </a:r>
          </a:p>
          <a:p>
            <a:pPr algn="l">
              <a:lnSpc>
                <a:spcPts val="1820"/>
              </a:lnSpc>
              <a:spcBef>
                <a:spcPts val="200"/>
              </a:spcBef>
              <a:spcAft>
                <a:spcPts val="20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 1500 元；（二）除第一项所列城市以外，市辖区户籍人口超过100 万的城市，扣除标准为每月 1100 元；市辖区户籍人口不超过100 万的城市，扣除标准为每月 800 元。纳税人的配偶在纳税人的主要工作城市有自有住房的，视同纳税人在主要工作城市有自有住房。市辖区户籍人口，以国家统计局公布的数据为准。</a:t>
            </a:r>
          </a:p>
          <a:p>
            <a:pPr algn="l">
              <a:lnSpc>
                <a:spcPts val="1820"/>
              </a:lnSpc>
              <a:spcBef>
                <a:spcPts val="200"/>
              </a:spcBef>
              <a:spcAft>
                <a:spcPts val="20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l">
              <a:lnSpc>
                <a:spcPts val="1820"/>
              </a:lnSpc>
              <a:spcBef>
                <a:spcPts val="200"/>
              </a:spcBef>
              <a:spcAft>
                <a:spcPts val="20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纳税人在计算个税时，如果错误申报住房租金扣除，或夫妻双方重复扣除的，存在补缴个税的风险。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差旅费补助超标准未扣个税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 号）规定：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l">
              <a:lnSpc>
                <a:spcPts val="1820"/>
              </a:lnSpc>
              <a:spcBef>
                <a:spcPts val="200"/>
              </a:spcBef>
              <a:spcAft>
                <a:spcPts val="200"/>
              </a:spcAft>
            </a:pPr>
            <a:r>
              <a:rPr sz="1400" b="0">
                <a:solidFill>
                  <a:srgbClr val="000000"/>
                </a:solidFill>
                <a:latin typeface="Microsoft YaHei"/>
              </a:rPr>
              <a:t>第八条 个人所得的形式，包括现金、实物、有价证券和其他形式的经济利益。</a:t>
            </a:r>
          </a:p>
          <a:p>
            <a:pPr algn="l">
              <a:lnSpc>
                <a:spcPts val="1820"/>
              </a:lnSpc>
              <a:spcBef>
                <a:spcPts val="200"/>
              </a:spcBef>
              <a:spcAft>
                <a:spcPts val="200"/>
              </a:spcAft>
            </a:pPr>
            <a:r>
              <a:rPr sz="1400" b="0">
                <a:solidFill>
                  <a:srgbClr val="000000"/>
                </a:solidFill>
                <a:latin typeface="Microsoft YaHei"/>
              </a:rPr>
              <a:t>根据《国家税务总局关于印发〈征收个人所得税若干问题的规定〉的通知》（国税发〔1994〕89 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企业恶意扩大差旅费补助金额变相发放工资、奖金，存在员工被补缴个税、企业未履行扣缴义务人职责面临罚款风险。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为职工所有的房产支付的暖气费、物业费等未扣个税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 号）的规定：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为员工及其子女支付的医药费、子女教育费未扣个税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根据《中华人民共和国个人所得税法实施条例》（国务院令第707 号）的规定：</a:t>
            </a:r>
          </a:p>
          <a:p>
            <a:pPr algn="l">
              <a:lnSpc>
                <a:spcPts val="1820"/>
              </a:lnSpc>
              <a:spcBef>
                <a:spcPts val="200"/>
              </a:spcBef>
              <a:spcAft>
                <a:spcPts val="20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a:p>
            <a:pPr algn="l">
              <a:lnSpc>
                <a:spcPts val="1820"/>
              </a:lnSpc>
              <a:spcBef>
                <a:spcPts val="200"/>
              </a:spcBef>
              <a:spcAft>
                <a:spcPts val="200"/>
              </a:spcAft>
            </a:pPr>
            <a:r>
              <a:rPr sz="1400" b="0">
                <a:solidFill>
                  <a:srgbClr val="000000"/>
                </a:solidFill>
                <a:latin typeface="Microsoft YaHei"/>
              </a:rPr>
              <a:t>184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劳务报酬所得属于同一项目连续性收入的，拆分纳税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 号）的规定：</a:t>
            </a:r>
          </a:p>
          <a:p>
            <a:pPr algn="l">
              <a:lnSpc>
                <a:spcPts val="1820"/>
              </a:lnSpc>
              <a:spcBef>
                <a:spcPts val="200"/>
              </a:spcBef>
              <a:spcAft>
                <a:spcPts val="20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劳务报酬所得属于一次性收入的，以取得该项目收入为一次；属于同一项目连续性收入的，以一个月内取得的收入为一次。</a:t>
            </a:r>
          </a:p>
          <a:p>
            <a:pPr algn="l">
              <a:lnSpc>
                <a:spcPts val="1820"/>
              </a:lnSpc>
              <a:spcBef>
                <a:spcPts val="200"/>
              </a:spcBef>
              <a:spcAft>
                <a:spcPts val="200"/>
              </a:spcAft>
            </a:pPr>
            <a:r>
              <a:rPr sz="1400" b="0">
                <a:solidFill>
                  <a:srgbClr val="000000"/>
                </a:solidFill>
                <a:latin typeface="Microsoft YaHei"/>
              </a:rPr>
              <a:t>185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支付劳务费未代扣代缴个税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企业发生临时雇用人员支付劳务费，未代扣代缴个税情况，比如支付零星运费、支付讲师培训费等。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根据《中华人民共和国税收征管法》（主席令2013 年第5号）第六十九条的规定：</a:t>
            </a:r>
          </a:p>
          <a:p>
            <a:pPr algn="l">
              <a:lnSpc>
                <a:spcPts val="1820"/>
              </a:lnSpc>
              <a:spcBef>
                <a:spcPts val="200"/>
              </a:spcBef>
              <a:spcAft>
                <a:spcPts val="20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企业未履行代扣代缴义务的，个人应补缴欠缴的个税，企业应承担 50%以上 3 倍以下罚款。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企业向本单位以外的人赠送礼品未代扣代缴个税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国家税务总局关于个人取得有关收入适用个人所得税应税所得项目的公告》（财政部 税务总局公告2019 年第74号）第三条规定：</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a:p>
            <a:pPr algn="l">
              <a:lnSpc>
                <a:spcPts val="1820"/>
              </a:lnSpc>
              <a:spcBef>
                <a:spcPts val="200"/>
              </a:spcBef>
              <a:spcAft>
                <a:spcPts val="200"/>
              </a:spcAft>
            </a:pPr>
            <a:r>
              <a:rPr sz="1400" b="0">
                <a:solidFill>
                  <a:srgbClr val="000000"/>
                </a:solidFill>
                <a:latin typeface="Microsoft YaHei"/>
              </a:rPr>
              <a:t>187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员工社会保险超比例支付部分未缴个税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 号）第一条规定：</a:t>
            </a:r>
          </a:p>
          <a:p>
            <a:pPr algn="l">
              <a:lnSpc>
                <a:spcPts val="1820"/>
              </a:lnSpc>
              <a:spcBef>
                <a:spcPts val="200"/>
              </a:spcBef>
              <a:spcAft>
                <a:spcPts val="20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员工住房公积金超比例支付部分未扣个税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国家税务总局关于基本养老保险费基本医疗保险费失业保险费住房公积金有关个人所得税政策的通知》（财税〔2006〕10 号）第二条规定：</a:t>
            </a:r>
          </a:p>
          <a:p>
            <a:pPr algn="l">
              <a:lnSpc>
                <a:spcPts val="1820"/>
              </a:lnSpc>
              <a:spcBef>
                <a:spcPts val="200"/>
              </a:spcBef>
              <a:spcAft>
                <a:spcPts val="20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 倍，具体标准按照各地有关规定执行。单位和个人超过上述规定比例和标准缴付的住房公积金，应将超过部分并入个人当期的工资、薪金收入，计征个人所得税。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a:p>
            <a:pPr algn="l">
              <a:lnSpc>
                <a:spcPts val="1820"/>
              </a:lnSpc>
              <a:spcBef>
                <a:spcPts val="200"/>
              </a:spcBef>
              <a:spcAft>
                <a:spcPts val="200"/>
              </a:spcAft>
            </a:pPr>
            <a:r>
              <a:rPr sz="1400" b="0">
                <a:solidFill>
                  <a:srgbClr val="000000"/>
                </a:solidFill>
                <a:latin typeface="Microsoft YaHei"/>
              </a:rPr>
              <a:t>189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员工领取年金未扣缴个税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 号）第四条规定：个人达到国家规定的退休年龄，领取的企业年金、职业年金，符合《财政部 人力资源社会保障部 国家税务总局关于企业年金职业年金个人所得税有关问题的通知》（财税〔2013〕103 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员工领取年金时，未按规定计入个人账户工资、薪金所得计算扣缴个人所得税的，存在被补缴个税的风险。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 6 列“所得期间”，将领取年金金额填入第7 列“收入额”，将允许减计的金额填入第 15 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超标准缴付的年金未扣个税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 4%标准内的部分可以在个人当期的应纳税所得额中扣除，但超出 4%部分应并入个人当期的工资、薪金所得，依法计征个人所得税。企业若未代扣代缴，存在少缴个税风险。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 人力资源和社会保障部关于企业年金职业年金个人所得税有关问题的通知》（财税〔2013〕103 号）规定：</a:t>
            </a:r>
          </a:p>
          <a:p>
            <a:pPr algn="l">
              <a:lnSpc>
                <a:spcPts val="1820"/>
              </a:lnSpc>
              <a:spcBef>
                <a:spcPts val="200"/>
              </a:spcBef>
              <a:spcAft>
                <a:spcPts val="200"/>
              </a:spcAft>
            </a:pPr>
            <a:r>
              <a:rPr sz="1400" b="0">
                <a:solidFill>
                  <a:srgbClr val="000000"/>
                </a:solidFill>
                <a:latin typeface="Microsoft YaHei"/>
              </a:rPr>
              <a:t>第一条 2.个人根据国家有关政策规定缴付的年金个人缴费部分，在不超过本人缴费工资计税基数的 4%标准内的部分，暂从个人当期的应纳税所得额中扣除。</a:t>
            </a:r>
          </a:p>
          <a:p>
            <a:pPr algn="l">
              <a:lnSpc>
                <a:spcPts val="1820"/>
              </a:lnSpc>
              <a:spcBef>
                <a:spcPts val="200"/>
              </a:spcBef>
              <a:spcAft>
                <a:spcPts val="200"/>
              </a:spcAft>
            </a:pPr>
            <a:r>
              <a:rPr sz="1400" b="0">
                <a:solidFill>
                  <a:srgbClr val="000000"/>
                </a:solidFill>
                <a:latin typeface="Microsoft YaHei"/>
              </a:rPr>
              <a:t>3.超过本通知第一条第 1 项和第 2 项规定的标准缴付的年金单位缴费和个人缴费部分，应并入个人当期的工资、薪金所得，依法计征个人所得税。税款由建立年金的单位代扣代缴，并向主管税务机关申报解缴。</a:t>
            </a:r>
          </a:p>
          <a:p>
            <a:pPr algn="l">
              <a:lnSpc>
                <a:spcPts val="1820"/>
              </a:lnSpc>
              <a:spcBef>
                <a:spcPts val="200"/>
              </a:spcBef>
              <a:spcAft>
                <a:spcPts val="20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 日内重新向其主管税务机关报送上述资料。</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一次性补偿收入并入综合所得缴纳税款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员工与用人单位解除劳动关系取得一次性补偿收入，在当地上年职工平均工资 3 倍数额以内的部分，免征个人所得税；超过3 倍数额的部分，不并入当年综合所得，单独适用综合所得税率表，计算纳税。在员工工资未达到起征点时，企业将超出部分并入综合所得抵减未达起征点数额后，再适用税率纳税，少交个税。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 号）第五条（一）规定：个人与用人单位解除劳动关系取得一次性补偿收入（包括用人单位发放的经济补偿金、生活补助费和其他补助费），在当地上年职工平均工资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恶意利用一次性补偿收入政策逃避个税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员工与用人单位解除劳动关系取得一次性补偿收入，在当地上年职工平均工资 3 倍数额以内的部分，免征个人所得税；超过3 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按照《财政部关于个人所得税法修改后有关优惠政策衔接问题的通知》（财税〔2018〕164 号）第五条（一）规定：个人与用人单位解除劳动关系取得一次性补偿收入（包括用人单位发放的经济补偿金、生活补助费和其他补助费），在当地上年职工平均工资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 3 倍数额以内的部分，免征个人所得税；超过3 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董事、监事费用未计入工资薪金所得缴纳个人所得税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根据《国家税务总局关于明确个人所得税若干政策执行问题的通知》（国税发〔2009〕121 号）第二条的规定：（一）《国家税务总局关于印发〈征收个人所得税若干问题的规定〉的通知》（国税发〔1994〕89 号）第八条规定的董事费按劳务报酬所得项目征税方法，仅适用于个人担任公司董事、监事，且不在公司任职、受雇的情形。</a:t>
            </a:r>
          </a:p>
          <a:p>
            <a:pPr algn="l">
              <a:lnSpc>
                <a:spcPts val="182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企业未将董事费、监事费与个人工资收入合并，未统一按“工资、薪金所得”项目缴纳个人所得税，存在少缴个税风险。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不在公司任职的董事、监事费用未按劳务报酬所得缴纳个人所得税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根据《国家税务总局关于明确个人所得税若干政策执行问题的通知》（国税发〔2009〕121 号）第二条的规定：（一）《国家税务总局关于印发〈征收个人所得税若干问题的规定〉的通知》（国税发〔1994〕89 号）第八条规定的董事费按劳务报酬所得项目征税方法，仅适用于个人担任公司董事、监事，且不在公司任职、受雇的情形。</a:t>
            </a:r>
          </a:p>
          <a:p>
            <a:pPr algn="l">
              <a:lnSpc>
                <a:spcPts val="1820"/>
              </a:lnSpc>
              <a:spcBef>
                <a:spcPts val="200"/>
              </a:spcBef>
              <a:spcAft>
                <a:spcPts val="20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企业接受个人境外股票或股份转让所得未按财产转让所得扣缴个人所得税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根据《国家税务总局关于发布&lt;股权转让所得个人所得税管理办法（试行）&gt;的公告》（国家税务总局公告2014 年第67 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l">
              <a:lnSpc>
                <a:spcPts val="1820"/>
              </a:lnSpc>
              <a:spcBef>
                <a:spcPts val="200"/>
              </a:spcBef>
              <a:spcAft>
                <a:spcPts val="200"/>
              </a:spcAft>
            </a:pPr>
            <a:r>
              <a:rPr sz="1400" b="0">
                <a:solidFill>
                  <a:srgbClr val="000000"/>
                </a:solidFill>
                <a:latin typeface="Microsoft YaHei"/>
              </a:rPr>
              <a:t>根据《财政部 国家税务总局关于个人转让股票所得继续暂免征收个人所得税的通知》（财税字〔1998〕61 号）规定：为了配合企业改制，促进股票市场的稳健发展，经报国务院批准，从 1997 年 1 月 1 日起，对个人转让上市公司股票取得的所得继续暂免征收个人所得税。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企业接受个人转让的股票或股份，未按税法规定按“财产转让所得”项目扣缴个人所得税，存在被补缴个税的风险。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股权转让收入明显偏低逃避个税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企业自然人股东转让股权时，通常存在低价转让或0 元转让的现象，比如认缴制下实缴注册资本为 0，0 元转让股权，股权转让收入为 0，转让人往往认为不需要缴个税。但申报的股权转让收入低于股权对应的净资产份额的，视为股权转让收入明显偏低，存在被核定转让收入补缴税款的风险。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根据《国家税务总局关于发布〈股权转让所得个人所得税管理办法（试行）〉的公告》（国家税务总局公告2014 年第67 号）的规定:第十一条 符合下列情形之一的，主管税务机关可以核定股权转让收入：</a:t>
            </a:r>
          </a:p>
          <a:p>
            <a:pPr algn="l">
              <a:lnSpc>
                <a:spcPts val="1820"/>
              </a:lnSpc>
              <a:spcBef>
                <a:spcPts val="200"/>
              </a:spcBef>
              <a:spcAft>
                <a:spcPts val="20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l">
              <a:lnSpc>
                <a:spcPts val="1820"/>
              </a:lnSpc>
              <a:spcBef>
                <a:spcPts val="200"/>
              </a:spcBef>
              <a:spcAft>
                <a:spcPts val="200"/>
              </a:spcAft>
            </a:pPr>
            <a:r>
              <a:rPr sz="1400" b="0">
                <a:solidFill>
                  <a:srgbClr val="000000"/>
                </a:solidFill>
                <a:latin typeface="Microsoft YaHei"/>
              </a:rPr>
              <a:t>（三）转让方无法提供或拒不提供股权转让收入的有关资料；（四）其他应核定股权转让收入的情形。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如果自然人申报的股权转让收入明显偏低且无正当理由的，存在被核定转让收入补缴税款的风险。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股权转让协议生效因未收到转让款未交个税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根据《国家税务总局关于发布&lt;股权转让所得个人所得税管理办法（试行）&gt;公告》（国家税务总局公告2014 年第67 号）的规定：第二十条 具有下列情形之一的，扣缴义务人、纳税人应当依法在次月 15 日内向主管税务机关申报纳税：（二）股权转让协议已签订生效的；</a:t>
            </a:r>
          </a:p>
          <a:p>
            <a:pPr algn="l">
              <a:lnSpc>
                <a:spcPts val="1820"/>
              </a:lnSpc>
              <a:spcBef>
                <a:spcPts val="200"/>
              </a:spcBef>
              <a:spcAft>
                <a:spcPts val="200"/>
              </a:spcAft>
            </a:pPr>
            <a:r>
              <a:rPr sz="1400" b="0">
                <a:solidFill>
                  <a:srgbClr val="000000"/>
                </a:solidFill>
                <a:latin typeface="Microsoft YaHei"/>
              </a:rPr>
              <a:t>根据《国家税务总局关于贯彻落实企业所得税法若干税收问题的通知》（国税函〔2010〕79 号）规定：第三条 企业转让股权收入，应于转让协议生效且完成股权变更手续时，确认收入的实现。转让股权收入扣除为取得该股权所发生的成本后，为股权转让所得。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 15 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已履行的股权转让协议解除后未缴个税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根据《国家税务总局关于纳税人收回转让的股权征收个人所得税问题的批复》（国税函〔2005〕130 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股权转让方收取的违约金收入未缴个税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根据《关于个人股权转让过程中取得违约金收入征收个人所得税问题的批复》（国税函〔2006〕866 号）规定：根据《中华人民共和国个人所得税法》的有关规定，股权成功转让后，转让方个人因受让方个人未按规定期限支付价款而取得的违约金收入，属于因财产转让而产生的收入。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住房贷款利息支出扣除不正确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住房贷款利息支出税前扣除不合理，比如纳税人的非首套住房贷款利息支出进行了扣除；纳税人首套贷款年限已经超过20 年的，住房贷款利息的专项支出每月 1000 元也进行了扣除；夫妻双方分别在各自单位在税前进行了扣除等。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a:t>
            </a:r>
          </a:p>
          <a:p>
            <a:pPr algn="l">
              <a:lnSpc>
                <a:spcPts val="1820"/>
              </a:lnSpc>
              <a:spcBef>
                <a:spcPts val="200"/>
              </a:spcBef>
              <a:spcAft>
                <a:spcPts val="200"/>
              </a:spcAft>
            </a:pPr>
            <a:r>
              <a:rPr sz="1400" b="0">
                <a:solidFill>
                  <a:srgbClr val="000000"/>
                </a:solidFill>
                <a:latin typeface="Microsoft YaHei"/>
              </a:rPr>
              <a:t>第十四条 纳税人本人或者配偶单独或者共同使用商业银行或者住房公积金个人住房贷款为本人或者其配偶购买中国境内住房，发生的首套住房贷款利息支出，在实际发生贷款利息的年度，按照每月1000 元的标准定额扣除，扣除期限最长不超过240 个月。纳税人只能享受一次首套住房贷款的利息扣除。本办法所称首套住房贷款是指购买住房享受首套住房贷款利率的住房贷款。</a:t>
            </a:r>
          </a:p>
          <a:p>
            <a:pPr algn="l">
              <a:lnSpc>
                <a:spcPts val="1820"/>
              </a:lnSpc>
              <a:spcBef>
                <a:spcPts val="200"/>
              </a:spcBef>
              <a:spcAft>
                <a:spcPts val="200"/>
              </a:spcAft>
            </a:pPr>
            <a:r>
              <a:rPr sz="1400" b="0">
                <a:solidFill>
                  <a:srgbClr val="000000"/>
                </a:solidFill>
                <a:latin typeface="Microsoft YaHei"/>
              </a:rPr>
              <a:t>第十五条 经夫妻双方约定，可以选择由其中一方扣除，具体扣除方式在一个纳税年度内不能变更。</a:t>
            </a:r>
          </a:p>
          <a:p>
            <a:pPr algn="l">
              <a:lnSpc>
                <a:spcPts val="1820"/>
              </a:lnSpc>
              <a:spcBef>
                <a:spcPts val="200"/>
              </a:spcBef>
              <a:spcAft>
                <a:spcPts val="20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纳税人在计算个税时，如果扣除的是非首套住房贷款利息支出及贷款年限已经超过 20 年的住房贷款利息支出，存在少缴个税的风险。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纳税人发生的首套住房贷款利息支出，在实际发生贷款利息的年度，按照每月 1000 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赡养老人附加扣除不正确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纳税人赡养一位以上年满 60 岁老人的，即可享受。其中独生子女每月 3000 元，非独生子女可采取三种分摊方式，但不管哪一种，最多不能超过每人每月 1500 元标准。纳税人的父母或其他法定被赡养人未满 60 周岁的，赡养老人的专项支出（每月3000 元）不得扣除。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号）第二十二条规定：</a:t>
            </a:r>
          </a:p>
          <a:p>
            <a:pPr algn="l">
              <a:lnSpc>
                <a:spcPts val="182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纳税人赡养一位及以上被赡养人的赡养支出，统一按照以下标准定额扣除：（一）纳税人为独生子女的，按照每月2000 元的标准定额扣除；（二）纳税人为非独生子女的，由其与兄弟姐妹分摊每月2000 元的扣除额度，每人分摊的额度不能超过每月1000 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 岁的父母，以及子女均已去世的年满 60 岁的祖父母、外祖父母。根据《国家税务总局关于贯彻执行提高个人所得税有关专项附加扣除标准政策的公告》（国家税务总局公告2023 年第14 号）第二条规定：</a:t>
            </a:r>
          </a:p>
          <a:p>
            <a:pPr algn="l">
              <a:lnSpc>
                <a:spcPts val="1820"/>
              </a:lnSpc>
              <a:spcBef>
                <a:spcPts val="200"/>
              </a:spcBef>
              <a:spcAft>
                <a:spcPts val="200"/>
              </a:spcAft>
            </a:pPr>
            <a:r>
              <a:rPr sz="1400" b="0">
                <a:solidFill>
                  <a:srgbClr val="000000"/>
                </a:solidFill>
                <a:latin typeface="Microsoft YaHei"/>
              </a:rPr>
              <a:t>赡养老人专项附加扣除标准，由每月2000 元提高到3000元，其中，独生子女每月扣除 3000 元；非独生子女与兄弟姐妹分摊每月3000元的扣除额度，每人不超过 1500 元。</a:t>
            </a:r>
          </a:p>
          <a:p>
            <a:pPr algn="l">
              <a:lnSpc>
                <a:spcPts val="1820"/>
              </a:lnSpc>
              <a:spcBef>
                <a:spcPts val="200"/>
              </a:spcBef>
              <a:spcAft>
                <a:spcPts val="20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纳税人在计算个税时，如果错误申报赡养老人扣除额，存在会被补缴个税的风险。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纳税人赡养一位及以上被赡养人的赡养支出，统一按照以下标准定额扣除：（一）纳税人为独生子女的，按照每月3000 元的标准定额扣除；（二）纳税人为非独生子女的，由其与兄弟姐妹分摊每月3000 元的扣除额度，每人分摊的额度不能超过每月1500 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 60 岁的父母，以及子女均已去世的年满60 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居住满五年的外籍个人未按境内外全部所得缴纳个税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无住所居民个人，在境内居住累计满183 天的年度连续满六年后，其从境内、境外取得的全部工资薪金所得均应计算缴纳个人所得税。很多企业仍旧以为境外所得免个税，未将境外所得并入境内工资薪金所得一并计征个人所得税。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国家税务总局关于非居民个人和无住所居民个人有关个人所得税政策的公告》（财政部税务总局公告2019 年第35号） 第二条规定：</a:t>
            </a:r>
          </a:p>
          <a:p>
            <a:pPr algn="l">
              <a:lnSpc>
                <a:spcPts val="1820"/>
              </a:lnSpc>
              <a:spcBef>
                <a:spcPts val="200"/>
              </a:spcBef>
              <a:spcAft>
                <a:spcPts val="200"/>
              </a:spcAft>
            </a:pPr>
            <a:r>
              <a:rPr sz="1400" b="0">
                <a:solidFill>
                  <a:srgbClr val="000000"/>
                </a:solidFill>
                <a:latin typeface="Microsoft YaHei"/>
              </a:rPr>
              <a:t>在境内居住累计满 183 天的年度连续满六年后，不符合实施条例第四条优惠条件的无住所居民个人，其从境内、境外取得的全部工资薪金所得均应计算缴纳个人所得税。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对于在境内居住累计满 183 天的年度连续满六年的无住所居民个人，企业若不将其境内、境外取得的全部工资薪金所得一起计算缴纳个人所得税，存在漏缴个税的风险。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对于在境内居住累计满 183 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因使用图书、报刊上的图文作品等支付给个人费用未按稿酬所得计征个人所得税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根据《中华人民共和国个人所得税法（2018 年修正）》（中华人民共和国国务院令第 707 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员工个人大病医疗支出扣除不正确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纳税人在一个纳税年度内，其在医保目录范围内的自付部分累计没有超过 15000 元医药费用的支出，不属于大病医疗支出，不得扣除。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根据《国务院关于印发个人所得税专项附加扣除暂行办法的通知》（国发〔2018〕41 号）第十一条规定：纳税人发生的医药费用，超过自己负担15000 元后的部分，可以选择由本人扣，也可以由其配偶扣；未成年子女发生的医药费用在超过 15000 元自付部分后，可以选择由其父母一方扣。年度预扣预缴时不扣除，在年度汇算清缴时按年扣除。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纳税人在进行个税汇算清缴时，如果错误申报大病医疗扣除，存在会被补缴个税的风险。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纳税人发生的医药费用，超过自己负担15000 元后的部分，可以选择由本人扣，也可以由其配偶扣；未成年子女发生的医药费用在超过 15000 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无住所居民外籍个人重复享受专项附加扣除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 税务总局关于延续实施外籍个人有关津补贴个人所得税政策的公告》（财政部 税务总局公告2023 年第29 号）第一条、第二条。</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 2027 年12 月31 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未分配利润、盈余公积、资本公积转增股本未按规定代扣代缴自然人股东个税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未分配利润、盈余公积、资本公积转增股本未按规定代扣代缴自然人股东个税。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《国家税务总局关于股权奖励和转增股本个人所得税征管问题的公告》（国家税务总局公告 2015 年第80 号）;《财政部国家税务总局关于将国家自主创新示范区有关税收试点政策推广到全国范围实施的通知》（财税〔2015〕116 号）第三条；《国家税务总局关于个人投资者收购企业股权后将原盈余积累转增股本个人所得税问题的公告》（国家税务总局公告 2013 年第23 号）。</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a:p>
            <a:pPr algn="l">
              <a:lnSpc>
                <a:spcPts val="1820"/>
              </a:lnSpc>
              <a:spcBef>
                <a:spcPts val="200"/>
              </a:spcBef>
              <a:spcAft>
                <a:spcPts val="200"/>
              </a:spcAft>
            </a:pPr>
            <a:r>
              <a:rPr sz="1400" b="0">
                <a:solidFill>
                  <a:srgbClr val="000000"/>
                </a:solidFill>
                <a:latin typeface="Microsoft YaHei"/>
              </a:rPr>
              <a:t>209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