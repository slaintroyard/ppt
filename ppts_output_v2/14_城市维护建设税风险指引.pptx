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731520" y="1371600"/>
            <a:ext cx="10728655" cy="2286000"/>
          </a:xfrm>
          <a:prstGeom prst="rect">
            <a:avLst/>
          </a:prstGeom>
          <a:noFill/>
        </p:spPr>
        <p:txBody>
          <a:bodyPr wrap="square">
            <a:spAutoFit/>
          </a:bodyPr>
          <a:lstStyle/>
          <a:p>
            <a:pPr algn="ctr">
              <a:defRPr sz="4000" b="1">
                <a:solidFill>
                  <a:srgbClr val="FFFFFF"/>
                </a:solidFill>
              </a:defRPr>
            </a:pPr>
            <a:r>
              <a:t>城市维护建设税风险指引</a:t>
            </a:r>
          </a:p>
        </p:txBody>
      </p:sp>
      <p:sp>
        <p:nvSpPr>
          <p:cNvPr id="3" name="TextBox 2"/>
          <p:cNvSpPr txBox="1"/>
          <p:nvPr/>
        </p:nvSpPr>
        <p:spPr>
          <a:xfrm>
            <a:off x="731520" y="3840480"/>
            <a:ext cx="10728655" cy="731520"/>
          </a:xfrm>
          <a:prstGeom prst="rect">
            <a:avLst/>
          </a:prstGeom>
          <a:noFill/>
        </p:spPr>
        <p:txBody>
          <a:bodyPr wrap="none">
            <a:spAutoFit/>
          </a:bodyPr>
          <a:lstStyle/>
          <a:p>
            <a:pPr algn="ctr">
              <a:defRPr sz="2200">
                <a:solidFill>
                  <a:srgbClr val="AABBCC"/>
                </a:solidFill>
              </a:defRPr>
            </a:pPr>
            <a:r>
              <a:t>共 3 个风险点</a:t>
            </a:r>
          </a:p>
        </p:txBody>
      </p:sp>
      <p:sp>
        <p:nvSpPr>
          <p:cNvPr id="4" name="TextBox 3"/>
          <p:cNvSpPr txBox="1"/>
          <p:nvPr/>
        </p:nvSpPr>
        <p:spPr>
          <a:xfrm>
            <a:off x="731520" y="4572000"/>
            <a:ext cx="10728655" cy="731520"/>
          </a:xfrm>
          <a:prstGeom prst="rect">
            <a:avLst/>
          </a:prstGeom>
          <a:noFill/>
        </p:spPr>
        <p:txBody>
          <a:bodyPr wrap="none">
            <a:spAutoFit/>
          </a:bodyPr>
          <a:lstStyle/>
          <a:p>
            <a:pPr algn="ctr">
              <a:defRPr sz="1600">
                <a:solidFill>
                  <a:srgbClr val="8899AA"/>
                </a:solidFill>
              </a:defRPr>
            </a:pPr>
            <a:r>
              <a:t>税费合规指引 (2.0版)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城市维护建设税风险指引  |  风险点 1</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出口货物实行“免抵退”还的增值税，抵减了城建税计税依据</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企业出口符合“免抵退”情况的应税产品，增值税可以退还，以其为计税依据计算的城建税却不可以退还。</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国家税务总局关于生产企业出口货物实行免抵退税办法后有关城市维护建设税、教育费附加政策的通知》（财税〔2005〕25号）的规定：一、经国家税务局正式审核批准的当期免抵的增值税税额应纳入城市维护建设税和教育费附加的计征范围，分别按规定的税（费）率征收城市维护建设税和教育费附加。
二、2005年1月1日前，已按免抵的增值税税额征收的城市维护建设税和教育费附加不再退还，未征的不再补征。</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企业有正式审核批准的当期免抵的增值税税额，以其为计税依据计算的城建税不得扣除。
否则违反规定少缴纳税款，面临税务机关追缴税款，征收滞纳金与罚款等风险。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企业核查收到出口“免抵退”还的增值税时，是否抵减了城建税计税依据。</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城市维护建设税风险指引  |  风险点 2</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城市维护建设税适应税率错误</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企业未按所在地区适用税率申报城市维护建设税，混淆适用税率进行纳税申报。</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根据《城市维护建设税法》第四条的规定：城市维护建设税税率如下：（一）纳税人所在地在市区的，税率为百分之七；
（二）纳税人所在地在县城、镇的，税率为百分之五；
（三）纳税人所在地不在市区、县城或者镇的，税率为百分之一。
前款所称纳税人所在地，是指纳税人住所地或者与纳税人生产经营活动相关的其他地点，具体地点由省、自治区、直辖市确定。</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企业未按所在地区适用税率申报城市维护建设税，存在少缴城建税的风险。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企业核查缴纳的城建税，适应税率是否与所在地区匹配。</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城市维护建设税风险指引  |  风险点 3</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增值税留抵退税抵减城建税计税依据错误</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房地产企业预售阶段预缴增值税时，收到增值税留抵退税，扣减城建税计税依据。</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根据《城市维护建设税法》第二条的规定：城市维护建设税以纳税人依法实际缴纳的增值税、消费税税额为计税依据。
城市维护建设税的计税依据应当按照规定扣除期末留抵退税退还的增值税税额。
《国家税务总局关于城市维护建设税征收管理有关事项的公告》（国家税务总局公告2021年第26号）一、城建税以纳税人依法实际缴纳的增值税、消费税（以下称两税）税额为计税依据。
依法实际缴纳的增值税税额，是指纳税人依照增值税相关法律法规和税收政策规定计算应当缴纳的增值税税额，加上增值税免抵税额，扣除直接减免的增值税税额和期末留抵退税退还的增值税税额（以下简称留抵退税额）后的金额。
依法实际缴纳的消费税税额，是指纳税人依照消费税相关法律法规和税收政策规定计算应当缴纳的消费税税额，扣除直接减免的消费税税额后的金额。
应当缴纳的两税税额，不含因进口货物或境外单位和个人向境内销售劳务、服务、无形资产缴纳的两税税额。
纳税人自收到留抵退税额之日起，应当在下一个纳税申报期从城建税计税依据中扣除。
留抵退税额仅允许在按照增值税一般计税方法确定的城建税计税依据中扣除。
当期未扣除完的余额，在以后纳税申报期按规定继续扣除。</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房地产企业预售阶段预缴增值税时，收到增值税留抵退税，扣减城建税计税依据，少缴纳城市维护建设税。</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房地产企业核查预售阶段预缴增值税，收到增值税留抵退税，是否扣减城建税计税依据。
325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