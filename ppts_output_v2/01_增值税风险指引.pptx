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增值税风险指引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37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购进货物用于集体福利和个人消费未做进项税额转出</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企业将购进货物用于集体福利和个人消费的进项税额未做进项税额转出，多抵扣了进项税额，少缴纳增值税税额，产生补缴税款与缴纳滞纳金的税务风险。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根据《中华人民共和国增值税法》以及《中华人民共和国增值税法实施条例》的规定：第二十二条纳税人的下列进项税额不得从其销项税额中抵扣：（一）适用简易计税方法计税项目对应的进项税额；
（二）免征增值税项目对应的进项税额；
（三）非正常损失项目对应的进项税额；
（四）购进并用于集体福利或者个人消费的货物、服务、无形资产、不动产对应的进项税额；
（五）购进并直接用于消费的餐饮服务、居民日常服务和娱乐服务对应的进项税额；
（六）国务院规定的其他进项税额。
纳税人的交际应酬消费属于增值税法所称个人消费。</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企业对购进货物用于集体福利和个人消费的进项税额需要做进项税额转出处理，如果未做进项税额转出，会产生补缴税款并处以税务机关加征罚金和滞纳金的风险。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企业应当自行检查购进货物用于集体福利和个人消费的业务是否将进项税额予以转出，如果未转出，则需要做进项税额转出处理，企业及时进行调整纠正。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未分别核算免税、减税项目等项目收入，导致未能享受免税、减税优惠</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根据国家规定，企业有特定产品符合增值税即征即退、先征后退等减税、免税政策，企业应该将其分别核算。
未分别核算的话，则符合条件的减免税项目不得享受该优惠，这样会加重企业的税收负担，带来风险。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根据《中华人民共和国增值税法》的规定：第十二条纳税人发生两项以上应税交易涉及不同税率、征收率的，应当分别核算适用不同税率、征收率的销售额；
未分别核算的，从高适用税率。
第二十六条纳税人兼营增值税优惠项目的，应当单独核算增值税优惠项目的销售额；
未单独核算的项目，不得享受税收优惠。</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根据国家规定，如果相关企业未对增值税即征即退、先征后退项目和出口等其他增值税应税项目分别核算，则符合条件的增值税即征即退、先征后退项目也不得享受此项税收优惠，会加重企业税负。</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企业要对增值税即征即退、先征后退项目和出口等其他增值税应税项目分别进行核算。
同时要经常进行账簿自查，杜绝未分别核算应税和退税项目情况的发生，若存在上述问题，企业及时进行调整纠正。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企业安置残疾人未达到法定标准即享受增值税优惠政策，少缴税款</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企业聘用非全日制用工的残疾人，残疾人未实际上岗工作，企业即享受了即征即退的税收优惠政策，导致企业少缴增值税，产生补缴税款与缴纳滞纳金、罚款的税务风险。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促进残疾人就业增值税优惠政策有关问题的公告》（国家税务总局公告2013年第73号）中的规定：安置残疾人单位聘用非全日制用工的残疾人，与其签订符合法律法规规定的劳动合同或服务协议，并且安置该残疾人在单位实际上岗工作的，可按照“通知”的规定，享受增值税优惠政策。
根据《财政部国家税务总局关于促进残疾人就业增值税优惠政策的通知》（财税〔2016〕52号）：一、对安置残疾人的单位和个体工商户（以下称“纳税人”），实行由税务机关按纳税人安置残疾人的人数，限额即征即退增值税的办法。
安置的每位残疾人每月可退还的增值税具体限额，由县级以上税务机关根据纳税人所在区县（含县级市、旗，下同）适用的经省（含自治区、直辖市、计划单列市，下同）人民政府批准的月最低工资标准的4倍确定。
二、享受税收优惠政策的条件（一）纳税人（除盲人按摩机构外）月安置的残疾人占在职职工人数的比例不低于25%（含25%），并且安置的残疾人人数不少于10人（含10人）；
盲人按摩机构月安置的残疾人占在职职工人数的比例不低于25%（含25%），并且安置的残疾人人数不少于5人（含5人）。
（二）</a:t>
            </a:r>
          </a:p>
          <a:p>
            <a:pPr>
              <a:spcBef>
                <a:spcPts val="100"/>
              </a:spcBef>
              <a:spcAft>
                <a:spcPts val="100"/>
              </a:spcAft>
            </a:pPr>
            <a:r>
              <a:rPr sz="950" b="0">
                <a:solidFill>
                  <a:srgbClr val="1B5C9E"/>
                </a:solidFill>
                <a:latin typeface="Microsoft YaHei"/>
              </a:rPr>
              <a:t>依法与安置的每位残疾人签订了一年以上（含一年）的劳动合同或服务协议。
（三）为安置的每位残疾人按月足额缴纳了基本养老保险、基本医疗保险、失业保险、工伤保险和生育保险等社会保险。
（四）通过银行等金融机构向安置的每位残疾人，按月支付了不低于纳税人所在区县适用的经省人民政府批准的月最低工资标准的工资。</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企业在生产经营过程中聘用残疾人，不符合税法要求即自行享受税收优惠，导致少缴增值税，产生被税务局追缴税款以及缴纳滞纳金和罚款的税务风险。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企业应自查是否聘用残疾人参与生产工作，若是存在残疾人生产，其聘用非全日制用工的残疾人是否实际上岗工作，是否与其签订合法的劳务合同或服务协议，若不符合要求的应尽快调整纠正。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提供有形动产融资性售后回租服务在计算当期销售额扣除的有形动产本金不符合规定</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在进行融资性售后回租业务时对于从当期销售中可以扣除的有形动产价款本金的确定会出现偏差，对于书面约定的当期应收款与无书面约定而实际收取的本金，二者之间存在差距，企业若混淆两种情形，未正确适用，则会存在少计或者多计销售额的情况，导致增值税税额计算不准确。</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营业税改征增值税试点期间有关增值税问题的公告》（国家税务总局公告2015年第90号）第三条的规定：纳税人提供有形动产融资性售后回租服务，计算当期销售额时可以扣除的有形动产价款本金，为书面合同约定的当期应当收取的本金。
无书面合同或者书面合同没有约定的，为当期实际收取的本金。</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企业在对外提供有形资产融资业务选择扣除的价款本金不符合政策，则会导致减少企业的销售额，从而会少缴纳增值税，因错误运用政策企业会面临补缴税款与缴纳滞纳金、罚款的税务风险。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企业在生产经营过程中对于所能扣除的有形动产价款本金的依据，企业需要仔细审查清楚以此正确确定适用的政策，若是存在上述问题，企业及时进行调整与纠正。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企业收回逾期包装物押金未缴纳增值税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企业在销售产品时收取的出租出借包装物押金，在规定的时间内未退还给购买方，未视同企业销售收入的一部分，未缴纳相应的增值税税款。</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销售额的规定，并参照原《国家税务总局关于印发&lt;增值税若干具体问题的规定&gt;的通知》（国税发〔1993〕154号）及《国家税务总局关于取消包装物押金逾期期限审批后有关问题的通知》（国税函〔2004〕827号）的原则：纳税人为销售货物而出租出借包装物收取的押金，单独记账核算的，不并入销售额征税。
但对因逾期未收回包装物不再退还的押金，应按所包装货物的适用税率征收增值税。
超过一年（含一年）以上仍不退还的均并入销售额征税。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企业对取得的逾期包装物押金未将其计入销售货物的销售额之中，会对当期应纳税所得额产生影响。
税务机关在核查企业主营业务收入时，对企业对外销售产品取得的逾期包装物押金是否已计入销售额是其核查重点，若企业存在上述情况，可能会产生补缴税款以及缴纳滞纳金罚款的风险。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企业应自查自身“主营业务收入”“其他业务收入”总账以及明细账，判断是否存在上述风险，若是存在上述问题，建议贵企业及时进行改正，将逾期的包装物押金收入计入销售额中计算缴纳税款。</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销售货物销售额与折扣额不在同一张发票而在核算时减除了折扣额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企业采取折扣方式销售货物，折扣额与销售额单独开具发票，将折扣额从销售额中减除，少计与之对应的增值税税款。</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销售额确定的规定，并参照原《国家税务总局关于印发&lt;增值税若干具体问题的规定&gt;的通知》（国税发〔1993〕154号）及《国家税务总局关于折扣额抵减增值税应税销售额问题通知》（国税函〔2010〕56号）的原则：纳税人采取折扣方式销售货物，如果销售额和折扣额在同一张发票上分别注明的，可按折扣后的销售额征收增值税；
如果将折扣额另开发票，不论其在财务上如何处理，均不得从销售额中减除折扣额。
销售额和折扣额在同一张发票上分别注明是指销售额和折扣额在同一张发票上的“金额”栏分别注明，未在同一张发票“金额”栏注明折扣额，而仅在发票的“备注”栏注明折扣额的，折扣额不得从销售额中减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企业采取折扣方式销售货物，销售额和折扣额未在同一张发票“金额”栏注明折扣额，而是分别开具了销售发票和红字发票，折扣额不得从销售额中减除。
如已将折扣额减除则需补缴税款、缴纳滞纳金，还有可能被罚款。</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企业将销售额与折扣额在同一张发票上分别注明，未在同一张发票中注明的，要加强财务与税务管理，周期性地展开自查，及时调整已经扣除的折扣额。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混合销售行为未以主营业务确定适用税率</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一项应税交易涉及两个以上不同税率、征收率，需按应税交易的主要业务适用税率、征收率。
而企业在实务中可能统一按照应税服务税率缴纳增值税，导致适用税率有误；
亦或者并没有对该部分销售形成的收入缴纳增值税，从而少缴税款，给企业带来税务风险。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根据《中华人民共和国增值税法》、《中华人民共和国增值税法实施条例》的规定：第十三条纳税人发生一项应税交易涉及两个以上税率、征收率的，按照应税交易的主要业务适用税率、征收率。
《中华人民共和国增值税法实施条例》第十条增值税法第十三条所称应税交易，应当同时符合下列条件：（一）包含两个以上涉及不同税率、征收率的业务；
（二）业务之间具有明显的主附关系。
主要业务居于主体地位，体现交易的实质和目的；
附属业务是主要业务的必要补充，并以主要业务的发生为前提。</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如果企业存在该种情形，很可能会导致企业当期的应交税款未能准确反映企业的销售情况，加大了企业的查账风险，同时也给企业的财务核算带来压力。</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企业加强应税交易的管理，严格划分与划定应税交易与非应税交易，提高业务经办人员的专业素质，并积极与税务机关沟通。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收取的价外费用和逾期包装物押金未换算成不含税收入，而多缴税款</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企业在销售商品的同时，向购买方收取的价外费用和逾期包装物押金没有视同含税收入，未作换算直接计入了销售额，使得该部分重复缴纳增值税。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根据《中华人民共和国增值税法》及其实施条例关于销售额的规定，价外费用和逾期包装物押金属于销售额的组成部分，应视为含税收入，在征税时换算成不含税收入并入销售额计征增值税。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如果企业未将价外费用与包装物押金换算成不含税收入，将使企业收入虚增，同时也缴纳了更多的税款，加大了财务风险与税务风险。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企业展开自查，对价外费用与包装物押金单独核算。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平销行为返还资金的没有冲减当期进项税额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企业的平销行为，因购买货物而从销售方取得的各种形式的返还资金在取得的当期未冲减进项税额，致使多抵扣了当期进项税额，存在少缴增值税税款的风险。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进项税额抵扣的规定，并参照原《国家税务总局关于平销行为征收增值税问题的通知》（国税发〔1997〕167号）的原则：凡增值税一般纳税人，无论是否有平销行为，因购买货物而从销售方取得的各种形式的返还资金，均应依所购货物的增值税税率计算应冲减的进项税金，并从其取得返还资金当期的进项税金中予以冲减。
应冲减的进项税金计算公式如下：当期应冲减进项税金=当期取得的返还资金×所购货物适用的增值税税率</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如果企业当期平销行为返还的资金较多，且没有冲减相应的进项税额，使得销售收入与应纳的增值税之间存在较大的差距，容易引发涉税风险。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企业加强对平销行为的管理，及时冲减当期收到资金对应的进项税额，定期展开自查。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企业未开具红字专用发票即做冲减销项税额处理</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企业对正常生产经营过程中的已销售货物，后续发生价格优惠、折扣之类的，未开具增值税红字专用发票即冲减当期销项税额，以此减少当期应税收入，造成少缴税款、补缴罚款和滞纳金的风险。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纳税义务发生时间及销售额调整的规定，并参照原《国家税务总局关于纳税人折扣折让行为开具红字增值税专用发票问题的通知》（国税函〔2006〕1279号）及《中华人民共和国增值税暂行条例实施细则》的原则：纳税人销售货物并向购买方开具增值税专用发票后，由于购货方在一定时期内累计购买货物达到一定数量，或者由于市场价格下降等原因，销货方给予购货方相应的价格优惠或补偿等折扣、折让行为，销货方可按现行规定开具红字增值税专用发票。
未按规定开具红字增值税专用发票的，增值税额不得从销项税额中扣减。</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企业在生产经营过程中将已确认收入但后期予以折扣、价格优惠的销售行为，未开具增值税红字专用发票的即在会计处理上做销项税额转出，导致当期应税收入减少，产生补缴税款和缴纳滞纳金的风险。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企业应当自行检查有无开具增值税红字专业发票，并对开具的红字专用发票与其对应的业务之间的关联性进行审查，若是存在上述风险，请及时进行调整纠正。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视同销售行为未及时确认收入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企业发生的视同销售行为销售货物、销售服务等，未及时确认收入，未及时计算销项税额，给纳税人带来少缴增值税的税务风险。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根据《中华人民共和国增值税法》第五条规定：有下列情形之一的，视同应税交易，应当依照本法规定缴纳增值税：（一）单位和个体工商户将自产或者委托加工的货物用于集体福利或者个人消费；
（二）单位和个体工商户无偿转让货物；
（三）单位和个人无偿转让无形资产、不动产或者金融商品。</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企业发生的视同销售行为应及时确认收入并计算销项税额，视同销售行为未及时确认收入导致少缴增值税，产生补缴增值税并加征滞纳金的风险。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企业自行检查有无存在对外视同销售行为，是否存在视同销售行为未及时确认销售收入的情况，若是存在，企业及时确认收入并计算增值税销项税额。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外币结算的销售额折合人民币时适用汇率错误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企业发生以外币结算的销售业务时，需要将外币按照一定汇率折合成人民币缴纳增值税，如果汇率选择不正确就会产生多记或少记销售收入的风险，导致增值税税额计算不准确。</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实施细则》（中华人民共和国国务院令第826号）第十七条的规定：纳税人以人民币以外的货币结算销售额的，在折合成人民币计算时，折合率可以选择销售额发生的当日或者当月1日有效的人民币汇率中间价。
纳税人确定折合率后，12个月内不得变更。</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企业将以外币结算的销售收入折合成人民币时应按照销售额发生当天或者当月1日的人民币汇率中间价，且一经选择12个月内不得变更，如果企业汇率使用错误，则会多记或少计收入，从而多记或少计销项税额。</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企业应当自行检查是否存在以外币结算的销售业务，若是存在，对该外币结算业务的汇率适用是否规范正确，若是存在适用税率错误，企业及时进行调整纠正。</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出口货物办理退税后发生退货或者退关企业未按规定补缴增值税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销售产品到国外申报出口退税，出口产品办理退税后发生退货或者退关的，纳税人没有依法补缴已退的税款，会造成不符合税收法律法规的规定，应纳税而未纳税、少纳税，从而面临补税、罚款、加收滞纳金、刑罚处罚以及声誉损害等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出口退（免）税的规定：纳税人出口货物适用退（免）税规定的，应当向海关办理出口手续，凭出口报关单等有关凭证，在规定的出口退（免）税申报期内按月向主管税务机关申报办理该项出口货物的退（免）税；
境内单位和个人跨境销售服务和无形资产适用退（免）税规定的，应当按期向主管税务机关申报办理退（免）税。
具体办法由国务院财政、税务主管部门制定。
出口货物办理退税后发生退货或者退关的，纳税人应当依法补缴已退的税款。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利用出口货物适用退（免）税规定假报出口来骗税，或者纳税人出口货物办理退税后发生退货或者退关的，没有依法补缴已退的税款在税务机关检查时会被定性为骗税，面临补税、罚款、加收滞纳金、刑罚处罚以及声誉损害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企业应该杜绝利用出口退税的规定进行骗税等违法犯罪的活动。
企业也应该自查是否有出口货物办理退税后发生退货或者退关的，如有发现应该及时依法补缴已退的税款。</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不合规抵扣凭证抵扣了进项税额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将不合规抵扣凭证进行抵扣进项税额，凭证错误类别有的是技术性错误，如录入错误、已申报但漏采集等；
也有涉及发票的一般性违规行为，不需要立案查处；
严重的为涉嫌偷骗税，需要立案查处。</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根据《中华人民共和国增值税法》及其实施条例关于进项税额抵扣凭证的规定，不符合法律、行政法规或者国务院税务主管部门有关规定的发票等凭证不得抵扣进项税额。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企业将不合规凭证进行抵扣，未做纳税调整，技术性的错误需重新申报，一般性违规行为需缴纳滞纳金、罚款。
严重的涉嫌偷骗税，需面临立案查处。</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企业要核查是否存在在成本费用列支时使用白条、假发票等不符合规定的票据。</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以旧换新销售，未按规定缴纳增值税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企业采取以旧换新方式销售货物（本条风险点不含金银首饰以旧换新的情况）时，未按新货物的同期销售价格确定销售额，而是按照扣减旧货物收购价格后的销售额缴纳增值税，少缴纳了增值税。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销售额确定的规定，并参照原《国家税务总局关于印发&lt;增值税若干具体问题的规定&gt;的通知》（国税发〔1993〕154号）及《财政部国家税务总局关于金银首饰等货物征收增值税管理问题的通知》（财税字〔1996〕74号）的原则：纳税人采取以旧换新方式销售货物，应按新货物的同期销售价格确定销售额。
考虑到金银首饰以旧换新业务的特殊情况，对金银首饰以旧换新业务，可以按销售方实际收取的不含增值税的全部价款征收增值税。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企业采取以旧换新方式销售货物的（不含金银首饰），对新货物的销售应按同期销售价确定销售额，如果企业将销售额扣减了旧货物收购价后缴纳增值税，则需补缴税款、缴纳滞纳金，还有可能被罚款。</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核查企业是否存在采取以旧换新方式销售货物，如有则按新货物的同期销售价格确定销售额，缴纳增值税。</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企业支付与贷款相关的财务顾问费、咨询费等，其进项税额不得抵扣</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企业向银行贷款，在贷款的同时，银行除要求支付利息外，还要求企业支付与该贷款相关的财务顾问费、咨询费等，企业将这些支出产生的进项税额从销项税额中抵扣，少缴纳增值税。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实施条例》（中华人民共和国国务院令第826号）第二十一条规定：纳税人购进贷款服务的利息支出，及其向贷款方支付的与该贷款服务直接相关的投融资顾问费、手续费、咨询费等费用支出，对应的进项税额暂不得从销项税额中抵扣。
国务院财政、税务主管部门应当适时研究和评估购进贷款服务利息及相关费用支出对应的进项税额不得从销项税额中抵扣政策执行效果。</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企业向金融机构等贷款，在贷款的同时，除支付利息外，还支付附加费用，如财务顾问费、咨询费等，企业将这些支出产生的进项税额从销项税额中抵扣，少缴纳增值税。
需补缴税款、缴纳滞纳金，还有可能被罚款。</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核查企业本期是否支付了与贷款相关的财务顾问费、咨询费等，如支付，则其进项税额不得从销项税额中抵扣。</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房地产企业发生“以租代售”业务隐瞒收入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以租代售”是房地产企业出租空置的商品房的同时，与租房者签订一个合同，约定：在固定的期限内购买所租的商品房，开发商以租房时的价格卖给租房者，而租房者在租房期内所交的租金抵冲部分购房款，如果租房者付清冲抵租金后的房款，便取得了该商品房的全部产权；
如果租房者在合同期限内不购房，先期交纳的租金退回或者作为开发商收取的房租。
上述行为很可能导致少计收入，带来少缴增值税的风险。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根据《中华人民共和国增值税法》及其实施条例关于销售服务、无形资产、不动产的规定：经营租赁服务，是指在约定时间内将有形动产或者不动产转让他人使用且租赁物所有权不变更的业务活动。
销售不动产，是指转让不动产所有权的业务活动。
不动产，是指不能移动或者移动后会引起性质、形状改变的财产，包括建筑物、构筑物等。</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房地产企业用“以租代售”形式销售房屋，以所交的租金抵冲部分购房款的，存在少计不动产租赁收入，以及少计销售房屋的收入，少缴纳增值税。
此外在计算土地增值税时，也存在以冲抵租金的房款计算土地增值税收入的情况。</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房地产企业在出售房屋，不得不采取“以租代售”方式销售房产的，应关注经营租赁和不动产销售计税收入的具体金额，确保不少缴增值税及其他相关税费。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房地产企业收到预收账款不入账，少预缴增值税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房地产企业普遍存在预售的情况，由于管理疏忽或使用个人银行账号收款等原因，出现预收款未及时入账，出现不确认或少确认应税收入的风险。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发布&lt;房地产开发企业销售自行开发的房地产项目增值税征收管理暂行办法&gt;的公告》（国家税务总局公告2016年第18号）第十条规定：一般纳税人采取预收款方式销售自行开发的房地产项目，应在收到预收款时按照3%的预征率预缴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预收账款没有准确及时核算，使得预缴增值税时点延迟，会给企业带来税务稽查风险，从而产生罚款及滞纳金。</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企业应自查是否存在预收账款不入账的情况，应在预售行为发生时，按政策要求时间将符合条件的预收账款预缴增值税，准确计算应纳税所得额。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19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房地产企业以商品房抵债未计销售额，未缴纳增值税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以商品房抵冲其所欠施工款、材料款、广告费等，未及时计入销售收入当中，未缴纳增值税。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根据《中华人民共和国增值税法》及其实施条例关于有偿转让不动产的规定：销售不动产，是指转让不动产所有权的业务活动。
有偿，是指取得货币、货物或者其他经济利益。</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采用以房抵债情形，没有确认收入和成本，而是直接减少存货成本、冲销往来账款等，使企业未计入销售收入，产生少缴纳增值税的风险。
同时带来罚款及滞纳金的风险。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自查“开发成本、开发产品、资本公积以及往来科目”等是否有大额红字冲销，同时对未售房源实时跟踪盘点，比对销售台账及财务核算数据，翻阅相关合同，通过摘要内容和原始凭证等资料，确认是否存在以房抵债未确认收入的行为。</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房地产企业签订阴阳合同隐瞒收入，少缴增值税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合同当事人就同一事项订立两份以上的内容不相同的合同，一份对内，一份对外。
其中对内的一份则是双方真实意思表示，列示真实的合同履行金额。
而对外的一份并不是双方真实意思表示，通常列示的金额要少于真实发生的合同履行金额，隐瞒收入，少缴增值税。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发布&lt;房地产开发企业销售自行开发的房地产项目增值税征收管理暂行办法&gt;的公告》（国家税务总局公告2016年第18号）第四条规定：房地产开发企业中的一般纳税人销售自行开发的房地产项目，适用一般计税方法计税，按照取得的全部价款和价外费用，扣除当期销售房地产项目对应的土地价款后的余额计算销售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合同当事人就同一事项签订两份金额不一致的合同，隐瞒收入或者改变收入的性质，改变适用的税率，少缴增值税，同时带来罚款及滞纳金的风险。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当事人应按照真实的合同履行价格订立相同合同，防止阴阳合同的现象发生。</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扩大享受境内金融机构同业往来利息收入增值税免税范围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将不在增值税免税范围内的同业往来业务收入一并作为同业往来利息收入申报免税，未按规定申报缴纳增值税。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全面推开营业税改征增值税试点的通知》（财税〔2016〕36号）附件3《营业税改征增值税试点过渡政策的规定》及后续补充文件（财税〔2016〕46号、财税〔2016〕70号）的规定，金融同业往来利息收入免税范围有明确限定。
上述文件在《增值税法》实施后，凡与《增值税法》及其实施条例不冲突的部分，仍可参照执行。</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企业将不在增值税免税范围内的同业往来业务收入一并作为同业往来利息收入申报免税，若企业存在上述情况，可能会产生补缴税款以及缴纳滞纳金罚款的风险。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企业查看同业往来利息收入相关业务合同及系统核算规则，确认同业往来利息收入是否符合增值税免税政策规定，自查是否将不符合免税范围的业务作为免税处理。</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扩大享受金融机构农户小额贷款利息收入增值税优惠</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错误界定享受免税规定的农户小额贷款，扩大享受金融机构农户小额贷款的利息收入。</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根据《财政部税务总局关于延续实施金融机构农户贷款利息收入免征增值税政策的公告》（财政部税务总局公告2023年第67号）规定：一、对金融机构向农户发放小额贷款取得的利息收入，免征增值税。
金融机构应将相关免税证明材料留存备查，单独核算符合免税条件的小额贷款利息收入，按现行规定向主管税务机关办理纳税申报；
未单独核算的，不得免征增值税。
二、本公告所称农户，是指长期（一年以上）居住在乡镇（不包括城关镇）行政管理区域内的住户，还包括长期居住在城关镇所辖行政村范围内的住户和户口不在本地而在本地居住一年以上的住户，国有农场的职工。
位于乡镇（不包括城关镇）行政管理区域内和在城关镇所辖行政村范围内的国有经济的机关、团体、学校、企事业单位的集体户；
有本地户口，但举家外出谋生一年以上的住户，无论是否保留承包耕地均不属于农户。
农户以户为统计单位，既可以从事农业生产经营，也可以从事非农业生产经营。
农户贷款的判定应以贷款发放时的借款人是否属于农户为准。
三、本公告所称小额贷款，是指单户授信小于100万元（含本数）的农户贷款；
没有授信额度的，是指单户贷款合同金额且贷款余额在100万元（含本数）</a:t>
            </a:r>
          </a:p>
          <a:p>
            <a:pPr>
              <a:spcBef>
                <a:spcPts val="100"/>
              </a:spcBef>
              <a:spcAft>
                <a:spcPts val="100"/>
              </a:spcAft>
            </a:pPr>
            <a:r>
              <a:rPr sz="950" b="0">
                <a:solidFill>
                  <a:srgbClr val="1B5C9E"/>
                </a:solidFill>
                <a:latin typeface="Microsoft YaHei"/>
              </a:rPr>
              <a:t>以下的贷款。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企业错误界定享受免税规定的农户小额贷款，扩大享受金融机构农户小额贷款的利息收入，若企业存在上述情况，可能会产生补缴税款以及缴纳滞纳金罚款的风险。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企业查看农户小额贷款合同及系统判定、核算规则，自查核实计入免税收入的金融机构农户小额贷款的利息收入是否符合优惠政策规定的条件。</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金融企业收取贷款相关滞纳金、罚金等未缴纳增值税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与收取贷款利息相关的，且具有利息属性的罚金、滞纳金、赔偿金，如贷款还款违约的罚息，应按照税法规定缴纳增值税。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贷款服务的规定，并参照原《财政部国家税务总局关于全面推开营业税改征增值税试点的通知》（财税〔2016〕36号）附件1《销售服务、无形资产、不动产注释》：金融服务中的贷款服务，是指将资金贷与他人使用而取得利息收入的业务活动。
各种占用、拆借资金取得的收入，包括金融商品持有期间（含到期）利息（保本收益、报酬、资金占用费、补偿金等）收入、信用卡透支利息收入、买入返售金融商品利息收入、融资融券收取的利息收入，以及融资性售后回租、押汇、罚息、票据贴现、转贷等业务取得的利息及利息性质的收入，按照贷款服务缴纳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企业收取贷款利息相关的，且具有利息属性的罚金、滞纳金、赔偿金，如贷款还款违约的罚息，应按照税法规定缴纳增值税。
如未及时申报缴纳税款，可能会产生补缴税款以及缴纳滞纳金罚款的风险。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企业自查“营业外收入”“其他业务收入”“其他应付款”等科目是否存在利息属性的罚金、滞纳金、赔偿金，并结合纳税申报情况判断是否存在取得的上述收入未按规定缴纳增值税的问题。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财产保险企业处置损余物资未缴纳增值税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发生保险事故后，保险标的转移至保险公司，保险公司将该物资处置后冲抵赔付支出，可能存在处置损余物资未缴纳增值税的风险。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规定：第三条在中华人民共和国境内（以下简称境内）销售货物、服务、无形资产、不动产（以下称应税交易），以及进口货物的单位和个人（包括个体工商户），为增值税的纳税人，应当依照本法规定缴纳增值税。
销售货物、服务、无形资产、不动产，是指有偿转让货物、不动产的所有权，有偿提供服务，有偿转让无形资产的所有权或者使用权。
第四条在境内发生应税交易，是指下列情形：（一）销售货物的，货物的起运地或者所在地在境内；
（二）销售或者租赁不动产、转让自然资源使用权的，不动产、自然资源所在地在境内；
（三）销售金融商品的，金融商品在境内发行，或者销售方为境内单位和个人；
（四）除本条第二项、第三项规定外，销售服务、无形资产的，服务、无形资产在境内消费，或者销售方为境内单位和个人。
第二十八条增值税纳税义务发生时间，按照下列规定确定：（一）发生应税交易，纳税义务发生时间为收讫销售款项或者取得销售款项索取凭据的当日；
先开具发票的，为开具发票的当日。
（二）发生视同应税交易，纳税义务发生时间为完成视同应税交易的当日。
（三）进口货物，纳税义务发生时间为货物报关进口的当日。</a:t>
            </a:r>
          </a:p>
          <a:p>
            <a:pPr>
              <a:spcBef>
                <a:spcPts val="100"/>
              </a:spcBef>
              <a:spcAft>
                <a:spcPts val="100"/>
              </a:spcAft>
            </a:pPr>
            <a:r>
              <a:rPr sz="950" b="0">
                <a:solidFill>
                  <a:srgbClr val="1B5C9E"/>
                </a:solidFill>
                <a:latin typeface="Microsoft YaHei"/>
              </a:rPr>
              <a:t>增值税扣缴义务发生时间为纳税人增值税纳税义务发生的当日。
根据《中华人民共和国增值税法实施条例》规定：第三十九条增值税法第二十八条第一款第一项所称收讫销售款项，是指纳税人发生应税交易过程中或者完成后收到款项；
取得销售款项索取凭据的当日，是指书面合同确定的付款日期，未签订书面合同或者书面合同未确定付款日期的，是指应税交易完成的当日，即货物发出、服务完成、金融商品所有权转移、无形资产转让完成或者不动产转让完成的当日。
第四十条增值税法第二十八条第一款第二项所称完成视同应税交易的当日，是指货物发出、金融商品所有权转移、无形资产转让完成或者不动产转让完成的当日。
第四十一条纳税人出口货物，报关出口日期早于增值税法第二十八条第一款第一项、第二项规定的纳税义务发生时间的，纳税义务发生时间为货物报关出口的当日。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保险公司将损余物资冲抵赔付支出，在处置损余物资时，未申报缴纳增值税，可能会产生补缴税款以及缴纳滞纳金罚款的风险。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自查损余物资管理台账，判断处置取得收入时是否相应计提并缴纳增值税。</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收取与工程有关的其他收入与价外费用未按规定确认收入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取得与工程有关的额外收入如质量奖、提前竣工奖、延期付款利息等未按规定计入收入计提销项税额。</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销售额的规定，并参照原《财政部国家税务总局关于全面推开营业税改征增值税试点的通知》（财税〔2016〕36号）附件1《营业税改征增值税试点实施办法》第三十七条的原则：销售额，是指纳税人发生应税行为取得的全部价款和价外费用，财政部和国家税务总局另有规定的除外。
价外费用，是指价外收取的各种性质的收费，但不包括以下项目：（一）代为收取并符合规定的政府性基金或者行政事业性收费。
（二）以委托方名义开具发票代委托方收取的款项。</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企业取得与工程有关的额外收入如质量奖、提前竣工奖、延期付款利息等未按规定计入收入计提销项税额。
可能会产生补缴税款以及缴纳滞纳金罚款的风险。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企业自查“其他应收款”“其他应付款”“应收账款”等往来科目明细账，核实是否收取了业主单位支付的优质质量奖、提前竣工奖或其他工程价外费用，是否按照规定计提销项税额。</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电信业务适用税率错误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电信业务种类适用税率不同，其中基础电信服务税率为9%，增值电信服务税率为6%，销售终端等货物税率为13%，有形动产租赁服务税率为13%，简易征收业务征收率为3%，可能存在混淆业务种类从低适用税率少缴增值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税率的规定，并参照原《财政部国家税务总局关于全面推开营业税改征增值税试点的通知》（财税〔2016〕36号）、《财政部税务总局关于调整增值税税率的通知》（财税〔2018〕32号）、《财政部税务总局海关总署关于深化增值税改革有关政策的公告》（财政部税务总局海关总署公告2019年第39号）的税率调整内容，现行税率如下：基础电信服务税率为9%，增值电信服务税率为6%，销售货物税率为13%，有形动产租赁服务税率为13%，简易征收业务征收率为3%。
纳税人兼营不同税率的项目，应当分别核算不同税率项目的销售额；
未分别核算销售额的，从高适用税率。</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企业可能存在混淆以上业务种类从低适用税率少缴增值税，若企业存在上述情况，可能会产生补缴税款以及缴纳滞纳金罚款的风险。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企业自查销售服务台账是否明确区分基础电信服务、增值电信服务、货物销售、房屋租赁、网络元素出租、固定资产处置、门店加盟等业务，核实相关会计处理是否准确分开核算，适用税率是否正确。</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收取其他单位资金占用费未确认收入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在收取其他单位占用资金所支付的资金占用费时，直接冲减财务费用或计入往来款等科目，未确认收入，未计提销项税额。</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销售额的规定，并参照原《财政部国家税务总局关于全面推开营业税改征增值税试点的通知》（财税〔2016〕36号）附件1《销售服务、无形资产、不动产注释》的原则：各种占用、拆借资金取得的收入，包括资金占用费、补偿金等，按照贷款服务缴纳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直接冲减财务费用或计入往来款等科目，未确认收入，未计提销项税额，少缴增值税风险。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查看“财务费用”“其他应收账款”“其他应付款”等，确认是否存在收取资金占用费的情况，核实收取的资金占用费是否按规定确认收入缴纳增值税。</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对外转租资产未按规定缴纳增值税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将承租的场地、物品、设备等再转租给其他企业或个人，未计入增值税收入。</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租赁服务的规定，并参照原《国家税务总局关于发布&lt;纳税人提供不动产经营租赁服务增值税征收管理暂行办法&gt;的公告》（国家税务总局公告2016年第16号）的原则：纳税人以经营租赁方式出租其取得的不动产（包括以直接购买、接受捐赠、接受投资入股、自建以及抵债等各种形式取得的不动产），应当按照规定缴纳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将承租的场地、物品、设备等再转租给其他企业或个人，未按税法规定缴纳增值税。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核实租赁的各项资产的用途，是否存在转租的情况，查看“主营业务收入”“其他业务收入”科目明细，结合申报数据，判断相关收入是否计征增值税，适用税率是否准确。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29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收到实物、劳务及其他形式租金未缴纳增值税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以物抵租部分少报租金收入，或收到以实物、劳务及其他形式支付的租金未计增值税收入。</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根据《中华人民共和国增值税法》及其实施条例关于销售服务、无形资产、不动产的规定，有偿是指取得货币、货物或者其他经济利益。
以实物、劳务等形式支付租金，属于取得其他经济利益，应计入销售额缴纳增值税。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以物抵租部分少报租金收入，或收到以实物、劳务及其他形式支付的租金未计收入少缴增值税的风险。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查看租赁合同条款，核实是否存在以物抵租的情况，确认实物、劳务及其他形式支付的租金收入已申报缴纳增值税。</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30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将政府无偿划拨的土地按评估价值投资入股未缴纳增值税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将改制前通过政府无偿划拨取得的土地用于投资入股，按评估价作为长期股权投资，未计增值税收入风险。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根据《中华人民共和国增值税法》第五条及其实施条例关于视同应税交易的规定：有下列情形之一的，视同应税交易，应当依照本法规定缴纳增值税：（三）单位和个人无偿转让无形资产、不动产或者金融商品。
将政府无偿划拨的土地用于投资入股，属于转让无形资产行为，应当缴纳增值税。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将改制前通过政府无偿划拨取得的土地用于投资入股，按评估价作为长期股权投资，未按规定计算缴纳增值税的风险。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查看股权投资合同或协议，核实有无通过政府无偿划拨取得的土地使用权，确认是否存在相关土地使用权经评估增值后用于投资入股，未依法计算缴纳税款的情况。</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31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返利冲减当期销售收入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给予代理商或经销商与商品销售量、销售额无必然联系的进场费、广告促销费、上架费、展示费、管理费等，不属于平销返利，将上述费用冲减当期销售收入，少计提增值税销项税额。</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销售额确定的规定，并参照原《国家税务总局关于商业企业向货物供应方收取的部分费用征收流转税问题的通知》（国税发〔2004〕136号）的原则：对商业企业向供货方收取的与商品销售量、销售额无必然联系，且商业企业向供货方提供一定劳务的收入，例如进场费、广告促销费、上架费、展示费、管理费等，不属于平销返利，不冲减当期增值税进项税金，应按适用税目税率征收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直接冲减当期销售收入，少计提增值税销项税额，少缴增值税风险。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查看有关合同协议、产品出库手续、付款凭证及相关费用的会计处理情况，确认是否存在将给予代理商或经销商的上述费用直接冲减销售收入。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32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混淆增值税一般计税方法和简易计税方法</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适用一般计税方法的纳税人，兼营简易计税方法计税项目、免税项目而未划分清楚，将简易计税项目、免税项目取得的进项税额一并计入一般计税项目进行抵扣，多计进项税额。
比如将营改增后采用简易征收的建筑行业老项目、包工部分包料、清包工工程取得的增值税专用发票用于一般计税方法项目抵扣；
将营改增之前签订的尚未执行完毕的有形动产融资租赁合同、不动产融资租赁合同，抵扣租赁标的物等进项税额。</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进项税额不得抵扣的规定，并参照原《财政部国家税务总局关于全面推开营业税改征增值税试点的通知》（财税〔2016〕36号）附件1《营业税改征增值税试点实施办法》第二十九条的原则：适用一般计税方法的纳税人，兼营简易计税方法计税项目、免征增值税项目而无法划分不得抵扣的进项税额，按照下列公式计算不得抵扣的进项税额：不得抵扣的进项税额＝当期无法划分的全部进项税额×（当期简易计税方法计税项目销售额+免征增值税项目销售额）÷当期全部销售额主管税务机关可以按照上述公式依据年度数据对不得抵扣的进项税额进行清算。</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一般计税方法的纳税人，未清楚划分简易计税项目、免税项目取得的进项税额一并计入一般计税项目进行抵扣，多计进项税额，少缴增值税风险。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收入、成本、应交税费相关明细账和原始凭证，确认是否单独核算增值税简易计税方法计税项目、免征增值税项目收入，是否有项目归属错误的材料成本费用，是否准确划分简易计税方法计税项目、免征增值税项目所对应进项税额。
如无法划分一般计税项目和简易计税、免税项目，是否按照上述公式计算不得抵扣的进项税额，并作进项税额转出。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33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管理不善造成非正常损失的原材料、库存商品未按规定转出进项税额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由于管理不善造成货物被盗、丢失、霉烂变质，以及因违反法律法规造成原材料、商品被依法没收、销毁，未按规定作进项税额转出，少缴纳增值税的风险。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根据《中华人民共和国增值税法》第二十二条第三项规定，非正常损失项目对应的进项税额不得从其销项税额中抵扣。
非正常损失，是指因管理不善造成货物被盗、丢失、霉烂变质，以及因违反法律法规造成货物或者不动产被依法没收、销毁、拆除的情形。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管理不善造成非正常损失的原材料、库存商品未按规定转出进项税额，未按规定做进项税额转出，少缴增值税的风险。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原材料”“营业外支出”“应交税费-应交增值税（进项税额转出）”等明细账、内部资产损失审批资料，核实存货被盗、丢失、霉烂、盘亏原因，查看报废、毁损、变质、残值情况说明及内部有关责任认定、责任人赔偿说明和内部核批文件，核实存货损失是否属于管理不善或违反法律法规造成的损失，判断进项税额是否应作转出。</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34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管理不善造成不动产以及该不动产所耗用的购进货物及服务非正常损失未按规定转出进项税额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存在由于管理不善已抵扣进项税额的不动产发生非正常损失，未作进项税额转出的风险。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根据《中华人民共和国增值税法》第二十二条第三项规定，非正常损失项目对应的进项税额不得抵扣。
非正常损失不动产，以及该不动产所耗用的购进货物、设计服务和建筑服务对应的进项税额，不得从销项税额中抵扣。
根据《国家税务总局关于深化增值税改革有关事项的公告》（国家税务总局公告2019年第14号）第六条（在《增值税法》实施后，与法不冲突的原则继续适用）：已抵扣进项税额的不动产，发生非正常损失，或者改变用途，专用于简易计税方法计税项目、免征增值税项目、集体福利或者个人消费的，按照下列公式计算不得抵扣的进项税额，并从当期进项税额中扣减：不得抵扣的进项税额＝已抵扣进项税额×不动产净值率不动产净值率＝（不动产净值÷不动产原值）×100%</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存在由于管理不善已抵扣进项税额的不动产发生非正常损失，未作进项税额转出，少缴增值税的风险。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营业外支出”“固定资产”“应交税费-应交增值税（进项税额转出）”等明细账、内部资产损失审批资料，核实损失是否属于管理不善或违反法律法规造成的损失，判断进项税额是否应作转出，并按照公式计算不得抵扣的进项税额是否准确。</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35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管理不善造成在建工程非正常损失未按规定转出进项税额</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在建工程发生管理不善等原因造成的非正常损失，存在其所耗用的购进货物及应税服务已抵扣的进项税额未作进项转出的风险。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根据《中华人民共和国增值税法》第二十二条第三项规定，非正常损失项目对应的进项税额不得抵扣。
非正常损失的不动产在建工程所耗用的购进货物、设计服务和建筑服务对应的进项税额，不得从销项税额中抵扣。</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因管理不善造成在建工程非正常损失，未按规定转出进项税额，少缴增值税的风险。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营业外支出”“在建工程”“应交税费-应交增值税（进项税额转出）”等明细账、内部资产损失审批资料，核实在建工程损失是否属于管理不善或违反法律法规造成的损失，判断其进项税额是否应作转出。</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36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将债券转让收入混为免税利息收入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根据税法相关规定，国债、地方政府债利息收入属于增值税免税收入，转让收入则不享受税收优惠。
存在未分别核算国债、地方政府债转让收入与利息收入，一并享受增值税免税优惠政策的风险。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免税项目的规定，并参照原《财政部国家税务总局关于全面推开营业税改征增值税试点的通知》（财税〔2016〕36号）附件3《营业税改征增值税试点过渡政策的规定》：国债、地方政府债利息收入免征增值税，但转让收入不属于免税范围。</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将债券转让收入混为免税利息收入，未计入增值税收入，少缴增值税风险。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查看“投资收益”“可供出售金融资产”“利息收入”等明细账是否分别核算国债、地方政府债利息收入与转让收益；
结合纳税申报情况，确认是否存在将应税收入作为免税收入处理，造成少缴纳增值税的情况。</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增值税风险指引  |  风险点 37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统借统还业务中，向下属单位收取高于支付给金融机构借款利率水平的利息未按规定缴纳增值税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在统借统还业务实际操作中，企业集团或企业集团中的核心企业以及集团所属财务公司等统借方存在向集团内单位收取的利息高于支付给金融机构借款利率水平或者支付的债券票面利率水平的情况，对这类情况不能享受免征增值税，应全额缴纳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增值税法》及其实施条例关于免税项目的规定，并参照原《财政部国家税务总局关于全面推开营业税改征增值税试点的通知》（财税〔2016〕36号）附件3《营业税改征增值税试点过渡政策的规定》：统借统还业务中，企业集团或企业集团中的核心企业以及集团所属财务公司按不高于支付给金融机构的借款利率水平或者支付的债券票面利率水平，向企业集团或者集团内下属单位收取的利息，免征增值税。
高于支付给金融机构借款利率水平或者支付的债券票面利率水平的，应全额缴纳增值税。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统借统还业务中，向下属单位收取高于支付给金融机构借款利率水平的利息未计入增值税收入，少缴增值税风险。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查看统借统还贷款合同，核实向集团内单位收取高于支付给金融机构的借款利率水平的情况，确认向集团内单位收取高于支付给金融机构借款利率水平的利息是否全额缴纳增值税。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